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SKIT — about 20 seconds. Only the logo is on screen.
Two teammates beside an EMPTY catering tray (prop only).
A: "Great event — we've got food left. Should we donate it?"
B: "To who? Nobody can take it tonight and we don't have a pickup."
A: "I need to lock up... I guess we toss it." (moves tray toward a bin, pauses)
Presenter: "The organizer cared. The recipient and pickup just weren't arranged before closing. Not Wasted sets that handoff up earlier."
(Advance — the logo morphs into the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seconds. "We're Team Oracle of Plenty. Not Wasted makes sure the surplus from an event, a renovation or a residence-hall clear-out reaches a food bank or shelter before it hits the bin — food first, plus furniture and clothing."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Our user is the person who locks the doors — an events or facilities coordinator. At teardown, donating means three extra jobs: find a recipient, check what they can take, and arrange transport. So the food goes in the bin. How might we line all that up before the event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These numbers come from public data the app pulls live. The EPA's Excess Food Opportunities Map lists 324 schools and universities here, together estimated at roughly 2,000 to 10,600 tons of excess food a year, and 17 food banks and pantries on the other side. Event calendars tell us when it appears: Vanderbilt's reunion weekend alone runs ~85 events in four days. The event-serving figures are our 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Donors want to help but there's no quick path, so food gets binned. Recipients need reliable, local supply that fits their kitchen rules and capacity, but they find out too late. Not Wasted connects the two journeys before the event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Walk the four steps. The donor registers an event — or posts a photo of any surplus. Forty-five minutes before it ends we ping the host to confirm what's left. OCI vision drafts the listing; the donor checks it. Then it's ranked for nearby food banks by fit, dietary rules, capacity, distance and neighborhood need, and they claim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 switch to the live demo if time allows. Show: donor posts a photo → AI fills the listing → food bank sees it with dietary fit and quality → claims it, edits the claim, or joins a waitlist. Mention capacity editing and the agent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Three OCI Generative AI models: Llama 4 Maverick reads photos and screenshots, Llama 3.3 writes the chat answers, emails and reports, and Cohere embeddings power the semantic matching. It all runs on OCI Compute with Object Storage and instance-principal auth. Seven free public datasets ground it — EPA, USDA, Census, weather, Open Food Facts and IRS nonprofit data. AI drafts; people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Beyond the core flow we built seven agents. The strongest is pickup rescue — the moment food would still be wasted: a pickup is about to fail, so it hands the food to the waitlist or re-matches it and drafts an urgent text. Every agent shows its reasoning and waits for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seconds. Trust is the product. People confirm everything AI suggests, we never invent data, recipients are verified against IRS nonprofit records, and matching favors under-served neighborhoods transparently. We only share what the pickup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We'd start narrow: one facility, one event type, one food bank, one volunteer pool — and measure pounds moved, pickups completed and time to pickup. Funding hypothesis: the host's facilities or sustainability budget pays for coordination; food banks never pay. That's unvalidated, and the pilot tests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seconds. We're Team Oracle of Plenty. Our ask is simple: introduce us to one event host, one food-recovery partner and one volunteer or route partner, and we'll prove the loop end to end. Not Wasted — surplus saved, neighbors fed.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1.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slideLayout" Target="../slideLayouts/slideLayout1.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1.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4.png"/><Relationship Id="rId15" Type="http://schemas.openxmlformats.org/officeDocument/2006/relationships/slideLayout" Target="../slideLayouts/slideLayout1.xml"/><Relationship Id="rId16" Type="http://schemas.openxmlformats.org/officeDocument/2006/relationships/notesSlide" Target="../notesSlides/notesSlide12.xml"/></Relationships>
</file>

<file path=ppt/slides/slide1.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mc:Ignorable="p14 p159">
  <p:cSld name="Slide 1">
    <p:bg>
      <p:bgPr>
        <a:solidFill>
          <a:srgbClr val="FCFBF7"/>
        </a:solidFill>
      </p:bgPr>
    </p:bg>
    <p:spTree>
      <p:nvGrpSpPr>
        <p:cNvPr id="1" name=""/>
        <p:cNvGrpSpPr/>
        <p:nvPr/>
      </p:nvGrpSpPr>
      <p:grpSpPr>
        <a:xfrm>
          <a:off x="0" y="0"/>
          <a:ext cx="0" cy="0"/>
          <a:chOff x="0" y="0"/>
          <a:chExt cx="0" cy="0"/>
        </a:xfrm>
      </p:grpSpPr>
      <p:pic>
        <p:nvPicPr>
          <p:cNvPr id="2" name="!!blobOrange" descr="preencoded.png">    </p:cNvPr>
          <p:cNvPicPr>
            <a:picLocks noChangeAspect="1"/>
          </p:cNvPicPr>
          <p:nvPr/>
        </p:nvPicPr>
        <p:blipFill>
          <a:blip r:embed="rId1"/>
          <a:stretch>
            <a:fillRect/>
          </a:stretch>
        </p:blipFill>
        <p:spPr>
          <a:xfrm>
            <a:off x="-1463040" y="-2011680"/>
            <a:ext cx="6400800" cy="6400800"/>
          </a:xfrm>
          <a:prstGeom prst="rect">
            <a:avLst/>
          </a:prstGeom>
        </p:spPr>
      </p:pic>
      <p:pic>
        <p:nvPicPr>
          <p:cNvPr id="3" name="!!blobGreen" descr="preencoded.png">    </p:cNvPr>
          <p:cNvPicPr>
            <a:picLocks noChangeAspect="1"/>
          </p:cNvPicPr>
          <p:nvPr/>
        </p:nvPicPr>
        <p:blipFill>
          <a:blip r:embed="rId2"/>
          <a:stretch>
            <a:fillRect/>
          </a:stretch>
        </p:blipFill>
        <p:spPr>
          <a:xfrm>
            <a:off x="7863840" y="2926080"/>
            <a:ext cx="6400800" cy="6400800"/>
          </a:xfrm>
          <a:prstGeom prst="rect">
            <a:avLst/>
          </a:prstGeom>
        </p:spPr>
      </p:pic>
      <p:pic>
        <p:nvPicPr>
          <p:cNvPr id="4" name="!!logoLeft" descr="preencoded.png">    </p:cNvPr>
          <p:cNvPicPr>
            <a:picLocks noChangeAspect="1"/>
          </p:cNvPicPr>
          <p:nvPr/>
        </p:nvPicPr>
        <p:blipFill>
          <a:blip r:embed="rId3"/>
          <a:stretch>
            <a:fillRect/>
          </a:stretch>
        </p:blipFill>
        <p:spPr>
          <a:xfrm>
            <a:off x="3261208" y="1417320"/>
            <a:ext cx="5669280" cy="3727027"/>
          </a:xfrm>
          <a:prstGeom prst="rect">
            <a:avLst/>
          </a:prstGeom>
        </p:spPr>
      </p:pic>
      <p:pic>
        <p:nvPicPr>
          <p:cNvPr id="5" name="!!logoRight" descr="preencoded.png">    </p:cNvPr>
          <p:cNvPicPr>
            <a:picLocks noChangeAspect="1"/>
          </p:cNvPicPr>
          <p:nvPr/>
        </p:nvPicPr>
        <p:blipFill>
          <a:blip r:embed="rId4"/>
          <a:stretch>
            <a:fillRect/>
          </a:stretch>
        </p:blipFill>
        <p:spPr>
          <a:xfrm>
            <a:off x="3261208" y="1417320"/>
            <a:ext cx="5669280" cy="3727027"/>
          </a:xfrm>
          <a:prstGeom prst="rect">
            <a:avLst/>
          </a:prstGeom>
        </p:spPr>
      </p:pic>
      <p:pic>
        <p:nvPicPr>
          <p:cNvPr id="6" name="!!logoSeed" descr="preencoded.png">    </p:cNvPr>
          <p:cNvPicPr>
            <a:picLocks noChangeAspect="1"/>
          </p:cNvPicPr>
          <p:nvPr/>
        </p:nvPicPr>
        <p:blipFill>
          <a:blip r:embed="rId5"/>
          <a:stretch>
            <a:fillRect/>
          </a:stretch>
        </p:blipFill>
        <p:spPr>
          <a:xfrm>
            <a:off x="3261208" y="1417320"/>
            <a:ext cx="5669280" cy="3727027"/>
          </a:xfrm>
          <a:prstGeom prst="rect">
            <a:avLst/>
          </a:prstGeom>
        </p:spPr>
      </p:pic>
    </p:spTree>
  </p:cSld>
  <p:clrMapOvr>
    <a:masterClrMapping/>
  </p:clrMapOvr>
  <mc:AlternateContent>
    <mc:Choice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2" presetClass="entr" presetSubtype="8" fill="hold" nodeType="afterEffect">
                                  <p:stCondLst>
                                    <p:cond delay="200"/>
                                  </p:stCondLst>
                                  <p:childTnLst>
                                    <p:set>
                                      <p:cBhvr>
                                        <p:cTn id="5" dur="1" fill="hold">
                                          <p:stCondLst>
                                            <p:cond delay="0"/>
                                          </p:stCondLst>
                                        </p:cTn>
                                        <p:tgtEl>
                                          <p:spTgt spid="4"/>
                                        </p:tgtEl>
                                        <p:attrNameLst>
                                          <p:attrName>style.visibility</p:attrName>
                                        </p:attrNameLst>
                                      </p:cBhvr>
                                      <p:to>
                                        <p:strVal val="visible"/>
                                      </p:to>
                                    </p:set>
                                    <p:anim calcmode="lin" valueType="num">
                                      <p:cBhvr additive="base">
                                        <p:cTn id="6" dur="900" fill="hold"/>
                                        <p:tgtEl>
                                          <p:spTgt spid="4"/>
                                        </p:tgtEl>
                                        <p:attrNameLst>
                                          <p:attrName>ppt_x</p:attrName>
                                        </p:attrNameLst>
                                      </p:cBhvr>
                                      <p:tavLst>
                                        <p:tav tm="0">
                                          <p:val>
                                            <p:strVal val="0-#ppt_w/2"/>
                                          </p:val>
                                        </p:tav>
                                        <p:tav tm="100000">
                                          <p:val>
                                            <p:strVal val="#ppt_x"/>
                                          </p:val>
                                        </p:tav>
                                      </p:tavLst>
                                    </p:anim>
                                    <p:anim calcmode="lin" valueType="num">
                                      <p:cBhvr additive="base">
                                        <p:cTn id="7" dur="900" fill="hold"/>
                                        <p:tgtEl>
                                          <p:spTgt spid="4"/>
                                        </p:tgtEl>
                                        <p:attrNameLst>
                                          <p:attrName>ppt_y</p:attrName>
                                        </p:attrNameLst>
                                      </p:cBhvr>
                                      <p:tavLst>
                                        <p:tav tm="0">
                                          <p:val>
                                            <p:strVal val="#ppt_y"/>
                                          </p:val>
                                        </p:tav>
                                        <p:tav tm="100000">
                                          <p:val>
                                            <p:strVal val="#ppt_y"/>
                                          </p:val>
                                        </p:tav>
                                      </p:tavLst>
                                    </p:anim>
                                  </p:childTnLst>
                                </p:cTn>
                              </p:par>
                              <p:par>
                                <p:cTn id="12" presetID="2" presetClass="entr" presetSubtype="2" fill="hold" nodeType="withEffect">
                                  <p:stCondLst>
                                    <p:cond delay="200"/>
                                  </p:stCondLst>
                                  <p:childTnLst>
                                    <p:set>
                                      <p:cBhvr>
                                        <p:cTn id="9" dur="1" fill="hold">
                                          <p:stCondLst>
                                            <p:cond delay="0"/>
                                          </p:stCondLst>
                                        </p:cTn>
                                        <p:tgtEl>
                                          <p:spTgt spid="5"/>
                                        </p:tgtEl>
                                        <p:attrNameLst>
                                          <p:attrName>style.visibility</p:attrName>
                                        </p:attrNameLst>
                                      </p:cBhvr>
                                      <p:to>
                                        <p:strVal val="visible"/>
                                      </p:to>
                                    </p:set>
                                    <p:anim calcmode="lin" valueType="num">
                                      <p:cBhvr additive="base">
                                        <p:cTn id="10" dur="900" fill="hold"/>
                                        <p:tgtEl>
                                          <p:spTgt spid="5"/>
                                        </p:tgtEl>
                                        <p:attrNameLst>
                                          <p:attrName>ppt_x</p:attrName>
                                        </p:attrNameLst>
                                      </p:cBhvr>
                                      <p:tavLst>
                                        <p:tav tm="0">
                                          <p:val>
                                            <p:strVal val="1+#ppt_w/2"/>
                                          </p:val>
                                        </p:tav>
                                        <p:tav tm="100000">
                                          <p:val>
                                            <p:strVal val="#ppt_x"/>
                                          </p:val>
                                        </p:tav>
                                      </p:tavLst>
                                    </p:anim>
                                    <p:anim calcmode="lin" valueType="num">
                                      <p:cBhvr additive="base">
                                        <p:cTn id="11" dur="900" fill="hold"/>
                                        <p:tgtEl>
                                          <p:spTgt spid="5"/>
                                        </p:tgtEl>
                                        <p:attrNameLst>
                                          <p:attrName>ppt_y</p:attrName>
                                        </p:attrNameLst>
                                      </p:cBhvr>
                                      <p:tavLst>
                                        <p:tav tm="0">
                                          <p:val>
                                            <p:strVal val="#ppt_y"/>
                                          </p:val>
                                        </p:tav>
                                        <p:tav tm="100000">
                                          <p:val>
                                            <p:strVal val="#ppt_y"/>
                                          </p:val>
                                        </p:tav>
                                      </p:tavLst>
                                    </p:anim>
                                  </p:childTnLst>
                                </p:cTn>
                              </p:par>
                              <p:par>
                                <p:cTn id="16" presetID="2" presetClass="entr" presetSubtype="1" fill="hold" nodeType="withEffect">
                                  <p:stCondLst>
                                    <p:cond delay="75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900" fill="hold"/>
                                        <p:tgtEl>
                                          <p:spTgt spid="6"/>
                                        </p:tgtEl>
                                        <p:attrNameLst>
                                          <p:attrName>ppt_x</p:attrName>
                                        </p:attrNameLst>
                                      </p:cBhvr>
                                      <p:tavLst>
                                        <p:tav tm="0">
                                          <p:val>
                                            <p:strVal val="#ppt_x"/>
                                          </p:val>
                                        </p:tav>
                                        <p:tav tm="100000">
                                          <p:val>
                                            <p:strVal val="#ppt_x"/>
                                          </p:val>
                                        </p:tav>
                                      </p:tavLst>
                                    </p:anim>
                                    <p:anim calcmode="lin" valueType="num">
                                      <p:cBhvr additive="base">
                                        <p:cTn id="15" dur="90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mc:Ignorable="p14 p159">
  <p:cSld name="Slide 2">
    <p:bg>
      <p:bgPr>
        <a:solidFill>
          <a:srgbClr val="FCFBF7"/>
        </a:solidFill>
      </p:bgPr>
    </p:bg>
    <p:spTree>
      <p:nvGrpSpPr>
        <p:cNvPr id="1" name=""/>
        <p:cNvGrpSpPr/>
        <p:nvPr/>
      </p:nvGrpSpPr>
      <p:grpSpPr>
        <a:xfrm>
          <a:off x="0" y="0"/>
          <a:ext cx="0" cy="0"/>
          <a:chOff x="0" y="0"/>
          <a:chExt cx="0" cy="0"/>
        </a:xfrm>
      </p:grpSpPr>
      <p:pic>
        <p:nvPicPr>
          <p:cNvPr id="2" name="!!blobOrange" descr="preencoded.png">    </p:cNvPr>
          <p:cNvPicPr>
            <a:picLocks noChangeAspect="1"/>
          </p:cNvPicPr>
          <p:nvPr/>
        </p:nvPicPr>
        <p:blipFill>
          <a:blip r:embed="rId1"/>
          <a:stretch>
            <a:fillRect/>
          </a:stretch>
        </p:blipFill>
        <p:spPr>
          <a:xfrm>
            <a:off x="6583680" y="-2377440"/>
            <a:ext cx="7315200" cy="7315200"/>
          </a:xfrm>
          <a:prstGeom prst="rect">
            <a:avLst/>
          </a:prstGeom>
        </p:spPr>
      </p:pic>
      <p:pic>
        <p:nvPicPr>
          <p:cNvPr id="3" name="!!blobGreen" descr="preencoded.png">    </p:cNvPr>
          <p:cNvPicPr>
            <a:picLocks noChangeAspect="1"/>
          </p:cNvPicPr>
          <p:nvPr/>
        </p:nvPicPr>
        <p:blipFill>
          <a:blip r:embed="rId2"/>
          <a:stretch>
            <a:fillRect/>
          </a:stretch>
        </p:blipFill>
        <p:spPr>
          <a:xfrm>
            <a:off x="-2377440" y="3291840"/>
            <a:ext cx="5943600" cy="5943600"/>
          </a:xfrm>
          <a:prstGeom prst="rect">
            <a:avLst/>
          </a:prstGeom>
        </p:spPr>
      </p:pic>
      <p:pic>
        <p:nvPicPr>
          <p:cNvPr id="4" name="!!logoLeft" descr="preencoded.png">    </p:cNvPr>
          <p:cNvPicPr>
            <a:picLocks noChangeAspect="1"/>
          </p:cNvPicPr>
          <p:nvPr/>
        </p:nvPicPr>
        <p:blipFill>
          <a:blip r:embed="rId3"/>
          <a:stretch>
            <a:fillRect/>
          </a:stretch>
        </p:blipFill>
        <p:spPr>
          <a:xfrm>
            <a:off x="640080" y="502920"/>
            <a:ext cx="1234440" cy="811530"/>
          </a:xfrm>
          <a:prstGeom prst="rect">
            <a:avLst/>
          </a:prstGeom>
        </p:spPr>
      </p:pic>
      <p:pic>
        <p:nvPicPr>
          <p:cNvPr id="5" name="!!logoRight" descr="preencoded.png">    </p:cNvPr>
          <p:cNvPicPr>
            <a:picLocks noChangeAspect="1"/>
          </p:cNvPicPr>
          <p:nvPr/>
        </p:nvPicPr>
        <p:blipFill>
          <a:blip r:embed="rId4"/>
          <a:stretch>
            <a:fillRect/>
          </a:stretch>
        </p:blipFill>
        <p:spPr>
          <a:xfrm>
            <a:off x="640080" y="502920"/>
            <a:ext cx="1234440" cy="811530"/>
          </a:xfrm>
          <a:prstGeom prst="rect">
            <a:avLst/>
          </a:prstGeom>
        </p:spPr>
      </p:pic>
      <p:pic>
        <p:nvPicPr>
          <p:cNvPr id="6" name="!!logoSeed" descr="preencoded.png">    </p:cNvPr>
          <p:cNvPicPr>
            <a:picLocks noChangeAspect="1"/>
          </p:cNvPicPr>
          <p:nvPr/>
        </p:nvPicPr>
        <p:blipFill>
          <a:blip r:embed="rId5"/>
          <a:stretch>
            <a:fillRect/>
          </a:stretch>
        </p:blipFill>
        <p:spPr>
          <a:xfrm>
            <a:off x="640080" y="502920"/>
            <a:ext cx="1234440" cy="811530"/>
          </a:xfrm>
          <a:prstGeom prst="rect">
            <a:avLst/>
          </a:prstGeom>
        </p:spPr>
      </p:pic>
      <p:sp>
        <p:nvSpPr>
          <p:cNvPr id="7" name="anim1_kicker"/>
          <p:cNvSpPr txBox="1"/>
          <p:nvPr/>
        </p:nvSpPr>
        <p:spPr>
          <a:xfrm>
            <a:off x="640080" y="1600200"/>
            <a:ext cx="6400800" cy="320040"/>
          </a:xfrm>
          <a:prstGeom prst="rect">
            <a:avLst/>
          </a:prstGeom>
          <a:noFill/>
          <a:ln/>
        </p:spPr>
        <p:txBody>
          <a:bodyPr wrap="square" lIns="0" tIns="0" rIns="0" bIns="0" rtlCol="0" anchor="ctr"/>
          <a:lstStyle/>
          <a:p>
            <a:pPr indent="0" marL="0">
              <a:buNone/>
            </a:pPr>
            <a:r>
              <a:rPr lang="en-US" sz="1200" b="1" spc="300" kern="0" dirty="0">
                <a:solidFill>
                  <a:srgbClr val="BF5320"/>
                </a:solidFill>
                <a:latin typeface="Calibri" pitchFamily="34" charset="0"/>
                <a:ea typeface="Calibri" pitchFamily="34" charset="-122"/>
                <a:cs typeface="Calibri" pitchFamily="34" charset="-120"/>
              </a:rPr>
              <a:t>VANDYHACKS · ORACLE “BUILD FOR GOOD” CHALLENGE</a:t>
            </a:r>
            <a:endParaRPr lang="en-US" sz="1200" dirty="0"/>
          </a:p>
        </p:txBody>
      </p:sp>
      <p:sp>
        <p:nvSpPr>
          <p:cNvPr id="8" name="!!title"/>
          <p:cNvSpPr txBox="1"/>
          <p:nvPr/>
        </p:nvSpPr>
        <p:spPr>
          <a:xfrm>
            <a:off x="640080" y="2011680"/>
            <a:ext cx="6035040" cy="2103120"/>
          </a:xfrm>
          <a:prstGeom prst="rect">
            <a:avLst/>
          </a:prstGeom>
          <a:noFill/>
          <a:ln/>
        </p:spPr>
        <p:txBody>
          <a:bodyPr wrap="square" lIns="0" tIns="0" rIns="0" bIns="0" rtlCol="0" anchor="t"/>
          <a:lstStyle/>
          <a:p>
            <a:pPr indent="0" marL="0">
              <a:buNone/>
            </a:pPr>
            <a:r>
              <a:rPr lang="en-US" sz="5800" b="1" dirty="0">
                <a:solidFill>
                  <a:srgbClr val="1C1712"/>
                </a:solidFill>
                <a:latin typeface="Cambria" pitchFamily="34" charset="0"/>
                <a:ea typeface="Cambria" pitchFamily="34" charset="-122"/>
                <a:cs typeface="Cambria" pitchFamily="34" charset="-120"/>
              </a:rPr>
              <a:t>Surplus saved,</a:t>
            </a:r>
            <a:endParaRPr lang="en-US" sz="5800" dirty="0"/>
          </a:p>
          <a:p>
            <a:pPr indent="0" marL="0">
              <a:buNone/>
            </a:pPr>
            <a:r>
              <a:rPr lang="en-US" sz="5800" b="1" dirty="0">
                <a:solidFill>
                  <a:srgbClr val="F0703D"/>
                </a:solidFill>
                <a:latin typeface="Cambria" pitchFamily="34" charset="0"/>
                <a:ea typeface="Cambria" pitchFamily="34" charset="-122"/>
                <a:cs typeface="Cambria" pitchFamily="34" charset="-120"/>
              </a:rPr>
              <a:t>neighbors fed.</a:t>
            </a:r>
            <a:endParaRPr lang="en-US" sz="5800" dirty="0"/>
          </a:p>
        </p:txBody>
      </p:sp>
      <p:sp>
        <p:nvSpPr>
          <p:cNvPr id="9" name="anim2_sub"/>
          <p:cNvSpPr txBox="1"/>
          <p:nvPr/>
        </p:nvSpPr>
        <p:spPr>
          <a:xfrm>
            <a:off x="640080" y="4251960"/>
            <a:ext cx="5486400" cy="914400"/>
          </a:xfrm>
          <a:prstGeom prst="rect">
            <a:avLst/>
          </a:prstGeom>
          <a:noFill/>
          <a:ln/>
        </p:spPr>
        <p:txBody>
          <a:bodyPr wrap="square" lIns="0" tIns="0" rIns="0" bIns="0" rtlCol="0" anchor="t"/>
          <a:lstStyle/>
          <a:p>
            <a:pPr indent="0" marL="0">
              <a:buNone/>
            </a:pPr>
            <a:r>
              <a:rPr lang="en-US" sz="1700" dirty="0">
                <a:solidFill>
                  <a:srgbClr val="5B5148"/>
                </a:solidFill>
                <a:latin typeface="Calibri" pitchFamily="34" charset="0"/>
                <a:ea typeface="Calibri" pitchFamily="34" charset="-122"/>
                <a:cs typeface="Calibri" pitchFamily="34" charset="-120"/>
              </a:rPr>
              <a:t>Not Wasted routes leftover food, furniture and clothing from Nashville campuses, hospitals and venues to verified food banks — before it’s thrown out.</a:t>
            </a:r>
            <a:endParaRPr lang="en-US" sz="1700" dirty="0"/>
          </a:p>
        </p:txBody>
      </p:sp>
      <p:sp>
        <p:nvSpPr>
          <p:cNvPr id="10" name="anim3_team"/>
          <p:cNvSpPr txBox="1"/>
          <p:nvPr/>
        </p:nvSpPr>
        <p:spPr>
          <a:xfrm>
            <a:off x="640080" y="5394960"/>
            <a:ext cx="5486400" cy="365760"/>
          </a:xfrm>
          <a:prstGeom prst="rect">
            <a:avLst/>
          </a:prstGeom>
          <a:noFill/>
          <a:ln/>
        </p:spPr>
        <p:txBody>
          <a:bodyPr wrap="square" lIns="0" tIns="0" rIns="0" bIns="0" rtlCol="0" anchor="ctr"/>
          <a:lstStyle/>
          <a:p>
            <a:pPr indent="0" marL="0">
              <a:buNone/>
            </a:pPr>
            <a:r>
              <a:rPr lang="en-US" sz="1500" b="1" dirty="0">
                <a:solidFill>
                  <a:srgbClr val="165840"/>
                </a:solidFill>
                <a:latin typeface="Calibri" pitchFamily="34" charset="0"/>
                <a:ea typeface="Calibri" pitchFamily="34" charset="-122"/>
                <a:cs typeface="Calibri" pitchFamily="34" charset="-120"/>
              </a:rPr>
              <a:t>Team Oracle of Plenty</a:t>
            </a:r>
            <a:endParaRPr lang="en-US" sz="1500" dirty="0"/>
          </a:p>
        </p:txBody>
      </p:sp>
      <p:pic>
        <p:nvPicPr>
          <p:cNvPr id="11" name="anim4_shot" descr="preencoded.png">    </p:cNvPr>
          <p:cNvPicPr>
            <a:picLocks noChangeAspect="1"/>
          </p:cNvPicPr>
          <p:nvPr/>
        </p:nvPicPr>
        <p:blipFill>
          <a:blip r:embed="rId6"/>
          <a:stretch>
            <a:fillRect/>
          </a:stretch>
        </p:blipFill>
        <p:spPr>
          <a:xfrm>
            <a:off x="6720840" y="1143000"/>
            <a:ext cx="4983480" cy="3297891"/>
          </a:xfrm>
          <a:prstGeom prst="rect">
            <a:avLst/>
          </a:prstGeom>
          <a:effectLst>
            <a:outerShdw sx="100000" sy="100000" kx="0" ky="0" algn="bl" rotWithShape="0" blurRad="304800" dist="127000" dir="5400000">
              <a:srgbClr val="3D1A0C">
                <a:alpha val="22000"/>
              </a:srgbClr>
            </a:outerShdw>
          </a:effectLst>
        </p:spPr>
      </p:pic>
    </p:spTree>
  </p:cSld>
  <p:clrMapOvr>
    <a:masterClrMapping/>
  </p:clrMapOvr>
  <mc:AlternateContent>
    <mc:Choice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10" presetClass="entr" presetSubtype="0" fill="hold" nodeType="afterEffect">
                                  <p:stCondLst>
                                    <p:cond delay="15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600"/>
                                        <p:tgtEl>
                                          <p:spTgt spid="7"/>
                                        </p:tgtEl>
                                      </p:cBhvr>
                                    </p:animEffect>
                                    <p:anim calcmode="lin" valueType="num">
                                      <p:cBhvr additive="base">
                                        <p:cTn id="7" dur="600" fill="hold"/>
                                        <p:tgtEl>
                                          <p:spTgt spid="7"/>
                                        </p:tgtEl>
                                        <p:attrNameLst>
                                          <p:attrName>ppt_y</p:attrName>
                                        </p:attrNameLst>
                                      </p:cBhvr>
                                      <p:tavLst>
                                        <p:tav tm="0">
                                          <p:val>
                                            <p:strVal val="#ppt_y+0.04"/>
                                          </p:val>
                                        </p:tav>
                                        <p:tav tm="100000">
                                          <p:val>
                                            <p:strVal val="#ppt_y"/>
                                          </p:val>
                                        </p:tav>
                                      </p:tavLst>
                                    </p:anim>
                                  </p:childTnLst>
                                </p:cTn>
                              </p:par>
                              <p:par>
                                <p:cTn id="12" presetID="10" presetClass="entr" presetSubtype="0" fill="hold" nodeType="withEffect">
                                  <p:stCondLst>
                                    <p:cond delay="43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600"/>
                                        <p:tgtEl>
                                          <p:spTgt spid="9"/>
                                        </p:tgtEl>
                                      </p:cBhvr>
                                    </p:animEffect>
                                    <p:anim calcmode="lin" valueType="num">
                                      <p:cBhvr additive="base">
                                        <p:cTn id="11" dur="600" fill="hold"/>
                                        <p:tgtEl>
                                          <p:spTgt spid="9"/>
                                        </p:tgtEl>
                                        <p:attrNameLst>
                                          <p:attrName>ppt_y</p:attrName>
                                        </p:attrNameLst>
                                      </p:cBhvr>
                                      <p:tavLst>
                                        <p:tav tm="0">
                                          <p:val>
                                            <p:strVal val="#ppt_y+0.04"/>
                                          </p:val>
                                        </p:tav>
                                        <p:tav tm="100000">
                                          <p:val>
                                            <p:strVal val="#ppt_y"/>
                                          </p:val>
                                        </p:tav>
                                      </p:tavLst>
                                    </p:anim>
                                  </p:childTnLst>
                                </p:cTn>
                              </p:par>
                              <p:par>
                                <p:cTn id="16" presetID="10" presetClass="entr" presetSubtype="0" fill="hold" nodeType="withEffect">
                                  <p:stCondLst>
                                    <p:cond delay="71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600"/>
                                        <p:tgtEl>
                                          <p:spTgt spid="10"/>
                                        </p:tgtEl>
                                      </p:cBhvr>
                                    </p:animEffect>
                                    <p:anim calcmode="lin" valueType="num">
                                      <p:cBhvr additive="base">
                                        <p:cTn id="15" dur="600" fill="hold"/>
                                        <p:tgtEl>
                                          <p:spTgt spid="10"/>
                                        </p:tgtEl>
                                        <p:attrNameLst>
                                          <p:attrName>ppt_y</p:attrName>
                                        </p:attrNameLst>
                                      </p:cBhvr>
                                      <p:tavLst>
                                        <p:tav tm="0">
                                          <p:val>
                                            <p:strVal val="#ppt_y+0.04"/>
                                          </p:val>
                                        </p:tav>
                                        <p:tav tm="100000">
                                          <p:val>
                                            <p:strVal val="#ppt_y"/>
                                          </p:val>
                                        </p:tav>
                                      </p:tavLst>
                                    </p:anim>
                                  </p:childTnLst>
                                </p:cTn>
                              </p:par>
                              <p:par>
                                <p:cTn id="20" presetID="10" presetClass="entr" presetSubtype="0" fill="hold" nodeType="withEffect">
                                  <p:stCondLst>
                                    <p:cond delay="99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600"/>
                                        <p:tgtEl>
                                          <p:spTgt spid="11"/>
                                        </p:tgtEl>
                                      </p:cBhvr>
                                    </p:animEffect>
                                    <p:anim calcmode="lin" valueType="num">
                                      <p:cBhvr additive="base">
                                        <p:cTn id="19" dur="600" fill="hold"/>
                                        <p:tgtEl>
                                          <p:spTgt spid="11"/>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mc:Ignorable="p14 p159">
  <p:cSld name="Slide 3">
    <p:bg>
      <p:bgPr>
        <a:solidFill>
          <a:srgbClr val="FCFBF7"/>
        </a:solidFill>
      </p:bgPr>
    </p:bg>
    <p:spTree>
      <p:nvGrpSpPr>
        <p:cNvPr id="1" name=""/>
        <p:cNvGrpSpPr/>
        <p:nvPr/>
      </p:nvGrpSpPr>
      <p:grpSpPr>
        <a:xfrm>
          <a:off x="0" y="0"/>
          <a:ext cx="0" cy="0"/>
          <a:chOff x="0" y="0"/>
          <a:chExt cx="0" cy="0"/>
        </a:xfrm>
      </p:grpSpPr>
      <p:pic>
        <p:nvPicPr>
          <p:cNvPr id="2" name="!!blobOrange" descr="preencoded.png">    </p:cNvPr>
          <p:cNvPicPr>
            <a:picLocks noChangeAspect="1"/>
          </p:cNvPicPr>
          <p:nvPr/>
        </p:nvPicPr>
        <p:blipFill>
          <a:blip r:embed="rId1"/>
          <a:stretch>
            <a:fillRect/>
          </a:stretch>
        </p:blipFill>
        <p:spPr>
          <a:xfrm>
            <a:off x="8778240" y="-2377440"/>
            <a:ext cx="5486400" cy="5486400"/>
          </a:xfrm>
          <a:prstGeom prst="rect">
            <a:avLst/>
          </a:prstGeom>
        </p:spPr>
      </p:pic>
      <p:pic>
        <p:nvPicPr>
          <p:cNvPr id="3" name="!!blobGreen" descr="preencoded.png">    </p:cNvPr>
          <p:cNvPicPr>
            <a:picLocks noChangeAspect="1"/>
          </p:cNvPicPr>
          <p:nvPr/>
        </p:nvPicPr>
        <p:blipFill>
          <a:blip r:embed="rId2"/>
          <a:stretch>
            <a:fillRect/>
          </a:stretch>
        </p:blipFill>
        <p:spPr>
          <a:xfrm>
            <a:off x="-2926080" y="4023360"/>
            <a:ext cx="5486400" cy="5486400"/>
          </a:xfrm>
          <a:prstGeom prst="rect">
            <a:avLst/>
          </a:prstGeom>
        </p:spPr>
      </p:pic>
      <p:sp>
        <p:nvSpPr>
          <p:cNvPr id="4" name="!!kicker"/>
          <p:cNvSpPr txBox="1"/>
          <p:nvPr/>
        </p:nvSpPr>
        <p:spPr>
          <a:xfrm>
            <a:off x="640080" y="228600"/>
            <a:ext cx="7315200" cy="274320"/>
          </a:xfrm>
          <a:prstGeom prst="rect">
            <a:avLst/>
          </a:prstGeom>
          <a:noFill/>
          <a:ln/>
        </p:spPr>
        <p:txBody>
          <a:bodyPr wrap="square" lIns="0" tIns="0" rIns="0" bIns="0" rtlCol="0" anchor="ctr"/>
          <a:lstStyle/>
          <a:p>
            <a:pPr indent="0" marL="0">
              <a:buNone/>
            </a:pPr>
            <a:r>
              <a:rPr lang="en-US" sz="1100" b="1" spc="300" kern="0" dirty="0">
                <a:solidFill>
                  <a:srgbClr val="BF5320"/>
                </a:solidFill>
                <a:latin typeface="Calibri" pitchFamily="34" charset="0"/>
                <a:ea typeface="Calibri" pitchFamily="34" charset="-122"/>
                <a:cs typeface="Calibri" pitchFamily="34" charset="-120"/>
              </a:rPr>
              <a:t>THE PROBLEM</a:t>
            </a:r>
            <a:endParaRPr lang="en-US" sz="1100" dirty="0"/>
          </a:p>
        </p:txBody>
      </p:sp>
      <p:sp>
        <p:nvSpPr>
          <p:cNvPr id="5" name="!!title"/>
          <p:cNvSpPr txBox="1"/>
          <p:nvPr/>
        </p:nvSpPr>
        <p:spPr>
          <a:xfrm>
            <a:off x="640080" y="502920"/>
            <a:ext cx="10881360" cy="914400"/>
          </a:xfrm>
          <a:prstGeom prst="rect">
            <a:avLst/>
          </a:prstGeom>
          <a:noFill/>
          <a:ln/>
        </p:spPr>
        <p:txBody>
          <a:bodyPr wrap="square" lIns="0" tIns="0" rIns="0" bIns="0" rtlCol="0" anchor="ctr"/>
          <a:lstStyle/>
          <a:p>
            <a:pPr indent="0" marL="0">
              <a:buNone/>
            </a:pPr>
            <a:r>
              <a:rPr lang="en-US" sz="3600" b="1" dirty="0">
                <a:solidFill>
                  <a:srgbClr val="1C1712"/>
                </a:solidFill>
                <a:latin typeface="Cambria" pitchFamily="34" charset="0"/>
                <a:ea typeface="Cambria" pitchFamily="34" charset="-122"/>
                <a:cs typeface="Cambria" pitchFamily="34" charset="-120"/>
              </a:rPr>
              <a:t>At closing, donating is</a:t>
            </a:r>
            <a:pPr indent="0" marL="0">
              <a:buNone/>
            </a:pPr>
            <a:r>
              <a:rPr lang="en-US" sz="3600" b="1" dirty="0">
                <a:solidFill>
                  <a:srgbClr val="F0703D"/>
                </a:solidFill>
                <a:latin typeface="Cambria" pitchFamily="34" charset="0"/>
                <a:ea typeface="Cambria" pitchFamily="34" charset="-122"/>
                <a:cs typeface="Cambria" pitchFamily="34" charset="-120"/>
              </a:rPr>
              <a:t> three extra jobs</a:t>
            </a:r>
            <a:endParaRPr lang="en-US" sz="3600" dirty="0"/>
          </a:p>
        </p:txBody>
      </p:sp>
      <p:sp>
        <p:nvSpPr>
          <p:cNvPr id="6" name="anim1_card"/>
          <p:cNvSpPr/>
          <p:nvPr/>
        </p:nvSpPr>
        <p:spPr>
          <a:xfrm>
            <a:off x="640080" y="1783080"/>
            <a:ext cx="3429000" cy="2468880"/>
          </a:xfrm>
          <a:prstGeom prst="roundRect">
            <a:avLst>
              <a:gd name="adj" fmla="val 6667"/>
            </a:avLst>
          </a:prstGeom>
          <a:solidFill>
            <a:srgbClr val="FFFFF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7" name="anim1_iconBg"/>
          <p:cNvSpPr/>
          <p:nvPr/>
        </p:nvSpPr>
        <p:spPr>
          <a:xfrm>
            <a:off x="960120" y="2057400"/>
            <a:ext cx="731520" cy="731520"/>
          </a:xfrm>
          <a:prstGeom prst="ellipse">
            <a:avLst/>
          </a:prstGeom>
          <a:solidFill>
            <a:srgbClr val="FDE6D4"/>
          </a:solidFill>
          <a:ln w="12700">
            <a:solidFill>
              <a:srgbClr val="FDE6D4"/>
            </a:solidFill>
            <a:prstDash val="solid"/>
          </a:ln>
        </p:spPr>
      </p:sp>
      <p:pic>
        <p:nvPicPr>
          <p:cNvPr id="8" name="anim1_icon" descr="preencoded.png">    </p:cNvPr>
          <p:cNvPicPr>
            <a:picLocks noChangeAspect="1"/>
          </p:cNvPicPr>
          <p:nvPr/>
        </p:nvPicPr>
        <p:blipFill>
          <a:blip r:embed="rId3"/>
          <a:stretch>
            <a:fillRect/>
          </a:stretch>
        </p:blipFill>
        <p:spPr>
          <a:xfrm>
            <a:off x="1135685" y="2232965"/>
            <a:ext cx="380390" cy="380390"/>
          </a:xfrm>
          <a:prstGeom prst="rect">
            <a:avLst/>
          </a:prstGeom>
        </p:spPr>
      </p:pic>
      <p:sp>
        <p:nvSpPr>
          <p:cNvPr id="9" name="anim1_num"/>
          <p:cNvSpPr txBox="1"/>
          <p:nvPr/>
        </p:nvSpPr>
        <p:spPr>
          <a:xfrm>
            <a:off x="3154680" y="2103120"/>
            <a:ext cx="640080" cy="457200"/>
          </a:xfrm>
          <a:prstGeom prst="rect">
            <a:avLst/>
          </a:prstGeom>
          <a:noFill/>
          <a:ln/>
        </p:spPr>
        <p:txBody>
          <a:bodyPr wrap="square" lIns="0" tIns="0" rIns="0" bIns="0" rtlCol="0" anchor="ctr"/>
          <a:lstStyle/>
          <a:p>
            <a:pPr algn="r" indent="0" marL="0">
              <a:buNone/>
            </a:pPr>
            <a:r>
              <a:rPr lang="en-US" sz="2200" b="1" dirty="0">
                <a:solidFill>
                  <a:srgbClr val="E8CDB8"/>
                </a:solidFill>
                <a:latin typeface="Cambria" pitchFamily="34" charset="0"/>
                <a:ea typeface="Cambria" pitchFamily="34" charset="-122"/>
                <a:cs typeface="Cambria" pitchFamily="34" charset="-120"/>
              </a:rPr>
              <a:t>01</a:t>
            </a:r>
            <a:endParaRPr lang="en-US" sz="2200" dirty="0"/>
          </a:p>
        </p:txBody>
      </p:sp>
      <p:sp>
        <p:nvSpPr>
          <p:cNvPr id="10" name="anim1_h"/>
          <p:cNvSpPr txBox="1"/>
          <p:nvPr/>
        </p:nvSpPr>
        <p:spPr>
          <a:xfrm>
            <a:off x="960120" y="2971800"/>
            <a:ext cx="2834640" cy="685800"/>
          </a:xfrm>
          <a:prstGeom prst="rect">
            <a:avLst/>
          </a:prstGeom>
          <a:noFill/>
          <a:ln/>
        </p:spPr>
        <p:txBody>
          <a:bodyPr wrap="square" lIns="0" tIns="0" rIns="0" bIns="0" rtlCol="0" anchor="t"/>
          <a:lstStyle/>
          <a:p>
            <a:pPr indent="0" marL="0">
              <a:buNone/>
            </a:pPr>
            <a:r>
              <a:rPr lang="en-US" sz="1800" b="1" dirty="0">
                <a:solidFill>
                  <a:srgbClr val="1C1712"/>
                </a:solidFill>
                <a:latin typeface="Calibri" pitchFamily="34" charset="0"/>
                <a:ea typeface="Calibri" pitchFamily="34" charset="-122"/>
                <a:cs typeface="Calibri" pitchFamily="34" charset="-120"/>
              </a:rPr>
              <a:t>Find someone who can take it</a:t>
            </a:r>
            <a:endParaRPr lang="en-US" sz="1800" dirty="0"/>
          </a:p>
        </p:txBody>
      </p:sp>
      <p:sp>
        <p:nvSpPr>
          <p:cNvPr id="11" name="anim1_b"/>
          <p:cNvSpPr txBox="1"/>
          <p:nvPr/>
        </p:nvSpPr>
        <p:spPr>
          <a:xfrm>
            <a:off x="960120" y="3611880"/>
            <a:ext cx="2834640" cy="548640"/>
          </a:xfrm>
          <a:prstGeom prst="rect">
            <a:avLst/>
          </a:prstGeom>
          <a:noFill/>
          <a:ln/>
        </p:spPr>
        <p:txBody>
          <a:bodyPr wrap="square" lIns="0" tIns="0" rIns="0" bIns="0" rtlCol="0" anchor="t"/>
          <a:lstStyle/>
          <a:p>
            <a:pPr indent="0" marL="0">
              <a:buNone/>
            </a:pPr>
            <a:r>
              <a:rPr lang="en-US" sz="1400" dirty="0">
                <a:solidFill>
                  <a:srgbClr val="5B5148"/>
                </a:solidFill>
                <a:latin typeface="Calibri" pitchFamily="34" charset="0"/>
                <a:ea typeface="Calibri" pitchFamily="34" charset="-122"/>
                <a:cs typeface="Calibri" pitchFamily="34" charset="-120"/>
              </a:rPr>
              <a:t>Which pantry is open tonight and accepts prepared food?</a:t>
            </a:r>
            <a:endParaRPr lang="en-US" sz="1400" dirty="0"/>
          </a:p>
        </p:txBody>
      </p:sp>
      <p:sp>
        <p:nvSpPr>
          <p:cNvPr id="12" name="anim2_card"/>
          <p:cNvSpPr/>
          <p:nvPr/>
        </p:nvSpPr>
        <p:spPr>
          <a:xfrm>
            <a:off x="4343400" y="1783080"/>
            <a:ext cx="3429000" cy="2468880"/>
          </a:xfrm>
          <a:prstGeom prst="roundRect">
            <a:avLst>
              <a:gd name="adj" fmla="val 6667"/>
            </a:avLst>
          </a:prstGeom>
          <a:solidFill>
            <a:srgbClr val="FFFFF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13" name="anim2_iconBg"/>
          <p:cNvSpPr/>
          <p:nvPr/>
        </p:nvSpPr>
        <p:spPr>
          <a:xfrm>
            <a:off x="4663440" y="2057400"/>
            <a:ext cx="731520" cy="731520"/>
          </a:xfrm>
          <a:prstGeom prst="ellipse">
            <a:avLst/>
          </a:prstGeom>
          <a:solidFill>
            <a:srgbClr val="FDE6D4"/>
          </a:solidFill>
          <a:ln w="12700">
            <a:solidFill>
              <a:srgbClr val="FDE6D4"/>
            </a:solidFill>
            <a:prstDash val="solid"/>
          </a:ln>
        </p:spPr>
      </p:sp>
      <p:pic>
        <p:nvPicPr>
          <p:cNvPr id="14" name="anim2_icon" descr="preencoded.png">    </p:cNvPr>
          <p:cNvPicPr>
            <a:picLocks noChangeAspect="1"/>
          </p:cNvPicPr>
          <p:nvPr/>
        </p:nvPicPr>
        <p:blipFill>
          <a:blip r:embed="rId4"/>
          <a:stretch>
            <a:fillRect/>
          </a:stretch>
        </p:blipFill>
        <p:spPr>
          <a:xfrm>
            <a:off x="4839005" y="2232965"/>
            <a:ext cx="380390" cy="380390"/>
          </a:xfrm>
          <a:prstGeom prst="rect">
            <a:avLst/>
          </a:prstGeom>
        </p:spPr>
      </p:pic>
      <p:sp>
        <p:nvSpPr>
          <p:cNvPr id="15" name="anim2_num"/>
          <p:cNvSpPr txBox="1"/>
          <p:nvPr/>
        </p:nvSpPr>
        <p:spPr>
          <a:xfrm>
            <a:off x="6858000" y="2103120"/>
            <a:ext cx="640080" cy="457200"/>
          </a:xfrm>
          <a:prstGeom prst="rect">
            <a:avLst/>
          </a:prstGeom>
          <a:noFill/>
          <a:ln/>
        </p:spPr>
        <p:txBody>
          <a:bodyPr wrap="square" lIns="0" tIns="0" rIns="0" bIns="0" rtlCol="0" anchor="ctr"/>
          <a:lstStyle/>
          <a:p>
            <a:pPr algn="r" indent="0" marL="0">
              <a:buNone/>
            </a:pPr>
            <a:r>
              <a:rPr lang="en-US" sz="2200" b="1" dirty="0">
                <a:solidFill>
                  <a:srgbClr val="E8CDB8"/>
                </a:solidFill>
                <a:latin typeface="Cambria" pitchFamily="34" charset="0"/>
                <a:ea typeface="Cambria" pitchFamily="34" charset="-122"/>
                <a:cs typeface="Cambria" pitchFamily="34" charset="-120"/>
              </a:rPr>
              <a:t>02</a:t>
            </a:r>
            <a:endParaRPr lang="en-US" sz="2200" dirty="0"/>
          </a:p>
        </p:txBody>
      </p:sp>
      <p:sp>
        <p:nvSpPr>
          <p:cNvPr id="16" name="anim2_h"/>
          <p:cNvSpPr txBox="1"/>
          <p:nvPr/>
        </p:nvSpPr>
        <p:spPr>
          <a:xfrm>
            <a:off x="4663440" y="2971800"/>
            <a:ext cx="2834640" cy="685800"/>
          </a:xfrm>
          <a:prstGeom prst="rect">
            <a:avLst/>
          </a:prstGeom>
          <a:noFill/>
          <a:ln/>
        </p:spPr>
        <p:txBody>
          <a:bodyPr wrap="square" lIns="0" tIns="0" rIns="0" bIns="0" rtlCol="0" anchor="t"/>
          <a:lstStyle/>
          <a:p>
            <a:pPr indent="0" marL="0">
              <a:buNone/>
            </a:pPr>
            <a:r>
              <a:rPr lang="en-US" sz="1800" b="1" dirty="0">
                <a:solidFill>
                  <a:srgbClr val="1C1712"/>
                </a:solidFill>
                <a:latin typeface="Calibri" pitchFamily="34" charset="0"/>
                <a:ea typeface="Calibri" pitchFamily="34" charset="-122"/>
                <a:cs typeface="Calibri" pitchFamily="34" charset="-120"/>
              </a:rPr>
              <a:t>Check capacity and food rules</a:t>
            </a:r>
            <a:endParaRPr lang="en-US" sz="1800" dirty="0"/>
          </a:p>
        </p:txBody>
      </p:sp>
      <p:sp>
        <p:nvSpPr>
          <p:cNvPr id="17" name="anim2_b"/>
          <p:cNvSpPr txBox="1"/>
          <p:nvPr/>
        </p:nvSpPr>
        <p:spPr>
          <a:xfrm>
            <a:off x="4663440" y="3611880"/>
            <a:ext cx="2834640" cy="548640"/>
          </a:xfrm>
          <a:prstGeom prst="rect">
            <a:avLst/>
          </a:prstGeom>
          <a:noFill/>
          <a:ln/>
        </p:spPr>
        <p:txBody>
          <a:bodyPr wrap="square" lIns="0" tIns="0" rIns="0" bIns="0" rtlCol="0" anchor="t"/>
          <a:lstStyle/>
          <a:p>
            <a:pPr indent="0" marL="0">
              <a:buNone/>
            </a:pPr>
            <a:r>
              <a:rPr lang="en-US" sz="1400" dirty="0">
                <a:solidFill>
                  <a:srgbClr val="5B5148"/>
                </a:solidFill>
                <a:latin typeface="Calibri" pitchFamily="34" charset="0"/>
                <a:ea typeface="Calibri" pitchFamily="34" charset="-122"/>
                <a:cs typeface="Calibri" pitchFamily="34" charset="-120"/>
              </a:rPr>
              <a:t>Fridge space, allergens, halal or nut-free kitchens, quantities.</a:t>
            </a:r>
            <a:endParaRPr lang="en-US" sz="1400" dirty="0"/>
          </a:p>
        </p:txBody>
      </p:sp>
      <p:sp>
        <p:nvSpPr>
          <p:cNvPr id="18" name="anim3_card"/>
          <p:cNvSpPr/>
          <p:nvPr/>
        </p:nvSpPr>
        <p:spPr>
          <a:xfrm>
            <a:off x="8046720" y="1783080"/>
            <a:ext cx="3429000" cy="2468880"/>
          </a:xfrm>
          <a:prstGeom prst="roundRect">
            <a:avLst>
              <a:gd name="adj" fmla="val 6667"/>
            </a:avLst>
          </a:prstGeom>
          <a:solidFill>
            <a:srgbClr val="FFFFF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19" name="anim3_iconBg"/>
          <p:cNvSpPr/>
          <p:nvPr/>
        </p:nvSpPr>
        <p:spPr>
          <a:xfrm>
            <a:off x="8366760" y="2057400"/>
            <a:ext cx="731520" cy="731520"/>
          </a:xfrm>
          <a:prstGeom prst="ellipse">
            <a:avLst/>
          </a:prstGeom>
          <a:solidFill>
            <a:srgbClr val="FDE6D4"/>
          </a:solidFill>
          <a:ln w="12700">
            <a:solidFill>
              <a:srgbClr val="FDE6D4"/>
            </a:solidFill>
            <a:prstDash val="solid"/>
          </a:ln>
        </p:spPr>
      </p:sp>
      <p:pic>
        <p:nvPicPr>
          <p:cNvPr id="20" name="anim3_icon" descr="preencoded.png">    </p:cNvPr>
          <p:cNvPicPr>
            <a:picLocks noChangeAspect="1"/>
          </p:cNvPicPr>
          <p:nvPr/>
        </p:nvPicPr>
        <p:blipFill>
          <a:blip r:embed="rId5"/>
          <a:stretch>
            <a:fillRect/>
          </a:stretch>
        </p:blipFill>
        <p:spPr>
          <a:xfrm>
            <a:off x="8542325" y="2232965"/>
            <a:ext cx="380390" cy="380390"/>
          </a:xfrm>
          <a:prstGeom prst="rect">
            <a:avLst/>
          </a:prstGeom>
        </p:spPr>
      </p:pic>
      <p:sp>
        <p:nvSpPr>
          <p:cNvPr id="21" name="anim3_num"/>
          <p:cNvSpPr txBox="1"/>
          <p:nvPr/>
        </p:nvSpPr>
        <p:spPr>
          <a:xfrm>
            <a:off x="10561320" y="2103120"/>
            <a:ext cx="640080" cy="457200"/>
          </a:xfrm>
          <a:prstGeom prst="rect">
            <a:avLst/>
          </a:prstGeom>
          <a:noFill/>
          <a:ln/>
        </p:spPr>
        <p:txBody>
          <a:bodyPr wrap="square" lIns="0" tIns="0" rIns="0" bIns="0" rtlCol="0" anchor="ctr"/>
          <a:lstStyle/>
          <a:p>
            <a:pPr algn="r" indent="0" marL="0">
              <a:buNone/>
            </a:pPr>
            <a:r>
              <a:rPr lang="en-US" sz="2200" b="1" dirty="0">
                <a:solidFill>
                  <a:srgbClr val="E8CDB8"/>
                </a:solidFill>
                <a:latin typeface="Cambria" pitchFamily="34" charset="0"/>
                <a:ea typeface="Cambria" pitchFamily="34" charset="-122"/>
                <a:cs typeface="Cambria" pitchFamily="34" charset="-120"/>
              </a:rPr>
              <a:t>03</a:t>
            </a:r>
            <a:endParaRPr lang="en-US" sz="2200" dirty="0"/>
          </a:p>
        </p:txBody>
      </p:sp>
      <p:sp>
        <p:nvSpPr>
          <p:cNvPr id="22" name="anim3_h"/>
          <p:cNvSpPr txBox="1"/>
          <p:nvPr/>
        </p:nvSpPr>
        <p:spPr>
          <a:xfrm>
            <a:off x="8366760" y="2971800"/>
            <a:ext cx="2834640" cy="685800"/>
          </a:xfrm>
          <a:prstGeom prst="rect">
            <a:avLst/>
          </a:prstGeom>
          <a:noFill/>
          <a:ln/>
        </p:spPr>
        <p:txBody>
          <a:bodyPr wrap="square" lIns="0" tIns="0" rIns="0" bIns="0" rtlCol="0" anchor="t"/>
          <a:lstStyle/>
          <a:p>
            <a:pPr indent="0" marL="0">
              <a:buNone/>
            </a:pPr>
            <a:r>
              <a:rPr lang="en-US" sz="1800" b="1" dirty="0">
                <a:solidFill>
                  <a:srgbClr val="1C1712"/>
                </a:solidFill>
                <a:latin typeface="Calibri" pitchFamily="34" charset="0"/>
                <a:ea typeface="Calibri" pitchFamily="34" charset="-122"/>
                <a:cs typeface="Calibri" pitchFamily="34" charset="-120"/>
              </a:rPr>
              <a:t>Arrange a pickup</a:t>
            </a:r>
            <a:endParaRPr lang="en-US" sz="1800" dirty="0"/>
          </a:p>
        </p:txBody>
      </p:sp>
      <p:sp>
        <p:nvSpPr>
          <p:cNvPr id="23" name="anim3_b"/>
          <p:cNvSpPr txBox="1"/>
          <p:nvPr/>
        </p:nvSpPr>
        <p:spPr>
          <a:xfrm>
            <a:off x="8366760" y="3611880"/>
            <a:ext cx="2834640" cy="548640"/>
          </a:xfrm>
          <a:prstGeom prst="rect">
            <a:avLst/>
          </a:prstGeom>
          <a:noFill/>
          <a:ln/>
        </p:spPr>
        <p:txBody>
          <a:bodyPr wrap="square" lIns="0" tIns="0" rIns="0" bIns="0" rtlCol="0" anchor="t"/>
          <a:lstStyle/>
          <a:p>
            <a:pPr indent="0" marL="0">
              <a:buNone/>
            </a:pPr>
            <a:r>
              <a:rPr lang="en-US" sz="1400" dirty="0">
                <a:solidFill>
                  <a:srgbClr val="5B5148"/>
                </a:solidFill>
                <a:latin typeface="Calibri" pitchFamily="34" charset="0"/>
                <a:ea typeface="Calibri" pitchFamily="34" charset="-122"/>
                <a:cs typeface="Calibri" pitchFamily="34" charset="-120"/>
              </a:rPr>
              <a:t>Someone has to drive — usually after the staff have gone home.</a:t>
            </a:r>
            <a:endParaRPr lang="en-US" sz="1400" dirty="0"/>
          </a:p>
        </p:txBody>
      </p:sp>
      <p:sp>
        <p:nvSpPr>
          <p:cNvPr id="24" name="anim4_hmw"/>
          <p:cNvSpPr/>
          <p:nvPr/>
        </p:nvSpPr>
        <p:spPr>
          <a:xfrm>
            <a:off x="640080" y="4572000"/>
            <a:ext cx="10835640" cy="1417320"/>
          </a:xfrm>
          <a:prstGeom prst="roundRect">
            <a:avLst>
              <a:gd name="adj" fmla="val 12903"/>
            </a:avLst>
          </a:prstGeom>
          <a:solidFill>
            <a:srgbClr val="165840"/>
          </a:solidFill>
          <a:ln w="12700">
            <a:solidFill>
              <a:srgbClr val="165840"/>
            </a:solidFill>
            <a:prstDash val="solid"/>
          </a:ln>
        </p:spPr>
      </p:sp>
      <p:sp>
        <p:nvSpPr>
          <p:cNvPr id="25" name="anim4_hmwText"/>
          <p:cNvSpPr txBox="1"/>
          <p:nvPr/>
        </p:nvSpPr>
        <p:spPr>
          <a:xfrm>
            <a:off x="960120" y="4663440"/>
            <a:ext cx="10241280" cy="1234440"/>
          </a:xfrm>
          <a:prstGeom prst="rect">
            <a:avLst/>
          </a:prstGeom>
          <a:noFill/>
          <a:ln/>
        </p:spPr>
        <p:txBody>
          <a:bodyPr wrap="square" lIns="0" tIns="0" rIns="0" bIns="0" rtlCol="0" anchor="ctr"/>
          <a:lstStyle/>
          <a:p>
            <a:pPr indent="0" marL="0">
              <a:buNone/>
            </a:pPr>
            <a:r>
              <a:rPr lang="en-US" sz="1200" b="1" spc="200" kern="0" dirty="0">
                <a:solidFill>
                  <a:srgbClr val="F7B98F"/>
                </a:solidFill>
                <a:latin typeface="Calibri" pitchFamily="34" charset="0"/>
                <a:ea typeface="Calibri" pitchFamily="34" charset="-122"/>
                <a:cs typeface="Calibri" pitchFamily="34" charset="-120"/>
              </a:rPr>
              <a:t>HOW MIGHT WE  </a:t>
            </a:r>
            <a:pPr indent="0" marL="0">
              <a:buNone/>
            </a:pPr>
            <a:r>
              <a:rPr lang="en-US" sz="2000" dirty="0">
                <a:solidFill>
                  <a:srgbClr val="FFFFFF"/>
                </a:solidFill>
                <a:latin typeface="Cambria" pitchFamily="34" charset="0"/>
                <a:ea typeface="Cambria" pitchFamily="34" charset="-122"/>
                <a:cs typeface="Cambria" pitchFamily="34" charset="-120"/>
              </a:rPr>
              <a:t>line up a recipient and a pickup before the event ends, so confirming leftovers takes one tap instead of three phone calls?</a:t>
            </a:r>
            <a:endParaRPr lang="en-US" sz="1200" dirty="0"/>
          </a:p>
        </p:txBody>
      </p:sp>
      <p:pic>
        <p:nvPicPr>
          <p:cNvPr id="26" name="footLogoL" descr="preencoded.png">    </p:cNvPr>
          <p:cNvPicPr>
            <a:picLocks noChangeAspect="1"/>
          </p:cNvPicPr>
          <p:nvPr/>
        </p:nvPicPr>
        <p:blipFill>
          <a:blip r:embed="rId6"/>
          <a:stretch>
            <a:fillRect/>
          </a:stretch>
        </p:blipFill>
        <p:spPr>
          <a:xfrm>
            <a:off x="640080" y="6355080"/>
            <a:ext cx="384048" cy="252476"/>
          </a:xfrm>
          <a:prstGeom prst="rect">
            <a:avLst/>
          </a:prstGeom>
        </p:spPr>
      </p:pic>
      <p:pic>
        <p:nvPicPr>
          <p:cNvPr id="27" name="footLogoR" descr="preencoded.png">    </p:cNvPr>
          <p:cNvPicPr>
            <a:picLocks noChangeAspect="1"/>
          </p:cNvPicPr>
          <p:nvPr/>
        </p:nvPicPr>
        <p:blipFill>
          <a:blip r:embed="rId7"/>
          <a:stretch>
            <a:fillRect/>
          </a:stretch>
        </p:blipFill>
        <p:spPr>
          <a:xfrm>
            <a:off x="640080" y="6355080"/>
            <a:ext cx="384048" cy="252476"/>
          </a:xfrm>
          <a:prstGeom prst="rect">
            <a:avLst/>
          </a:prstGeom>
        </p:spPr>
      </p:pic>
      <p:pic>
        <p:nvPicPr>
          <p:cNvPr id="28" name="footLogoS" descr="preencoded.png">    </p:cNvPr>
          <p:cNvPicPr>
            <a:picLocks noChangeAspect="1"/>
          </p:cNvPicPr>
          <p:nvPr/>
        </p:nvPicPr>
        <p:blipFill>
          <a:blip r:embed="rId8"/>
          <a:stretch>
            <a:fillRect/>
          </a:stretch>
        </p:blipFill>
        <p:spPr>
          <a:xfrm>
            <a:off x="640080" y="6355080"/>
            <a:ext cx="384048" cy="252476"/>
          </a:xfrm>
          <a:prstGeom prst="rect">
            <a:avLst/>
          </a:prstGeom>
        </p:spPr>
      </p:pic>
      <p:sp>
        <p:nvSpPr>
          <p:cNvPr id="29" name="Text 19"/>
          <p:cNvSpPr txBox="1"/>
          <p:nvPr/>
        </p:nvSpPr>
        <p:spPr>
          <a:xfrm>
            <a:off x="1097280" y="6327648"/>
            <a:ext cx="3657600" cy="292608"/>
          </a:xfrm>
          <a:prstGeom prst="rect">
            <a:avLst/>
          </a:prstGeom>
          <a:noFill/>
          <a:ln/>
        </p:spPr>
        <p:txBody>
          <a:bodyPr wrap="square" lIns="0" tIns="0" rIns="0" bIns="0" rtlCol="0" anchor="ctr"/>
          <a:lstStyle/>
          <a:p>
            <a:pPr indent="0" marL="0">
              <a:buNone/>
            </a:pPr>
            <a:r>
              <a:rPr lang="en-US" sz="1000" dirty="0">
                <a:solidFill>
                  <a:srgbClr val="5B5148"/>
                </a:solidFill>
                <a:latin typeface="Calibri" pitchFamily="34" charset="0"/>
                <a:ea typeface="Calibri" pitchFamily="34" charset="-122"/>
                <a:cs typeface="Calibri" pitchFamily="34" charset="-120"/>
              </a:rPr>
              <a:t>Not Wasted · Surplus saved</a:t>
            </a:r>
            <a:endParaRPr lang="en-US" sz="1000" dirty="0"/>
          </a:p>
        </p:txBody>
      </p:sp>
      <p:sp>
        <p:nvSpPr>
          <p:cNvPr id="30" name="Text 20"/>
          <p:cNvSpPr txBox="1"/>
          <p:nvPr/>
        </p:nvSpPr>
        <p:spPr>
          <a:xfrm>
            <a:off x="10607040" y="6327648"/>
            <a:ext cx="914400" cy="292608"/>
          </a:xfrm>
          <a:prstGeom prst="rect">
            <a:avLst/>
          </a:prstGeom>
          <a:noFill/>
          <a:ln/>
        </p:spPr>
        <p:txBody>
          <a:bodyPr wrap="square" lIns="0" tIns="0" rIns="0" bIns="0" rtlCol="0" anchor="ctr"/>
          <a:lstStyle/>
          <a:p>
            <a:pPr algn="r" indent="0" marL="0">
              <a:buNone/>
            </a:pPr>
            <a:r>
              <a:rPr lang="en-US" sz="1000" dirty="0">
                <a:solidFill>
                  <a:srgbClr val="5B5148"/>
                </a:solidFill>
                <a:latin typeface="Calibri" pitchFamily="34" charset="0"/>
                <a:ea typeface="Calibri" pitchFamily="34" charset="-122"/>
                <a:cs typeface="Calibri" pitchFamily="34" charset="-120"/>
              </a:rPr>
              <a:t>03 / 12</a:t>
            </a:r>
            <a:endParaRPr lang="en-US" sz="1000" dirty="0"/>
          </a:p>
        </p:txBody>
      </p:sp>
    </p:spTree>
  </p:cSld>
  <p:clrMapOvr>
    <a:masterClrMapping/>
  </p:clrMapOvr>
  <mc:AlternateContent>
    <mc:Choice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10" presetClass="entr" presetSubtype="0" fill="hold"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600"/>
                                        <p:tgtEl>
                                          <p:spTgt spid="6"/>
                                        </p:tgtEl>
                                      </p:cBhvr>
                                    </p:animEffect>
                                    <p:anim calcmode="lin" valueType="num">
                                      <p:cBhvr additive="base">
                                        <p:cTn id="7" dur="600" fill="hold"/>
                                        <p:tgtEl>
                                          <p:spTgt spid="6"/>
                                        </p:tgtEl>
                                        <p:attrNameLst>
                                          <p:attrName>ppt_y</p:attrName>
                                        </p:attrNameLst>
                                      </p:cBhvr>
                                      <p:tavLst>
                                        <p:tav tm="0">
                                          <p:val>
                                            <p:strVal val="#ppt_y+0.04"/>
                                          </p:val>
                                        </p:tav>
                                        <p:tav tm="100000">
                                          <p:val>
                                            <p:strVal val="#ppt_y"/>
                                          </p:val>
                                        </p:tav>
                                      </p:tavLst>
                                    </p:anim>
                                  </p:childTnLst>
                                </p:cTn>
                              </p:par>
                              <p:par>
                                <p:cTn id="12" presetID="10" presetClass="entr" presetSubtype="0" fill="hold" nodeType="withEffect">
                                  <p:stCondLst>
                                    <p:cond delay="15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600"/>
                                        <p:tgtEl>
                                          <p:spTgt spid="7"/>
                                        </p:tgtEl>
                                      </p:cBhvr>
                                    </p:animEffect>
                                    <p:anim calcmode="lin" valueType="num">
                                      <p:cBhvr additive="base">
                                        <p:cTn id="11" dur="600" fill="hold"/>
                                        <p:tgtEl>
                                          <p:spTgt spid="7"/>
                                        </p:tgtEl>
                                        <p:attrNameLst>
                                          <p:attrName>ppt_y</p:attrName>
                                        </p:attrNameLst>
                                      </p:cBhvr>
                                      <p:tavLst>
                                        <p:tav tm="0">
                                          <p:val>
                                            <p:strVal val="#ppt_y+0.04"/>
                                          </p:val>
                                        </p:tav>
                                        <p:tav tm="100000">
                                          <p:val>
                                            <p:strVal val="#ppt_y"/>
                                          </p:val>
                                        </p:tav>
                                      </p:tavLst>
                                    </p:anim>
                                  </p:childTnLst>
                                </p:cTn>
                              </p:par>
                              <p:par>
                                <p:cTn id="16" presetID="10" presetClass="entr" presetSubtype="0" fill="hold" nodeType="withEffect">
                                  <p:stCondLst>
                                    <p:cond delay="15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600"/>
                                        <p:tgtEl>
                                          <p:spTgt spid="8"/>
                                        </p:tgtEl>
                                      </p:cBhvr>
                                    </p:animEffect>
                                    <p:anim calcmode="lin" valueType="num">
                                      <p:cBhvr additive="base">
                                        <p:cTn id="15" dur="600" fill="hold"/>
                                        <p:tgtEl>
                                          <p:spTgt spid="8"/>
                                        </p:tgtEl>
                                        <p:attrNameLst>
                                          <p:attrName>ppt_y</p:attrName>
                                        </p:attrNameLst>
                                      </p:cBhvr>
                                      <p:tavLst>
                                        <p:tav tm="0">
                                          <p:val>
                                            <p:strVal val="#ppt_y+0.04"/>
                                          </p:val>
                                        </p:tav>
                                        <p:tav tm="100000">
                                          <p:val>
                                            <p:strVal val="#ppt_y"/>
                                          </p:val>
                                        </p:tav>
                                      </p:tavLst>
                                    </p:anim>
                                  </p:childTnLst>
                                </p:cTn>
                              </p:par>
                              <p:par>
                                <p:cTn id="20" presetID="10" presetClass="entr" presetSubtype="0" fill="hold" nodeType="withEffect">
                                  <p:stCondLst>
                                    <p:cond delay="15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600"/>
                                        <p:tgtEl>
                                          <p:spTgt spid="9"/>
                                        </p:tgtEl>
                                      </p:cBhvr>
                                    </p:animEffect>
                                    <p:anim calcmode="lin" valueType="num">
                                      <p:cBhvr additive="base">
                                        <p:cTn id="19" dur="600" fill="hold"/>
                                        <p:tgtEl>
                                          <p:spTgt spid="9"/>
                                        </p:tgtEl>
                                        <p:attrNameLst>
                                          <p:attrName>ppt_y</p:attrName>
                                        </p:attrNameLst>
                                      </p:cBhvr>
                                      <p:tavLst>
                                        <p:tav tm="0">
                                          <p:val>
                                            <p:strVal val="#ppt_y+0.04"/>
                                          </p:val>
                                        </p:tav>
                                        <p:tav tm="100000">
                                          <p:val>
                                            <p:strVal val="#ppt_y"/>
                                          </p:val>
                                        </p:tav>
                                      </p:tavLst>
                                    </p:anim>
                                  </p:childTnLst>
                                </p:cTn>
                              </p:par>
                              <p:par>
                                <p:cTn id="24" presetID="10" presetClass="entr" presetSubtype="0" fill="hold" nodeType="withEffect">
                                  <p:stCondLst>
                                    <p:cond delay="15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600"/>
                                        <p:tgtEl>
                                          <p:spTgt spid="10"/>
                                        </p:tgtEl>
                                      </p:cBhvr>
                                    </p:animEffect>
                                    <p:anim calcmode="lin" valueType="num">
                                      <p:cBhvr additive="base">
                                        <p:cTn id="23" dur="600" fill="hold"/>
                                        <p:tgtEl>
                                          <p:spTgt spid="10"/>
                                        </p:tgtEl>
                                        <p:attrNameLst>
                                          <p:attrName>ppt_y</p:attrName>
                                        </p:attrNameLst>
                                      </p:cBhvr>
                                      <p:tavLst>
                                        <p:tav tm="0">
                                          <p:val>
                                            <p:strVal val="#ppt_y+0.04"/>
                                          </p:val>
                                        </p:tav>
                                        <p:tav tm="100000">
                                          <p:val>
                                            <p:strVal val="#ppt_y"/>
                                          </p:val>
                                        </p:tav>
                                      </p:tavLst>
                                    </p:anim>
                                  </p:childTnLst>
                                </p:cTn>
                              </p:par>
                              <p:par>
                                <p:cTn id="28" presetID="10" presetClass="entr" presetSubtype="0" fill="hold" nodeType="withEffect">
                                  <p:stCondLst>
                                    <p:cond delay="15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600"/>
                                        <p:tgtEl>
                                          <p:spTgt spid="11"/>
                                        </p:tgtEl>
                                      </p:cBhvr>
                                    </p:animEffect>
                                    <p:anim calcmode="lin" valueType="num">
                                      <p:cBhvr additive="base">
                                        <p:cTn id="27" dur="600" fill="hold"/>
                                        <p:tgtEl>
                                          <p:spTgt spid="11"/>
                                        </p:tgtEl>
                                        <p:attrNameLst>
                                          <p:attrName>ppt_y</p:attrName>
                                        </p:attrNameLst>
                                      </p:cBhvr>
                                      <p:tavLst>
                                        <p:tav tm="0">
                                          <p:val>
                                            <p:strVal val="#ppt_y+0.04"/>
                                          </p:val>
                                        </p:tav>
                                        <p:tav tm="100000">
                                          <p:val>
                                            <p:strVal val="#ppt_y"/>
                                          </p:val>
                                        </p:tav>
                                      </p:tavLst>
                                    </p:anim>
                                  </p:childTnLst>
                                </p:cTn>
                              </p:par>
                              <p:par>
                                <p:cTn id="32" presetID="10" presetClass="entr" presetSubtype="0" fill="hold" nodeType="withEffect">
                                  <p:stCondLst>
                                    <p:cond delay="43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600"/>
                                        <p:tgtEl>
                                          <p:spTgt spid="12"/>
                                        </p:tgtEl>
                                      </p:cBhvr>
                                    </p:animEffect>
                                    <p:anim calcmode="lin" valueType="num">
                                      <p:cBhvr additive="base">
                                        <p:cTn id="31" dur="600" fill="hold"/>
                                        <p:tgtEl>
                                          <p:spTgt spid="12"/>
                                        </p:tgtEl>
                                        <p:attrNameLst>
                                          <p:attrName>ppt_y</p:attrName>
                                        </p:attrNameLst>
                                      </p:cBhvr>
                                      <p:tavLst>
                                        <p:tav tm="0">
                                          <p:val>
                                            <p:strVal val="#ppt_y+0.04"/>
                                          </p:val>
                                        </p:tav>
                                        <p:tav tm="100000">
                                          <p:val>
                                            <p:strVal val="#ppt_y"/>
                                          </p:val>
                                        </p:tav>
                                      </p:tavLst>
                                    </p:anim>
                                  </p:childTnLst>
                                </p:cTn>
                              </p:par>
                              <p:par>
                                <p:cTn id="36" presetID="10" presetClass="entr" presetSubtype="0" fill="hold" nodeType="withEffect">
                                  <p:stCondLst>
                                    <p:cond delay="43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p:tgtEl>
                                          <p:spTgt spid="13"/>
                                        </p:tgtEl>
                                      </p:cBhvr>
                                    </p:animEffect>
                                    <p:anim calcmode="lin" valueType="num">
                                      <p:cBhvr additive="base">
                                        <p:cTn id="35" dur="600" fill="hold"/>
                                        <p:tgtEl>
                                          <p:spTgt spid="13"/>
                                        </p:tgtEl>
                                        <p:attrNameLst>
                                          <p:attrName>ppt_y</p:attrName>
                                        </p:attrNameLst>
                                      </p:cBhvr>
                                      <p:tavLst>
                                        <p:tav tm="0">
                                          <p:val>
                                            <p:strVal val="#ppt_y+0.04"/>
                                          </p:val>
                                        </p:tav>
                                        <p:tav tm="100000">
                                          <p:val>
                                            <p:strVal val="#ppt_y"/>
                                          </p:val>
                                        </p:tav>
                                      </p:tavLst>
                                    </p:anim>
                                  </p:childTnLst>
                                </p:cTn>
                              </p:par>
                              <p:par>
                                <p:cTn id="40" presetID="10" presetClass="entr" presetSubtype="0" fill="hold" nodeType="withEffect">
                                  <p:stCondLst>
                                    <p:cond delay="43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600"/>
                                        <p:tgtEl>
                                          <p:spTgt spid="14"/>
                                        </p:tgtEl>
                                      </p:cBhvr>
                                    </p:animEffect>
                                    <p:anim calcmode="lin" valueType="num">
                                      <p:cBhvr additive="base">
                                        <p:cTn id="39" dur="600" fill="hold"/>
                                        <p:tgtEl>
                                          <p:spTgt spid="14"/>
                                        </p:tgtEl>
                                        <p:attrNameLst>
                                          <p:attrName>ppt_y</p:attrName>
                                        </p:attrNameLst>
                                      </p:cBhvr>
                                      <p:tavLst>
                                        <p:tav tm="0">
                                          <p:val>
                                            <p:strVal val="#ppt_y+0.04"/>
                                          </p:val>
                                        </p:tav>
                                        <p:tav tm="100000">
                                          <p:val>
                                            <p:strVal val="#ppt_y"/>
                                          </p:val>
                                        </p:tav>
                                      </p:tavLst>
                                    </p:anim>
                                  </p:childTnLst>
                                </p:cTn>
                              </p:par>
                              <p:par>
                                <p:cTn id="44" presetID="10" presetClass="entr" presetSubtype="0" fill="hold" nodeType="withEffect">
                                  <p:stCondLst>
                                    <p:cond delay="43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anim calcmode="lin" valueType="num">
                                      <p:cBhvr additive="base">
                                        <p:cTn id="43" dur="600" fill="hold"/>
                                        <p:tgtEl>
                                          <p:spTgt spid="15"/>
                                        </p:tgtEl>
                                        <p:attrNameLst>
                                          <p:attrName>ppt_y</p:attrName>
                                        </p:attrNameLst>
                                      </p:cBhvr>
                                      <p:tavLst>
                                        <p:tav tm="0">
                                          <p:val>
                                            <p:strVal val="#ppt_y+0.04"/>
                                          </p:val>
                                        </p:tav>
                                        <p:tav tm="100000">
                                          <p:val>
                                            <p:strVal val="#ppt_y"/>
                                          </p:val>
                                        </p:tav>
                                      </p:tavLst>
                                    </p:anim>
                                  </p:childTnLst>
                                </p:cTn>
                              </p:par>
                              <p:par>
                                <p:cTn id="48" presetID="10" presetClass="entr" presetSubtype="0" fill="hold" nodeType="withEffect">
                                  <p:stCondLst>
                                    <p:cond delay="43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600"/>
                                        <p:tgtEl>
                                          <p:spTgt spid="16"/>
                                        </p:tgtEl>
                                      </p:cBhvr>
                                    </p:animEffect>
                                    <p:anim calcmode="lin" valueType="num">
                                      <p:cBhvr additive="base">
                                        <p:cTn id="47" dur="600" fill="hold"/>
                                        <p:tgtEl>
                                          <p:spTgt spid="16"/>
                                        </p:tgtEl>
                                        <p:attrNameLst>
                                          <p:attrName>ppt_y</p:attrName>
                                        </p:attrNameLst>
                                      </p:cBhvr>
                                      <p:tavLst>
                                        <p:tav tm="0">
                                          <p:val>
                                            <p:strVal val="#ppt_y+0.04"/>
                                          </p:val>
                                        </p:tav>
                                        <p:tav tm="100000">
                                          <p:val>
                                            <p:strVal val="#ppt_y"/>
                                          </p:val>
                                        </p:tav>
                                      </p:tavLst>
                                    </p:anim>
                                  </p:childTnLst>
                                </p:cTn>
                              </p:par>
                              <p:par>
                                <p:cTn id="52" presetID="10" presetClass="entr" presetSubtype="0" fill="hold" nodeType="withEffect">
                                  <p:stCondLst>
                                    <p:cond delay="43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600"/>
                                        <p:tgtEl>
                                          <p:spTgt spid="17"/>
                                        </p:tgtEl>
                                      </p:cBhvr>
                                    </p:animEffect>
                                    <p:anim calcmode="lin" valueType="num">
                                      <p:cBhvr additive="base">
                                        <p:cTn id="51" dur="600" fill="hold"/>
                                        <p:tgtEl>
                                          <p:spTgt spid="17"/>
                                        </p:tgtEl>
                                        <p:attrNameLst>
                                          <p:attrName>ppt_y</p:attrName>
                                        </p:attrNameLst>
                                      </p:cBhvr>
                                      <p:tavLst>
                                        <p:tav tm="0">
                                          <p:val>
                                            <p:strVal val="#ppt_y+0.04"/>
                                          </p:val>
                                        </p:tav>
                                        <p:tav tm="100000">
                                          <p:val>
                                            <p:strVal val="#ppt_y"/>
                                          </p:val>
                                        </p:tav>
                                      </p:tavLst>
                                    </p:anim>
                                  </p:childTnLst>
                                </p:cTn>
                              </p:par>
                              <p:par>
                                <p:cTn id="56" presetID="10" presetClass="entr" presetSubtype="0" fill="hold" nodeType="withEffect">
                                  <p:stCondLst>
                                    <p:cond delay="71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600"/>
                                        <p:tgtEl>
                                          <p:spTgt spid="18"/>
                                        </p:tgtEl>
                                      </p:cBhvr>
                                    </p:animEffect>
                                    <p:anim calcmode="lin" valueType="num">
                                      <p:cBhvr additive="base">
                                        <p:cTn id="55" dur="600" fill="hold"/>
                                        <p:tgtEl>
                                          <p:spTgt spid="18"/>
                                        </p:tgtEl>
                                        <p:attrNameLst>
                                          <p:attrName>ppt_y</p:attrName>
                                        </p:attrNameLst>
                                      </p:cBhvr>
                                      <p:tavLst>
                                        <p:tav tm="0">
                                          <p:val>
                                            <p:strVal val="#ppt_y+0.04"/>
                                          </p:val>
                                        </p:tav>
                                        <p:tav tm="100000">
                                          <p:val>
                                            <p:strVal val="#ppt_y"/>
                                          </p:val>
                                        </p:tav>
                                      </p:tavLst>
                                    </p:anim>
                                  </p:childTnLst>
                                </p:cTn>
                              </p:par>
                              <p:par>
                                <p:cTn id="60" presetID="10" presetClass="entr" presetSubtype="0" fill="hold" nodeType="withEffect">
                                  <p:stCondLst>
                                    <p:cond delay="71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600"/>
                                        <p:tgtEl>
                                          <p:spTgt spid="19"/>
                                        </p:tgtEl>
                                      </p:cBhvr>
                                    </p:animEffect>
                                    <p:anim calcmode="lin" valueType="num">
                                      <p:cBhvr additive="base">
                                        <p:cTn id="59" dur="600" fill="hold"/>
                                        <p:tgtEl>
                                          <p:spTgt spid="19"/>
                                        </p:tgtEl>
                                        <p:attrNameLst>
                                          <p:attrName>ppt_y</p:attrName>
                                        </p:attrNameLst>
                                      </p:cBhvr>
                                      <p:tavLst>
                                        <p:tav tm="0">
                                          <p:val>
                                            <p:strVal val="#ppt_y+0.04"/>
                                          </p:val>
                                        </p:tav>
                                        <p:tav tm="100000">
                                          <p:val>
                                            <p:strVal val="#ppt_y"/>
                                          </p:val>
                                        </p:tav>
                                      </p:tavLst>
                                    </p:anim>
                                  </p:childTnLst>
                                </p:cTn>
                              </p:par>
                              <p:par>
                                <p:cTn id="64" presetID="10" presetClass="entr" presetSubtype="0" fill="hold" nodeType="withEffect">
                                  <p:stCondLst>
                                    <p:cond delay="71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600"/>
                                        <p:tgtEl>
                                          <p:spTgt spid="20"/>
                                        </p:tgtEl>
                                      </p:cBhvr>
                                    </p:animEffect>
                                    <p:anim calcmode="lin" valueType="num">
                                      <p:cBhvr additive="base">
                                        <p:cTn id="63" dur="600" fill="hold"/>
                                        <p:tgtEl>
                                          <p:spTgt spid="20"/>
                                        </p:tgtEl>
                                        <p:attrNameLst>
                                          <p:attrName>ppt_y</p:attrName>
                                        </p:attrNameLst>
                                      </p:cBhvr>
                                      <p:tavLst>
                                        <p:tav tm="0">
                                          <p:val>
                                            <p:strVal val="#ppt_y+0.04"/>
                                          </p:val>
                                        </p:tav>
                                        <p:tav tm="100000">
                                          <p:val>
                                            <p:strVal val="#ppt_y"/>
                                          </p:val>
                                        </p:tav>
                                      </p:tavLst>
                                    </p:anim>
                                  </p:childTnLst>
                                </p:cTn>
                              </p:par>
                              <p:par>
                                <p:cTn id="68" presetID="10" presetClass="entr" presetSubtype="0" fill="hold" nodeType="withEffect">
                                  <p:stCondLst>
                                    <p:cond delay="71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600"/>
                                        <p:tgtEl>
                                          <p:spTgt spid="21"/>
                                        </p:tgtEl>
                                      </p:cBhvr>
                                    </p:animEffect>
                                    <p:anim calcmode="lin" valueType="num">
                                      <p:cBhvr additive="base">
                                        <p:cTn id="67" dur="600" fill="hold"/>
                                        <p:tgtEl>
                                          <p:spTgt spid="21"/>
                                        </p:tgtEl>
                                        <p:attrNameLst>
                                          <p:attrName>ppt_y</p:attrName>
                                        </p:attrNameLst>
                                      </p:cBhvr>
                                      <p:tavLst>
                                        <p:tav tm="0">
                                          <p:val>
                                            <p:strVal val="#ppt_y+0.04"/>
                                          </p:val>
                                        </p:tav>
                                        <p:tav tm="100000">
                                          <p:val>
                                            <p:strVal val="#ppt_y"/>
                                          </p:val>
                                        </p:tav>
                                      </p:tavLst>
                                    </p:anim>
                                  </p:childTnLst>
                                </p:cTn>
                              </p:par>
                              <p:par>
                                <p:cTn id="72" presetID="10" presetClass="entr" presetSubtype="0" fill="hold" nodeType="withEffect">
                                  <p:stCondLst>
                                    <p:cond delay="71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600"/>
                                        <p:tgtEl>
                                          <p:spTgt spid="22"/>
                                        </p:tgtEl>
                                      </p:cBhvr>
                                    </p:animEffect>
                                    <p:anim calcmode="lin" valueType="num">
                                      <p:cBhvr additive="base">
                                        <p:cTn id="71" dur="600" fill="hold"/>
                                        <p:tgtEl>
                                          <p:spTgt spid="22"/>
                                        </p:tgtEl>
                                        <p:attrNameLst>
                                          <p:attrName>ppt_y</p:attrName>
                                        </p:attrNameLst>
                                      </p:cBhvr>
                                      <p:tavLst>
                                        <p:tav tm="0">
                                          <p:val>
                                            <p:strVal val="#ppt_y+0.04"/>
                                          </p:val>
                                        </p:tav>
                                        <p:tav tm="100000">
                                          <p:val>
                                            <p:strVal val="#ppt_y"/>
                                          </p:val>
                                        </p:tav>
                                      </p:tavLst>
                                    </p:anim>
                                  </p:childTnLst>
                                </p:cTn>
                              </p:par>
                              <p:par>
                                <p:cTn id="76" presetID="10" presetClass="entr" presetSubtype="0" fill="hold" nodeType="withEffect">
                                  <p:stCondLst>
                                    <p:cond delay="71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600"/>
                                        <p:tgtEl>
                                          <p:spTgt spid="23"/>
                                        </p:tgtEl>
                                      </p:cBhvr>
                                    </p:animEffect>
                                    <p:anim calcmode="lin" valueType="num">
                                      <p:cBhvr additive="base">
                                        <p:cTn id="75" dur="600" fill="hold"/>
                                        <p:tgtEl>
                                          <p:spTgt spid="23"/>
                                        </p:tgtEl>
                                        <p:attrNameLst>
                                          <p:attrName>ppt_y</p:attrName>
                                        </p:attrNameLst>
                                      </p:cBhvr>
                                      <p:tavLst>
                                        <p:tav tm="0">
                                          <p:val>
                                            <p:strVal val="#ppt_y+0.04"/>
                                          </p:val>
                                        </p:tav>
                                        <p:tav tm="100000">
                                          <p:val>
                                            <p:strVal val="#ppt_y"/>
                                          </p:val>
                                        </p:tav>
                                      </p:tavLst>
                                    </p:anim>
                                  </p:childTnLst>
                                </p:cTn>
                              </p:par>
                              <p:par>
                                <p:cTn id="80" presetID="10" presetClass="entr" presetSubtype="0" fill="hold" nodeType="withEffect">
                                  <p:stCondLst>
                                    <p:cond delay="990"/>
                                  </p:stCondLst>
                                  <p:childTnLst>
                                    <p:set>
                                      <p:cBhvr>
                                        <p:cTn id="77" dur="1" fill="hold">
                                          <p:stCondLst>
                                            <p:cond delay="0"/>
                                          </p:stCondLst>
                                        </p:cTn>
                                        <p:tgtEl>
                                          <p:spTgt spid="24"/>
                                        </p:tgtEl>
                                        <p:attrNameLst>
                                          <p:attrName>style.visibility</p:attrName>
                                        </p:attrNameLst>
                                      </p:cBhvr>
                                      <p:to>
                                        <p:strVal val="visible"/>
                                      </p:to>
                                    </p:set>
                                    <p:animEffect transition="in" filter="fade">
                                      <p:cBhvr>
                                        <p:cTn id="78" dur="600"/>
                                        <p:tgtEl>
                                          <p:spTgt spid="24"/>
                                        </p:tgtEl>
                                      </p:cBhvr>
                                    </p:animEffect>
                                    <p:anim calcmode="lin" valueType="num">
                                      <p:cBhvr additive="base">
                                        <p:cTn id="79" dur="600" fill="hold"/>
                                        <p:tgtEl>
                                          <p:spTgt spid="24"/>
                                        </p:tgtEl>
                                        <p:attrNameLst>
                                          <p:attrName>ppt_y</p:attrName>
                                        </p:attrNameLst>
                                      </p:cBhvr>
                                      <p:tavLst>
                                        <p:tav tm="0">
                                          <p:val>
                                            <p:strVal val="#ppt_y+0.04"/>
                                          </p:val>
                                        </p:tav>
                                        <p:tav tm="100000">
                                          <p:val>
                                            <p:strVal val="#ppt_y"/>
                                          </p:val>
                                        </p:tav>
                                      </p:tavLst>
                                    </p:anim>
                                  </p:childTnLst>
                                </p:cTn>
                              </p:par>
                              <p:par>
                                <p:cTn id="84" presetID="10" presetClass="entr" presetSubtype="0" fill="hold" nodeType="withEffect">
                                  <p:stCondLst>
                                    <p:cond delay="990"/>
                                  </p:stCondLst>
                                  <p:childTnLst>
                                    <p:set>
                                      <p:cBhvr>
                                        <p:cTn id="81" dur="1" fill="hold">
                                          <p:stCondLst>
                                            <p:cond delay="0"/>
                                          </p:stCondLst>
                                        </p:cTn>
                                        <p:tgtEl>
                                          <p:spTgt spid="25"/>
                                        </p:tgtEl>
                                        <p:attrNameLst>
                                          <p:attrName>style.visibility</p:attrName>
                                        </p:attrNameLst>
                                      </p:cBhvr>
                                      <p:to>
                                        <p:strVal val="visible"/>
                                      </p:to>
                                    </p:set>
                                    <p:animEffect transition="in" filter="fade">
                                      <p:cBhvr>
                                        <p:cTn id="82" dur="600"/>
                                        <p:tgtEl>
                                          <p:spTgt spid="25"/>
                                        </p:tgtEl>
                                      </p:cBhvr>
                                    </p:animEffect>
                                    <p:anim calcmode="lin" valueType="num">
                                      <p:cBhvr additive="base">
                                        <p:cTn id="83" dur="600" fill="hold"/>
                                        <p:tgtEl>
                                          <p:spTgt spid="25"/>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mc:Ignorable="p14 p159">
  <p:cSld name="Slide 4">
    <p:bg>
      <p:bgPr>
        <a:solidFill>
          <a:srgbClr val="FCFBF7"/>
        </a:solidFill>
      </p:bgPr>
    </p:bg>
    <p:spTree>
      <p:nvGrpSpPr>
        <p:cNvPr id="1" name=""/>
        <p:cNvGrpSpPr/>
        <p:nvPr/>
      </p:nvGrpSpPr>
      <p:grpSpPr>
        <a:xfrm>
          <a:off x="0" y="0"/>
          <a:ext cx="0" cy="0"/>
          <a:chOff x="0" y="0"/>
          <a:chExt cx="0" cy="0"/>
        </a:xfrm>
      </p:grpSpPr>
      <p:pic>
        <p:nvPicPr>
          <p:cNvPr id="2" name="!!blobOrange" descr="preencoded.png">    </p:cNvPr>
          <p:cNvPicPr>
            <a:picLocks noChangeAspect="1"/>
          </p:cNvPicPr>
          <p:nvPr/>
        </p:nvPicPr>
        <p:blipFill>
          <a:blip r:embed="rId1"/>
          <a:stretch>
            <a:fillRect/>
          </a:stretch>
        </p:blipFill>
        <p:spPr>
          <a:xfrm>
            <a:off x="8046720" y="3291840"/>
            <a:ext cx="5943600" cy="5943600"/>
          </a:xfrm>
          <a:prstGeom prst="rect">
            <a:avLst/>
          </a:prstGeom>
        </p:spPr>
      </p:pic>
      <p:pic>
        <p:nvPicPr>
          <p:cNvPr id="3" name="!!blobGreen" descr="preencoded.png">    </p:cNvPr>
          <p:cNvPicPr>
            <a:picLocks noChangeAspect="1"/>
          </p:cNvPicPr>
          <p:nvPr/>
        </p:nvPicPr>
        <p:blipFill>
          <a:blip r:embed="rId2"/>
          <a:stretch>
            <a:fillRect/>
          </a:stretch>
        </p:blipFill>
        <p:spPr>
          <a:xfrm>
            <a:off x="-2194560" y="-2377440"/>
            <a:ext cx="5486400" cy="5486400"/>
          </a:xfrm>
          <a:prstGeom prst="rect">
            <a:avLst/>
          </a:prstGeom>
        </p:spPr>
      </p:pic>
      <p:sp>
        <p:nvSpPr>
          <p:cNvPr id="4" name="!!kicker"/>
          <p:cNvSpPr txBox="1"/>
          <p:nvPr/>
        </p:nvSpPr>
        <p:spPr>
          <a:xfrm>
            <a:off x="640080" y="228600"/>
            <a:ext cx="7315200" cy="274320"/>
          </a:xfrm>
          <a:prstGeom prst="rect">
            <a:avLst/>
          </a:prstGeom>
          <a:noFill/>
          <a:ln/>
        </p:spPr>
        <p:txBody>
          <a:bodyPr wrap="square" lIns="0" tIns="0" rIns="0" bIns="0" rtlCol="0" anchor="ctr"/>
          <a:lstStyle/>
          <a:p>
            <a:pPr indent="0" marL="0">
              <a:buNone/>
            </a:pPr>
            <a:r>
              <a:rPr lang="en-US" sz="1100" b="1" spc="300" kern="0" dirty="0">
                <a:solidFill>
                  <a:srgbClr val="BF5320"/>
                </a:solidFill>
                <a:latin typeface="Calibri" pitchFamily="34" charset="0"/>
                <a:ea typeface="Calibri" pitchFamily="34" charset="-122"/>
                <a:cs typeface="Calibri" pitchFamily="34" charset="-120"/>
              </a:rPr>
              <a:t>THE OPPORTUNITY — PUBLIC DATA</a:t>
            </a:r>
            <a:endParaRPr lang="en-US" sz="1100" dirty="0"/>
          </a:p>
        </p:txBody>
      </p:sp>
      <p:sp>
        <p:nvSpPr>
          <p:cNvPr id="5" name="!!title"/>
          <p:cNvSpPr txBox="1"/>
          <p:nvPr/>
        </p:nvSpPr>
        <p:spPr>
          <a:xfrm>
            <a:off x="640080" y="502920"/>
            <a:ext cx="10881360" cy="914400"/>
          </a:xfrm>
          <a:prstGeom prst="rect">
            <a:avLst/>
          </a:prstGeom>
          <a:noFill/>
          <a:ln/>
        </p:spPr>
        <p:txBody>
          <a:bodyPr wrap="square" lIns="0" tIns="0" rIns="0" bIns="0" rtlCol="0" anchor="ctr"/>
          <a:lstStyle/>
          <a:p>
            <a:pPr indent="0" marL="0">
              <a:buNone/>
            </a:pPr>
            <a:r>
              <a:rPr lang="en-US" sz="3600" b="1" dirty="0">
                <a:solidFill>
                  <a:srgbClr val="1C1712"/>
                </a:solidFill>
                <a:latin typeface="Cambria" pitchFamily="34" charset="0"/>
                <a:ea typeface="Cambria" pitchFamily="34" charset="-122"/>
                <a:cs typeface="Cambria" pitchFamily="34" charset="-120"/>
              </a:rPr>
              <a:t>The surplus already exists.</a:t>
            </a:r>
            <a:pPr indent="0" marL="0">
              <a:buNone/>
            </a:pPr>
            <a:r>
              <a:rPr lang="en-US" sz="3600" b="1" dirty="0">
                <a:solidFill>
                  <a:srgbClr val="F0703D"/>
                </a:solidFill>
                <a:latin typeface="Cambria" pitchFamily="34" charset="0"/>
                <a:ea typeface="Cambria" pitchFamily="34" charset="-122"/>
                <a:cs typeface="Cambria" pitchFamily="34" charset="-120"/>
              </a:rPr>
              <a:t> It just isn’t routed.</a:t>
            </a:r>
            <a:endParaRPr lang="en-US" sz="3600" dirty="0"/>
          </a:p>
        </p:txBody>
      </p:sp>
      <p:sp>
        <p:nvSpPr>
          <p:cNvPr id="6" name="anim1_card"/>
          <p:cNvSpPr/>
          <p:nvPr/>
        </p:nvSpPr>
        <p:spPr>
          <a:xfrm>
            <a:off x="640080" y="1783080"/>
            <a:ext cx="3429000" cy="2331720"/>
          </a:xfrm>
          <a:prstGeom prst="roundRect">
            <a:avLst>
              <a:gd name="adj" fmla="val 7059"/>
            </a:avLst>
          </a:prstGeom>
          <a:solidFill>
            <a:srgbClr val="FFFFF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7" name="anim1_n"/>
          <p:cNvSpPr txBox="1"/>
          <p:nvPr/>
        </p:nvSpPr>
        <p:spPr>
          <a:xfrm>
            <a:off x="960120" y="1965960"/>
            <a:ext cx="2834640" cy="868680"/>
          </a:xfrm>
          <a:prstGeom prst="rect">
            <a:avLst/>
          </a:prstGeom>
          <a:noFill/>
          <a:ln/>
        </p:spPr>
        <p:txBody>
          <a:bodyPr wrap="square" lIns="0" tIns="0" rIns="0" bIns="0" rtlCol="0" anchor="ctr"/>
          <a:lstStyle/>
          <a:p>
            <a:pPr indent="0" marL="0">
              <a:buNone/>
            </a:pPr>
            <a:r>
              <a:rPr lang="en-US" sz="4800" b="1" dirty="0">
                <a:solidFill>
                  <a:srgbClr val="F0703D"/>
                </a:solidFill>
                <a:latin typeface="Cambria" pitchFamily="34" charset="0"/>
                <a:ea typeface="Cambria" pitchFamily="34" charset="-122"/>
                <a:cs typeface="Cambria" pitchFamily="34" charset="-120"/>
              </a:rPr>
              <a:t>324</a:t>
            </a:r>
            <a:endParaRPr lang="en-US" sz="4800" dirty="0"/>
          </a:p>
        </p:txBody>
      </p:sp>
      <p:sp>
        <p:nvSpPr>
          <p:cNvPr id="8" name="anim1_l"/>
          <p:cNvSpPr txBox="1"/>
          <p:nvPr/>
        </p:nvSpPr>
        <p:spPr>
          <a:xfrm>
            <a:off x="960120" y="2880360"/>
            <a:ext cx="2834640" cy="868680"/>
          </a:xfrm>
          <a:prstGeom prst="rect">
            <a:avLst/>
          </a:prstGeom>
          <a:noFill/>
          <a:ln/>
        </p:spPr>
        <p:txBody>
          <a:bodyPr wrap="square" lIns="0" tIns="0" rIns="0" bIns="0" rtlCol="0" anchor="t"/>
          <a:lstStyle/>
          <a:p>
            <a:pPr indent="0" marL="0">
              <a:buNone/>
            </a:pPr>
            <a:r>
              <a:rPr lang="en-US" sz="1400" dirty="0">
                <a:solidFill>
                  <a:srgbClr val="1C1712"/>
                </a:solidFill>
                <a:latin typeface="Calibri" pitchFamily="34" charset="0"/>
                <a:ea typeface="Calibri" pitchFamily="34" charset="-122"/>
                <a:cs typeface="Calibri" pitchFamily="34" charset="-120"/>
              </a:rPr>
              <a:t>schools &amp; universities in the Nashville area listed by the EPA as excess-food generators</a:t>
            </a:r>
            <a:endParaRPr lang="en-US" sz="1400" dirty="0"/>
          </a:p>
        </p:txBody>
      </p:sp>
      <p:sp>
        <p:nvSpPr>
          <p:cNvPr id="9" name="anim1_s"/>
          <p:cNvSpPr txBox="1"/>
          <p:nvPr/>
        </p:nvSpPr>
        <p:spPr>
          <a:xfrm>
            <a:off x="960120" y="3730752"/>
            <a:ext cx="2834640" cy="274320"/>
          </a:xfrm>
          <a:prstGeom prst="rect">
            <a:avLst/>
          </a:prstGeom>
          <a:noFill/>
          <a:ln/>
        </p:spPr>
        <p:txBody>
          <a:bodyPr wrap="square" lIns="0" tIns="0" rIns="0" bIns="0" rtlCol="0" anchor="ctr"/>
          <a:lstStyle/>
          <a:p>
            <a:pPr indent="0" marL="0">
              <a:buNone/>
            </a:pPr>
            <a:r>
              <a:rPr lang="en-US" sz="1000" i="1" dirty="0">
                <a:solidFill>
                  <a:srgbClr val="5B5148"/>
                </a:solidFill>
                <a:latin typeface="Calibri" pitchFamily="34" charset="0"/>
                <a:ea typeface="Calibri" pitchFamily="34" charset="-122"/>
                <a:cs typeface="Calibri" pitchFamily="34" charset="-120"/>
              </a:rPr>
              <a:t>EPA Excess Food Opportunities Map</a:t>
            </a:r>
            <a:endParaRPr lang="en-US" sz="1000" dirty="0"/>
          </a:p>
        </p:txBody>
      </p:sp>
      <p:sp>
        <p:nvSpPr>
          <p:cNvPr id="10" name="anim2_card"/>
          <p:cNvSpPr/>
          <p:nvPr/>
        </p:nvSpPr>
        <p:spPr>
          <a:xfrm>
            <a:off x="4343400" y="1783080"/>
            <a:ext cx="3429000" cy="2331720"/>
          </a:xfrm>
          <a:prstGeom prst="roundRect">
            <a:avLst>
              <a:gd name="adj" fmla="val 7059"/>
            </a:avLst>
          </a:prstGeom>
          <a:solidFill>
            <a:srgbClr val="FFFFF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11" name="anim2_n"/>
          <p:cNvSpPr txBox="1"/>
          <p:nvPr/>
        </p:nvSpPr>
        <p:spPr>
          <a:xfrm>
            <a:off x="4663440" y="1965960"/>
            <a:ext cx="2834640" cy="868680"/>
          </a:xfrm>
          <a:prstGeom prst="rect">
            <a:avLst/>
          </a:prstGeom>
          <a:noFill/>
          <a:ln/>
        </p:spPr>
        <p:txBody>
          <a:bodyPr wrap="square" lIns="0" tIns="0" rIns="0" bIns="0" rtlCol="0" anchor="ctr"/>
          <a:lstStyle/>
          <a:p>
            <a:pPr indent="0" marL="0">
              <a:buNone/>
            </a:pPr>
            <a:r>
              <a:rPr lang="en-US" sz="3400" b="1" dirty="0">
                <a:solidFill>
                  <a:srgbClr val="F0703D"/>
                </a:solidFill>
                <a:latin typeface="Cambria" pitchFamily="34" charset="0"/>
                <a:ea typeface="Cambria" pitchFamily="34" charset="-122"/>
                <a:cs typeface="Cambria" pitchFamily="34" charset="-120"/>
              </a:rPr>
              <a:t>1,990–10,634</a:t>
            </a:r>
            <a:endParaRPr lang="en-US" sz="3400" dirty="0"/>
          </a:p>
        </p:txBody>
      </p:sp>
      <p:sp>
        <p:nvSpPr>
          <p:cNvPr id="12" name="anim2_l"/>
          <p:cNvSpPr txBox="1"/>
          <p:nvPr/>
        </p:nvSpPr>
        <p:spPr>
          <a:xfrm>
            <a:off x="4663440" y="2880360"/>
            <a:ext cx="2834640" cy="868680"/>
          </a:xfrm>
          <a:prstGeom prst="rect">
            <a:avLst/>
          </a:prstGeom>
          <a:noFill/>
          <a:ln/>
        </p:spPr>
        <p:txBody>
          <a:bodyPr wrap="square" lIns="0" tIns="0" rIns="0" bIns="0" rtlCol="0" anchor="t"/>
          <a:lstStyle/>
          <a:p>
            <a:pPr indent="0" marL="0">
              <a:buNone/>
            </a:pPr>
            <a:r>
              <a:rPr lang="en-US" sz="1400" dirty="0">
                <a:solidFill>
                  <a:srgbClr val="1C1712"/>
                </a:solidFill>
                <a:latin typeface="Calibri" pitchFamily="34" charset="0"/>
                <a:ea typeface="Calibri" pitchFamily="34" charset="-122"/>
                <a:cs typeface="Calibri" pitchFamily="34" charset="-120"/>
              </a:rPr>
              <a:t>tons of excess food a year from those institutions (EPA estimate)</a:t>
            </a:r>
            <a:endParaRPr lang="en-US" sz="1400" dirty="0"/>
          </a:p>
        </p:txBody>
      </p:sp>
      <p:sp>
        <p:nvSpPr>
          <p:cNvPr id="13" name="anim2_s"/>
          <p:cNvSpPr txBox="1"/>
          <p:nvPr/>
        </p:nvSpPr>
        <p:spPr>
          <a:xfrm>
            <a:off x="4663440" y="3730752"/>
            <a:ext cx="2834640" cy="274320"/>
          </a:xfrm>
          <a:prstGeom prst="rect">
            <a:avLst/>
          </a:prstGeom>
          <a:noFill/>
          <a:ln/>
        </p:spPr>
        <p:txBody>
          <a:bodyPr wrap="square" lIns="0" tIns="0" rIns="0" bIns="0" rtlCol="0" anchor="ctr"/>
          <a:lstStyle/>
          <a:p>
            <a:pPr indent="0" marL="0">
              <a:buNone/>
            </a:pPr>
            <a:r>
              <a:rPr lang="en-US" sz="1000" i="1" dirty="0">
                <a:solidFill>
                  <a:srgbClr val="5B5148"/>
                </a:solidFill>
                <a:latin typeface="Calibri" pitchFamily="34" charset="0"/>
                <a:ea typeface="Calibri" pitchFamily="34" charset="-122"/>
                <a:cs typeface="Calibri" pitchFamily="34" charset="-120"/>
              </a:rPr>
              <a:t>EPA Excess Food Opportunities Map</a:t>
            </a:r>
            <a:endParaRPr lang="en-US" sz="1000" dirty="0"/>
          </a:p>
        </p:txBody>
      </p:sp>
      <p:sp>
        <p:nvSpPr>
          <p:cNvPr id="14" name="anim3_card"/>
          <p:cNvSpPr/>
          <p:nvPr/>
        </p:nvSpPr>
        <p:spPr>
          <a:xfrm>
            <a:off x="8046720" y="1783080"/>
            <a:ext cx="3429000" cy="2331720"/>
          </a:xfrm>
          <a:prstGeom prst="roundRect">
            <a:avLst>
              <a:gd name="adj" fmla="val 7059"/>
            </a:avLst>
          </a:prstGeom>
          <a:solidFill>
            <a:srgbClr val="FFFFF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15" name="anim3_n"/>
          <p:cNvSpPr txBox="1"/>
          <p:nvPr/>
        </p:nvSpPr>
        <p:spPr>
          <a:xfrm>
            <a:off x="8366760" y="1965960"/>
            <a:ext cx="2834640" cy="868680"/>
          </a:xfrm>
          <a:prstGeom prst="rect">
            <a:avLst/>
          </a:prstGeom>
          <a:noFill/>
          <a:ln/>
        </p:spPr>
        <p:txBody>
          <a:bodyPr wrap="square" lIns="0" tIns="0" rIns="0" bIns="0" rtlCol="0" anchor="ctr"/>
          <a:lstStyle/>
          <a:p>
            <a:pPr indent="0" marL="0">
              <a:buNone/>
            </a:pPr>
            <a:r>
              <a:rPr lang="en-US" sz="4800" b="1" dirty="0">
                <a:solidFill>
                  <a:srgbClr val="165840"/>
                </a:solidFill>
                <a:latin typeface="Cambria" pitchFamily="34" charset="0"/>
                <a:ea typeface="Cambria" pitchFamily="34" charset="-122"/>
                <a:cs typeface="Cambria" pitchFamily="34" charset="-120"/>
              </a:rPr>
              <a:t>17</a:t>
            </a:r>
            <a:endParaRPr lang="en-US" sz="4800" dirty="0"/>
          </a:p>
        </p:txBody>
      </p:sp>
      <p:sp>
        <p:nvSpPr>
          <p:cNvPr id="16" name="anim3_l"/>
          <p:cNvSpPr txBox="1"/>
          <p:nvPr/>
        </p:nvSpPr>
        <p:spPr>
          <a:xfrm>
            <a:off x="8366760" y="2880360"/>
            <a:ext cx="2834640" cy="868680"/>
          </a:xfrm>
          <a:prstGeom prst="rect">
            <a:avLst/>
          </a:prstGeom>
          <a:noFill/>
          <a:ln/>
        </p:spPr>
        <p:txBody>
          <a:bodyPr wrap="square" lIns="0" tIns="0" rIns="0" bIns="0" rtlCol="0" anchor="t"/>
          <a:lstStyle/>
          <a:p>
            <a:pPr indent="0" marL="0">
              <a:buNone/>
            </a:pPr>
            <a:r>
              <a:rPr lang="en-US" sz="1400" dirty="0">
                <a:solidFill>
                  <a:srgbClr val="1C1712"/>
                </a:solidFill>
                <a:latin typeface="Calibri" pitchFamily="34" charset="0"/>
                <a:ea typeface="Calibri" pitchFamily="34" charset="-122"/>
                <a:cs typeface="Calibri" pitchFamily="34" charset="-120"/>
              </a:rPr>
              <a:t>food banks, pantries and soup kitchens in the same map — the demand side</a:t>
            </a:r>
            <a:endParaRPr lang="en-US" sz="1400" dirty="0"/>
          </a:p>
        </p:txBody>
      </p:sp>
      <p:sp>
        <p:nvSpPr>
          <p:cNvPr id="17" name="anim3_s"/>
          <p:cNvSpPr txBox="1"/>
          <p:nvPr/>
        </p:nvSpPr>
        <p:spPr>
          <a:xfrm>
            <a:off x="8366760" y="3730752"/>
            <a:ext cx="2834640" cy="274320"/>
          </a:xfrm>
          <a:prstGeom prst="rect">
            <a:avLst/>
          </a:prstGeom>
          <a:noFill/>
          <a:ln/>
        </p:spPr>
        <p:txBody>
          <a:bodyPr wrap="square" lIns="0" tIns="0" rIns="0" bIns="0" rtlCol="0" anchor="ctr"/>
          <a:lstStyle/>
          <a:p>
            <a:pPr indent="0" marL="0">
              <a:buNone/>
            </a:pPr>
            <a:r>
              <a:rPr lang="en-US" sz="1000" i="1" dirty="0">
                <a:solidFill>
                  <a:srgbClr val="5B5148"/>
                </a:solidFill>
                <a:latin typeface="Calibri" pitchFamily="34" charset="0"/>
                <a:ea typeface="Calibri" pitchFamily="34" charset="-122"/>
                <a:cs typeface="Calibri" pitchFamily="34" charset="-120"/>
              </a:rPr>
              <a:t>EPA Excess Food Opportunities Map</a:t>
            </a:r>
            <a:endParaRPr lang="en-US" sz="1000" dirty="0"/>
          </a:p>
        </p:txBody>
      </p:sp>
      <p:sp>
        <p:nvSpPr>
          <p:cNvPr id="18" name="anim4_ev"/>
          <p:cNvSpPr/>
          <p:nvPr/>
        </p:nvSpPr>
        <p:spPr>
          <a:xfrm>
            <a:off x="640080" y="4389120"/>
            <a:ext cx="5349240" cy="1417320"/>
          </a:xfrm>
          <a:prstGeom prst="roundRect">
            <a:avLst>
              <a:gd name="adj" fmla="val 11613"/>
            </a:avLst>
          </a:prstGeom>
          <a:solidFill>
            <a:srgbClr val="E3EED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19" name="anim4_evIconBg"/>
          <p:cNvSpPr/>
          <p:nvPr/>
        </p:nvSpPr>
        <p:spPr>
          <a:xfrm>
            <a:off x="914400" y="4709160"/>
            <a:ext cx="777240" cy="777240"/>
          </a:xfrm>
          <a:prstGeom prst="ellipse">
            <a:avLst/>
          </a:prstGeom>
          <a:solidFill>
            <a:srgbClr val="FFFFFF"/>
          </a:solidFill>
          <a:ln w="12700">
            <a:solidFill>
              <a:srgbClr val="FFFFFF"/>
            </a:solidFill>
            <a:prstDash val="solid"/>
          </a:ln>
        </p:spPr>
      </p:sp>
      <p:pic>
        <p:nvPicPr>
          <p:cNvPr id="20" name="anim4_evIcon" descr="preencoded.png">    </p:cNvPr>
          <p:cNvPicPr>
            <a:picLocks noChangeAspect="1"/>
          </p:cNvPicPr>
          <p:nvPr/>
        </p:nvPicPr>
        <p:blipFill>
          <a:blip r:embed="rId3"/>
          <a:stretch>
            <a:fillRect/>
          </a:stretch>
        </p:blipFill>
        <p:spPr>
          <a:xfrm>
            <a:off x="1100938" y="4895698"/>
            <a:ext cx="404165" cy="404165"/>
          </a:xfrm>
          <a:prstGeom prst="rect">
            <a:avLst/>
          </a:prstGeom>
        </p:spPr>
      </p:pic>
      <p:sp>
        <p:nvSpPr>
          <p:cNvPr id="21" name="anim4_evText"/>
          <p:cNvSpPr txBox="1"/>
          <p:nvPr/>
        </p:nvSpPr>
        <p:spPr>
          <a:xfrm>
            <a:off x="1874520" y="4526280"/>
            <a:ext cx="3931920" cy="1143000"/>
          </a:xfrm>
          <a:prstGeom prst="rect">
            <a:avLst/>
          </a:prstGeom>
          <a:noFill/>
          <a:ln/>
        </p:spPr>
        <p:txBody>
          <a:bodyPr wrap="square" lIns="0" tIns="0" rIns="0" bIns="0" rtlCol="0" anchor="ctr"/>
          <a:lstStyle/>
          <a:p>
            <a:pPr indent="0" marL="0">
              <a:buNone/>
            </a:pPr>
            <a:r>
              <a:rPr lang="en-US" sz="1500" b="1" dirty="0">
                <a:solidFill>
                  <a:srgbClr val="1C1712"/>
                </a:solidFill>
                <a:latin typeface="Calibri" pitchFamily="34" charset="0"/>
                <a:ea typeface="Calibri" pitchFamily="34" charset="-122"/>
                <a:cs typeface="Calibri" pitchFamily="34" charset="-120"/>
              </a:rPr>
              <a:t>Vanderbilt Reunion &amp; Homecoming 2025</a:t>
            </a:r>
            <a:endParaRPr lang="en-US" sz="1500" dirty="0"/>
          </a:p>
          <a:p>
            <a:pPr indent="0" marL="0">
              <a:buNone/>
            </a:pPr>
            <a:r>
              <a:rPr lang="en-US" sz="1400" dirty="0">
                <a:solidFill>
                  <a:srgbClr val="165840"/>
                </a:solidFill>
                <a:latin typeface="Calibri" pitchFamily="34" charset="0"/>
                <a:ea typeface="Calibri" pitchFamily="34" charset="-122"/>
                <a:cs typeface="Calibri" pitchFamily="34" charset="-120"/>
              </a:rPr>
              <a:t>~85 events in 4 days  ·  ≈300 potential surplus servings / week*</a:t>
            </a:r>
            <a:endParaRPr lang="en-US" sz="1500" dirty="0"/>
          </a:p>
        </p:txBody>
      </p:sp>
      <p:sp>
        <p:nvSpPr>
          <p:cNvPr id="22" name="anim5_ev"/>
          <p:cNvSpPr/>
          <p:nvPr/>
        </p:nvSpPr>
        <p:spPr>
          <a:xfrm>
            <a:off x="6126480" y="4389120"/>
            <a:ext cx="5349240" cy="1417320"/>
          </a:xfrm>
          <a:prstGeom prst="roundRect">
            <a:avLst>
              <a:gd name="adj" fmla="val 11613"/>
            </a:avLst>
          </a:prstGeom>
          <a:solidFill>
            <a:srgbClr val="E3EED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23" name="anim5_evIconBg"/>
          <p:cNvSpPr/>
          <p:nvPr/>
        </p:nvSpPr>
        <p:spPr>
          <a:xfrm>
            <a:off x="6400800" y="4709160"/>
            <a:ext cx="777240" cy="777240"/>
          </a:xfrm>
          <a:prstGeom prst="ellipse">
            <a:avLst/>
          </a:prstGeom>
          <a:solidFill>
            <a:srgbClr val="FFFFFF"/>
          </a:solidFill>
          <a:ln w="12700">
            <a:solidFill>
              <a:srgbClr val="FFFFFF"/>
            </a:solidFill>
            <a:prstDash val="solid"/>
          </a:ln>
        </p:spPr>
      </p:sp>
      <p:pic>
        <p:nvPicPr>
          <p:cNvPr id="24" name="anim5_evIcon" descr="preencoded.png">    </p:cNvPr>
          <p:cNvPicPr>
            <a:picLocks noChangeAspect="1"/>
          </p:cNvPicPr>
          <p:nvPr/>
        </p:nvPicPr>
        <p:blipFill>
          <a:blip r:embed="rId4"/>
          <a:stretch>
            <a:fillRect/>
          </a:stretch>
        </p:blipFill>
        <p:spPr>
          <a:xfrm>
            <a:off x="6587338" y="4895698"/>
            <a:ext cx="404165" cy="404165"/>
          </a:xfrm>
          <a:prstGeom prst="rect">
            <a:avLst/>
          </a:prstGeom>
        </p:spPr>
      </p:pic>
      <p:sp>
        <p:nvSpPr>
          <p:cNvPr id="25" name="anim5_evText"/>
          <p:cNvSpPr txBox="1"/>
          <p:nvPr/>
        </p:nvSpPr>
        <p:spPr>
          <a:xfrm>
            <a:off x="7360920" y="4526280"/>
            <a:ext cx="3931920" cy="1143000"/>
          </a:xfrm>
          <a:prstGeom prst="rect">
            <a:avLst/>
          </a:prstGeom>
          <a:noFill/>
          <a:ln/>
        </p:spPr>
        <p:txBody>
          <a:bodyPr wrap="square" lIns="0" tIns="0" rIns="0" bIns="0" rtlCol="0" anchor="ctr"/>
          <a:lstStyle/>
          <a:p>
            <a:pPr indent="0" marL="0">
              <a:buNone/>
            </a:pPr>
            <a:r>
              <a:rPr lang="en-US" sz="1500" b="1" dirty="0">
                <a:solidFill>
                  <a:srgbClr val="1C1712"/>
                </a:solidFill>
                <a:latin typeface="Calibri" pitchFamily="34" charset="0"/>
                <a:ea typeface="Calibri" pitchFamily="34" charset="-122"/>
                <a:cs typeface="Calibri" pitchFamily="34" charset="-120"/>
              </a:rPr>
              <a:t>Music City Center (2013–2025 average)</a:t>
            </a:r>
            <a:endParaRPr lang="en-US" sz="1500" dirty="0"/>
          </a:p>
          <a:p>
            <a:pPr indent="0" marL="0">
              <a:buNone/>
            </a:pPr>
            <a:r>
              <a:rPr lang="en-US" sz="1400" dirty="0">
                <a:solidFill>
                  <a:srgbClr val="165840"/>
                </a:solidFill>
                <a:latin typeface="Calibri" pitchFamily="34" charset="0"/>
                <a:ea typeface="Calibri" pitchFamily="34" charset="-122"/>
                <a:cs typeface="Calibri" pitchFamily="34" charset="-120"/>
              </a:rPr>
              <a:t>~220 events / year  ·  ≈3,300 potential surplus servings / year*</a:t>
            </a:r>
            <a:endParaRPr lang="en-US" sz="1500" dirty="0"/>
          </a:p>
        </p:txBody>
      </p:sp>
      <p:sp>
        <p:nvSpPr>
          <p:cNvPr id="26" name="Text 20"/>
          <p:cNvSpPr txBox="1"/>
          <p:nvPr/>
        </p:nvSpPr>
        <p:spPr>
          <a:xfrm>
            <a:off x="640080" y="5897880"/>
            <a:ext cx="10789920" cy="274320"/>
          </a:xfrm>
          <a:prstGeom prst="rect">
            <a:avLst/>
          </a:prstGeom>
          <a:noFill/>
          <a:ln/>
        </p:spPr>
        <p:txBody>
          <a:bodyPr wrap="square" lIns="0" tIns="0" rIns="0" bIns="0" rtlCol="0" anchor="ctr"/>
          <a:lstStyle/>
          <a:p>
            <a:pPr indent="0" marL="0">
              <a:buNone/>
            </a:pPr>
            <a:r>
              <a:rPr lang="en-US" sz="1000" i="1" dirty="0">
                <a:solidFill>
                  <a:srgbClr val="5B5148"/>
                </a:solidFill>
                <a:latin typeface="Calibri" pitchFamily="34" charset="0"/>
                <a:ea typeface="Calibri" pitchFamily="34" charset="-122"/>
                <a:cs typeface="Calibri" pitchFamily="34" charset="-120"/>
              </a:rPr>
              <a:t>*Event-calendar servings are our estimates from public calendars, not measured leftovers.</a:t>
            </a:r>
            <a:endParaRPr lang="en-US" sz="1000" dirty="0"/>
          </a:p>
        </p:txBody>
      </p:sp>
      <p:pic>
        <p:nvPicPr>
          <p:cNvPr id="27" name="footLogoL" descr="preencoded.png">    </p:cNvPr>
          <p:cNvPicPr>
            <a:picLocks noChangeAspect="1"/>
          </p:cNvPicPr>
          <p:nvPr/>
        </p:nvPicPr>
        <p:blipFill>
          <a:blip r:embed="rId5"/>
          <a:stretch>
            <a:fillRect/>
          </a:stretch>
        </p:blipFill>
        <p:spPr>
          <a:xfrm>
            <a:off x="640080" y="6355080"/>
            <a:ext cx="384048" cy="252476"/>
          </a:xfrm>
          <a:prstGeom prst="rect">
            <a:avLst/>
          </a:prstGeom>
        </p:spPr>
      </p:pic>
      <p:pic>
        <p:nvPicPr>
          <p:cNvPr id="28" name="footLogoR" descr="preencoded.png">    </p:cNvPr>
          <p:cNvPicPr>
            <a:picLocks noChangeAspect="1"/>
          </p:cNvPicPr>
          <p:nvPr/>
        </p:nvPicPr>
        <p:blipFill>
          <a:blip r:embed="rId6"/>
          <a:stretch>
            <a:fillRect/>
          </a:stretch>
        </p:blipFill>
        <p:spPr>
          <a:xfrm>
            <a:off x="640080" y="6355080"/>
            <a:ext cx="384048" cy="252476"/>
          </a:xfrm>
          <a:prstGeom prst="rect">
            <a:avLst/>
          </a:prstGeom>
        </p:spPr>
      </p:pic>
      <p:pic>
        <p:nvPicPr>
          <p:cNvPr id="29" name="footLogoS" descr="preencoded.png">    </p:cNvPr>
          <p:cNvPicPr>
            <a:picLocks noChangeAspect="1"/>
          </p:cNvPicPr>
          <p:nvPr/>
        </p:nvPicPr>
        <p:blipFill>
          <a:blip r:embed="rId7"/>
          <a:stretch>
            <a:fillRect/>
          </a:stretch>
        </p:blipFill>
        <p:spPr>
          <a:xfrm>
            <a:off x="640080" y="6355080"/>
            <a:ext cx="384048" cy="252476"/>
          </a:xfrm>
          <a:prstGeom prst="rect">
            <a:avLst/>
          </a:prstGeom>
        </p:spPr>
      </p:pic>
      <p:sp>
        <p:nvSpPr>
          <p:cNvPr id="30" name="Text 21"/>
          <p:cNvSpPr txBox="1"/>
          <p:nvPr/>
        </p:nvSpPr>
        <p:spPr>
          <a:xfrm>
            <a:off x="1097280" y="6327648"/>
            <a:ext cx="3657600" cy="292608"/>
          </a:xfrm>
          <a:prstGeom prst="rect">
            <a:avLst/>
          </a:prstGeom>
          <a:noFill/>
          <a:ln/>
        </p:spPr>
        <p:txBody>
          <a:bodyPr wrap="square" lIns="0" tIns="0" rIns="0" bIns="0" rtlCol="0" anchor="ctr"/>
          <a:lstStyle/>
          <a:p>
            <a:pPr indent="0" marL="0">
              <a:buNone/>
            </a:pPr>
            <a:r>
              <a:rPr lang="en-US" sz="1000" dirty="0">
                <a:solidFill>
                  <a:srgbClr val="5B5148"/>
                </a:solidFill>
                <a:latin typeface="Calibri" pitchFamily="34" charset="0"/>
                <a:ea typeface="Calibri" pitchFamily="34" charset="-122"/>
                <a:cs typeface="Calibri" pitchFamily="34" charset="-120"/>
              </a:rPr>
              <a:t>Not Wasted · Surplus saved</a:t>
            </a:r>
            <a:endParaRPr lang="en-US" sz="1000" dirty="0"/>
          </a:p>
        </p:txBody>
      </p:sp>
      <p:sp>
        <p:nvSpPr>
          <p:cNvPr id="31" name="Text 22"/>
          <p:cNvSpPr txBox="1"/>
          <p:nvPr/>
        </p:nvSpPr>
        <p:spPr>
          <a:xfrm>
            <a:off x="10607040" y="6327648"/>
            <a:ext cx="914400" cy="292608"/>
          </a:xfrm>
          <a:prstGeom prst="rect">
            <a:avLst/>
          </a:prstGeom>
          <a:noFill/>
          <a:ln/>
        </p:spPr>
        <p:txBody>
          <a:bodyPr wrap="square" lIns="0" tIns="0" rIns="0" bIns="0" rtlCol="0" anchor="ctr"/>
          <a:lstStyle/>
          <a:p>
            <a:pPr algn="r" indent="0" marL="0">
              <a:buNone/>
            </a:pPr>
            <a:r>
              <a:rPr lang="en-US" sz="1000" dirty="0">
                <a:solidFill>
                  <a:srgbClr val="5B5148"/>
                </a:solidFill>
                <a:latin typeface="Calibri" pitchFamily="34" charset="0"/>
                <a:ea typeface="Calibri" pitchFamily="34" charset="-122"/>
                <a:cs typeface="Calibri" pitchFamily="34" charset="-120"/>
              </a:rPr>
              <a:t>04 / 12</a:t>
            </a:r>
            <a:endParaRPr lang="en-US" sz="1000" dirty="0"/>
          </a:p>
        </p:txBody>
      </p:sp>
    </p:spTree>
  </p:cSld>
  <p:clrMapOvr>
    <a:masterClrMapping/>
  </p:clrMapOvr>
  <mc:AlternateContent>
    <mc:Choice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10" presetClass="entr" presetSubtype="0" fill="hold"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600"/>
                                        <p:tgtEl>
                                          <p:spTgt spid="6"/>
                                        </p:tgtEl>
                                      </p:cBhvr>
                                    </p:animEffect>
                                    <p:anim calcmode="lin" valueType="num">
                                      <p:cBhvr additive="base">
                                        <p:cTn id="7" dur="600" fill="hold"/>
                                        <p:tgtEl>
                                          <p:spTgt spid="6"/>
                                        </p:tgtEl>
                                        <p:attrNameLst>
                                          <p:attrName>ppt_y</p:attrName>
                                        </p:attrNameLst>
                                      </p:cBhvr>
                                      <p:tavLst>
                                        <p:tav tm="0">
                                          <p:val>
                                            <p:strVal val="#ppt_y+0.04"/>
                                          </p:val>
                                        </p:tav>
                                        <p:tav tm="100000">
                                          <p:val>
                                            <p:strVal val="#ppt_y"/>
                                          </p:val>
                                        </p:tav>
                                      </p:tavLst>
                                    </p:anim>
                                  </p:childTnLst>
                                </p:cTn>
                              </p:par>
                              <p:par>
                                <p:cTn id="12" presetID="10" presetClass="entr" presetSubtype="0" fill="hold" nodeType="withEffect">
                                  <p:stCondLst>
                                    <p:cond delay="15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600"/>
                                        <p:tgtEl>
                                          <p:spTgt spid="7"/>
                                        </p:tgtEl>
                                      </p:cBhvr>
                                    </p:animEffect>
                                    <p:anim calcmode="lin" valueType="num">
                                      <p:cBhvr additive="base">
                                        <p:cTn id="11" dur="600" fill="hold"/>
                                        <p:tgtEl>
                                          <p:spTgt spid="7"/>
                                        </p:tgtEl>
                                        <p:attrNameLst>
                                          <p:attrName>ppt_y</p:attrName>
                                        </p:attrNameLst>
                                      </p:cBhvr>
                                      <p:tavLst>
                                        <p:tav tm="0">
                                          <p:val>
                                            <p:strVal val="#ppt_y+0.04"/>
                                          </p:val>
                                        </p:tav>
                                        <p:tav tm="100000">
                                          <p:val>
                                            <p:strVal val="#ppt_y"/>
                                          </p:val>
                                        </p:tav>
                                      </p:tavLst>
                                    </p:anim>
                                  </p:childTnLst>
                                </p:cTn>
                              </p:par>
                              <p:par>
                                <p:cTn id="16" presetID="10" presetClass="entr" presetSubtype="0" fill="hold" nodeType="withEffect">
                                  <p:stCondLst>
                                    <p:cond delay="15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600"/>
                                        <p:tgtEl>
                                          <p:spTgt spid="8"/>
                                        </p:tgtEl>
                                      </p:cBhvr>
                                    </p:animEffect>
                                    <p:anim calcmode="lin" valueType="num">
                                      <p:cBhvr additive="base">
                                        <p:cTn id="15" dur="600" fill="hold"/>
                                        <p:tgtEl>
                                          <p:spTgt spid="8"/>
                                        </p:tgtEl>
                                        <p:attrNameLst>
                                          <p:attrName>ppt_y</p:attrName>
                                        </p:attrNameLst>
                                      </p:cBhvr>
                                      <p:tavLst>
                                        <p:tav tm="0">
                                          <p:val>
                                            <p:strVal val="#ppt_y+0.04"/>
                                          </p:val>
                                        </p:tav>
                                        <p:tav tm="100000">
                                          <p:val>
                                            <p:strVal val="#ppt_y"/>
                                          </p:val>
                                        </p:tav>
                                      </p:tavLst>
                                    </p:anim>
                                  </p:childTnLst>
                                </p:cTn>
                              </p:par>
                              <p:par>
                                <p:cTn id="20" presetID="10" presetClass="entr" presetSubtype="0" fill="hold" nodeType="withEffect">
                                  <p:stCondLst>
                                    <p:cond delay="15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600"/>
                                        <p:tgtEl>
                                          <p:spTgt spid="9"/>
                                        </p:tgtEl>
                                      </p:cBhvr>
                                    </p:animEffect>
                                    <p:anim calcmode="lin" valueType="num">
                                      <p:cBhvr additive="base">
                                        <p:cTn id="19" dur="600" fill="hold"/>
                                        <p:tgtEl>
                                          <p:spTgt spid="9"/>
                                        </p:tgtEl>
                                        <p:attrNameLst>
                                          <p:attrName>ppt_y</p:attrName>
                                        </p:attrNameLst>
                                      </p:cBhvr>
                                      <p:tavLst>
                                        <p:tav tm="0">
                                          <p:val>
                                            <p:strVal val="#ppt_y+0.04"/>
                                          </p:val>
                                        </p:tav>
                                        <p:tav tm="100000">
                                          <p:val>
                                            <p:strVal val="#ppt_y"/>
                                          </p:val>
                                        </p:tav>
                                      </p:tavLst>
                                    </p:anim>
                                  </p:childTnLst>
                                </p:cTn>
                              </p:par>
                              <p:par>
                                <p:cTn id="24" presetID="10" presetClass="entr" presetSubtype="0" fill="hold" nodeType="withEffect">
                                  <p:stCondLst>
                                    <p:cond delay="43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600"/>
                                        <p:tgtEl>
                                          <p:spTgt spid="10"/>
                                        </p:tgtEl>
                                      </p:cBhvr>
                                    </p:animEffect>
                                    <p:anim calcmode="lin" valueType="num">
                                      <p:cBhvr additive="base">
                                        <p:cTn id="23" dur="600" fill="hold"/>
                                        <p:tgtEl>
                                          <p:spTgt spid="10"/>
                                        </p:tgtEl>
                                        <p:attrNameLst>
                                          <p:attrName>ppt_y</p:attrName>
                                        </p:attrNameLst>
                                      </p:cBhvr>
                                      <p:tavLst>
                                        <p:tav tm="0">
                                          <p:val>
                                            <p:strVal val="#ppt_y+0.04"/>
                                          </p:val>
                                        </p:tav>
                                        <p:tav tm="100000">
                                          <p:val>
                                            <p:strVal val="#ppt_y"/>
                                          </p:val>
                                        </p:tav>
                                      </p:tavLst>
                                    </p:anim>
                                  </p:childTnLst>
                                </p:cTn>
                              </p:par>
                              <p:par>
                                <p:cTn id="28" presetID="10" presetClass="entr" presetSubtype="0" fill="hold" nodeType="withEffect">
                                  <p:stCondLst>
                                    <p:cond delay="43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600"/>
                                        <p:tgtEl>
                                          <p:spTgt spid="11"/>
                                        </p:tgtEl>
                                      </p:cBhvr>
                                    </p:animEffect>
                                    <p:anim calcmode="lin" valueType="num">
                                      <p:cBhvr additive="base">
                                        <p:cTn id="27" dur="600" fill="hold"/>
                                        <p:tgtEl>
                                          <p:spTgt spid="11"/>
                                        </p:tgtEl>
                                        <p:attrNameLst>
                                          <p:attrName>ppt_y</p:attrName>
                                        </p:attrNameLst>
                                      </p:cBhvr>
                                      <p:tavLst>
                                        <p:tav tm="0">
                                          <p:val>
                                            <p:strVal val="#ppt_y+0.04"/>
                                          </p:val>
                                        </p:tav>
                                        <p:tav tm="100000">
                                          <p:val>
                                            <p:strVal val="#ppt_y"/>
                                          </p:val>
                                        </p:tav>
                                      </p:tavLst>
                                    </p:anim>
                                  </p:childTnLst>
                                </p:cTn>
                              </p:par>
                              <p:par>
                                <p:cTn id="32" presetID="10" presetClass="entr" presetSubtype="0" fill="hold" nodeType="withEffect">
                                  <p:stCondLst>
                                    <p:cond delay="43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600"/>
                                        <p:tgtEl>
                                          <p:spTgt spid="12"/>
                                        </p:tgtEl>
                                      </p:cBhvr>
                                    </p:animEffect>
                                    <p:anim calcmode="lin" valueType="num">
                                      <p:cBhvr additive="base">
                                        <p:cTn id="31" dur="600" fill="hold"/>
                                        <p:tgtEl>
                                          <p:spTgt spid="12"/>
                                        </p:tgtEl>
                                        <p:attrNameLst>
                                          <p:attrName>ppt_y</p:attrName>
                                        </p:attrNameLst>
                                      </p:cBhvr>
                                      <p:tavLst>
                                        <p:tav tm="0">
                                          <p:val>
                                            <p:strVal val="#ppt_y+0.04"/>
                                          </p:val>
                                        </p:tav>
                                        <p:tav tm="100000">
                                          <p:val>
                                            <p:strVal val="#ppt_y"/>
                                          </p:val>
                                        </p:tav>
                                      </p:tavLst>
                                    </p:anim>
                                  </p:childTnLst>
                                </p:cTn>
                              </p:par>
                              <p:par>
                                <p:cTn id="36" presetID="10" presetClass="entr" presetSubtype="0" fill="hold" nodeType="withEffect">
                                  <p:stCondLst>
                                    <p:cond delay="43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p:tgtEl>
                                          <p:spTgt spid="13"/>
                                        </p:tgtEl>
                                      </p:cBhvr>
                                    </p:animEffect>
                                    <p:anim calcmode="lin" valueType="num">
                                      <p:cBhvr additive="base">
                                        <p:cTn id="35" dur="600" fill="hold"/>
                                        <p:tgtEl>
                                          <p:spTgt spid="13"/>
                                        </p:tgtEl>
                                        <p:attrNameLst>
                                          <p:attrName>ppt_y</p:attrName>
                                        </p:attrNameLst>
                                      </p:cBhvr>
                                      <p:tavLst>
                                        <p:tav tm="0">
                                          <p:val>
                                            <p:strVal val="#ppt_y+0.04"/>
                                          </p:val>
                                        </p:tav>
                                        <p:tav tm="100000">
                                          <p:val>
                                            <p:strVal val="#ppt_y"/>
                                          </p:val>
                                        </p:tav>
                                      </p:tavLst>
                                    </p:anim>
                                  </p:childTnLst>
                                </p:cTn>
                              </p:par>
                              <p:par>
                                <p:cTn id="40" presetID="10" presetClass="entr" presetSubtype="0" fill="hold" nodeType="withEffect">
                                  <p:stCondLst>
                                    <p:cond delay="71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600"/>
                                        <p:tgtEl>
                                          <p:spTgt spid="14"/>
                                        </p:tgtEl>
                                      </p:cBhvr>
                                    </p:animEffect>
                                    <p:anim calcmode="lin" valueType="num">
                                      <p:cBhvr additive="base">
                                        <p:cTn id="39" dur="600" fill="hold"/>
                                        <p:tgtEl>
                                          <p:spTgt spid="14"/>
                                        </p:tgtEl>
                                        <p:attrNameLst>
                                          <p:attrName>ppt_y</p:attrName>
                                        </p:attrNameLst>
                                      </p:cBhvr>
                                      <p:tavLst>
                                        <p:tav tm="0">
                                          <p:val>
                                            <p:strVal val="#ppt_y+0.04"/>
                                          </p:val>
                                        </p:tav>
                                        <p:tav tm="100000">
                                          <p:val>
                                            <p:strVal val="#ppt_y"/>
                                          </p:val>
                                        </p:tav>
                                      </p:tavLst>
                                    </p:anim>
                                  </p:childTnLst>
                                </p:cTn>
                              </p:par>
                              <p:par>
                                <p:cTn id="44" presetID="10" presetClass="entr" presetSubtype="0" fill="hold" nodeType="withEffect">
                                  <p:stCondLst>
                                    <p:cond delay="71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anim calcmode="lin" valueType="num">
                                      <p:cBhvr additive="base">
                                        <p:cTn id="43" dur="600" fill="hold"/>
                                        <p:tgtEl>
                                          <p:spTgt spid="15"/>
                                        </p:tgtEl>
                                        <p:attrNameLst>
                                          <p:attrName>ppt_y</p:attrName>
                                        </p:attrNameLst>
                                      </p:cBhvr>
                                      <p:tavLst>
                                        <p:tav tm="0">
                                          <p:val>
                                            <p:strVal val="#ppt_y+0.04"/>
                                          </p:val>
                                        </p:tav>
                                        <p:tav tm="100000">
                                          <p:val>
                                            <p:strVal val="#ppt_y"/>
                                          </p:val>
                                        </p:tav>
                                      </p:tavLst>
                                    </p:anim>
                                  </p:childTnLst>
                                </p:cTn>
                              </p:par>
                              <p:par>
                                <p:cTn id="48" presetID="10" presetClass="entr" presetSubtype="0" fill="hold" nodeType="withEffect">
                                  <p:stCondLst>
                                    <p:cond delay="71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600"/>
                                        <p:tgtEl>
                                          <p:spTgt spid="16"/>
                                        </p:tgtEl>
                                      </p:cBhvr>
                                    </p:animEffect>
                                    <p:anim calcmode="lin" valueType="num">
                                      <p:cBhvr additive="base">
                                        <p:cTn id="47" dur="600" fill="hold"/>
                                        <p:tgtEl>
                                          <p:spTgt spid="16"/>
                                        </p:tgtEl>
                                        <p:attrNameLst>
                                          <p:attrName>ppt_y</p:attrName>
                                        </p:attrNameLst>
                                      </p:cBhvr>
                                      <p:tavLst>
                                        <p:tav tm="0">
                                          <p:val>
                                            <p:strVal val="#ppt_y+0.04"/>
                                          </p:val>
                                        </p:tav>
                                        <p:tav tm="100000">
                                          <p:val>
                                            <p:strVal val="#ppt_y"/>
                                          </p:val>
                                        </p:tav>
                                      </p:tavLst>
                                    </p:anim>
                                  </p:childTnLst>
                                </p:cTn>
                              </p:par>
                              <p:par>
                                <p:cTn id="52" presetID="10" presetClass="entr" presetSubtype="0" fill="hold" nodeType="withEffect">
                                  <p:stCondLst>
                                    <p:cond delay="71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600"/>
                                        <p:tgtEl>
                                          <p:spTgt spid="17"/>
                                        </p:tgtEl>
                                      </p:cBhvr>
                                    </p:animEffect>
                                    <p:anim calcmode="lin" valueType="num">
                                      <p:cBhvr additive="base">
                                        <p:cTn id="51" dur="600" fill="hold"/>
                                        <p:tgtEl>
                                          <p:spTgt spid="17"/>
                                        </p:tgtEl>
                                        <p:attrNameLst>
                                          <p:attrName>ppt_y</p:attrName>
                                        </p:attrNameLst>
                                      </p:cBhvr>
                                      <p:tavLst>
                                        <p:tav tm="0">
                                          <p:val>
                                            <p:strVal val="#ppt_y+0.04"/>
                                          </p:val>
                                        </p:tav>
                                        <p:tav tm="100000">
                                          <p:val>
                                            <p:strVal val="#ppt_y"/>
                                          </p:val>
                                        </p:tav>
                                      </p:tavLst>
                                    </p:anim>
                                  </p:childTnLst>
                                </p:cTn>
                              </p:par>
                              <p:par>
                                <p:cTn id="56" presetID="10" presetClass="entr" presetSubtype="0" fill="hold" nodeType="withEffect">
                                  <p:stCondLst>
                                    <p:cond delay="99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600"/>
                                        <p:tgtEl>
                                          <p:spTgt spid="18"/>
                                        </p:tgtEl>
                                      </p:cBhvr>
                                    </p:animEffect>
                                    <p:anim calcmode="lin" valueType="num">
                                      <p:cBhvr additive="base">
                                        <p:cTn id="55" dur="600" fill="hold"/>
                                        <p:tgtEl>
                                          <p:spTgt spid="18"/>
                                        </p:tgtEl>
                                        <p:attrNameLst>
                                          <p:attrName>ppt_y</p:attrName>
                                        </p:attrNameLst>
                                      </p:cBhvr>
                                      <p:tavLst>
                                        <p:tav tm="0">
                                          <p:val>
                                            <p:strVal val="#ppt_y+0.04"/>
                                          </p:val>
                                        </p:tav>
                                        <p:tav tm="100000">
                                          <p:val>
                                            <p:strVal val="#ppt_y"/>
                                          </p:val>
                                        </p:tav>
                                      </p:tavLst>
                                    </p:anim>
                                  </p:childTnLst>
                                </p:cTn>
                              </p:par>
                              <p:par>
                                <p:cTn id="60" presetID="10" presetClass="entr" presetSubtype="0" fill="hold" nodeType="withEffect">
                                  <p:stCondLst>
                                    <p:cond delay="99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600"/>
                                        <p:tgtEl>
                                          <p:spTgt spid="19"/>
                                        </p:tgtEl>
                                      </p:cBhvr>
                                    </p:animEffect>
                                    <p:anim calcmode="lin" valueType="num">
                                      <p:cBhvr additive="base">
                                        <p:cTn id="59" dur="600" fill="hold"/>
                                        <p:tgtEl>
                                          <p:spTgt spid="19"/>
                                        </p:tgtEl>
                                        <p:attrNameLst>
                                          <p:attrName>ppt_y</p:attrName>
                                        </p:attrNameLst>
                                      </p:cBhvr>
                                      <p:tavLst>
                                        <p:tav tm="0">
                                          <p:val>
                                            <p:strVal val="#ppt_y+0.04"/>
                                          </p:val>
                                        </p:tav>
                                        <p:tav tm="100000">
                                          <p:val>
                                            <p:strVal val="#ppt_y"/>
                                          </p:val>
                                        </p:tav>
                                      </p:tavLst>
                                    </p:anim>
                                  </p:childTnLst>
                                </p:cTn>
                              </p:par>
                              <p:par>
                                <p:cTn id="64" presetID="10" presetClass="entr" presetSubtype="0" fill="hold" nodeType="withEffect">
                                  <p:stCondLst>
                                    <p:cond delay="99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600"/>
                                        <p:tgtEl>
                                          <p:spTgt spid="20"/>
                                        </p:tgtEl>
                                      </p:cBhvr>
                                    </p:animEffect>
                                    <p:anim calcmode="lin" valueType="num">
                                      <p:cBhvr additive="base">
                                        <p:cTn id="63" dur="600" fill="hold"/>
                                        <p:tgtEl>
                                          <p:spTgt spid="20"/>
                                        </p:tgtEl>
                                        <p:attrNameLst>
                                          <p:attrName>ppt_y</p:attrName>
                                        </p:attrNameLst>
                                      </p:cBhvr>
                                      <p:tavLst>
                                        <p:tav tm="0">
                                          <p:val>
                                            <p:strVal val="#ppt_y+0.04"/>
                                          </p:val>
                                        </p:tav>
                                        <p:tav tm="100000">
                                          <p:val>
                                            <p:strVal val="#ppt_y"/>
                                          </p:val>
                                        </p:tav>
                                      </p:tavLst>
                                    </p:anim>
                                  </p:childTnLst>
                                </p:cTn>
                              </p:par>
                              <p:par>
                                <p:cTn id="68" presetID="10" presetClass="entr" presetSubtype="0" fill="hold" nodeType="withEffect">
                                  <p:stCondLst>
                                    <p:cond delay="99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600"/>
                                        <p:tgtEl>
                                          <p:spTgt spid="21"/>
                                        </p:tgtEl>
                                      </p:cBhvr>
                                    </p:animEffect>
                                    <p:anim calcmode="lin" valueType="num">
                                      <p:cBhvr additive="base">
                                        <p:cTn id="67" dur="600" fill="hold"/>
                                        <p:tgtEl>
                                          <p:spTgt spid="21"/>
                                        </p:tgtEl>
                                        <p:attrNameLst>
                                          <p:attrName>ppt_y</p:attrName>
                                        </p:attrNameLst>
                                      </p:cBhvr>
                                      <p:tavLst>
                                        <p:tav tm="0">
                                          <p:val>
                                            <p:strVal val="#ppt_y+0.04"/>
                                          </p:val>
                                        </p:tav>
                                        <p:tav tm="100000">
                                          <p:val>
                                            <p:strVal val="#ppt_y"/>
                                          </p:val>
                                        </p:tav>
                                      </p:tavLst>
                                    </p:anim>
                                  </p:childTnLst>
                                </p:cTn>
                              </p:par>
                              <p:par>
                                <p:cTn id="72" presetID="10" presetClass="entr" presetSubtype="0" fill="hold" nodeType="withEffect">
                                  <p:stCondLst>
                                    <p:cond delay="127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600"/>
                                        <p:tgtEl>
                                          <p:spTgt spid="22"/>
                                        </p:tgtEl>
                                      </p:cBhvr>
                                    </p:animEffect>
                                    <p:anim calcmode="lin" valueType="num">
                                      <p:cBhvr additive="base">
                                        <p:cTn id="71" dur="600" fill="hold"/>
                                        <p:tgtEl>
                                          <p:spTgt spid="22"/>
                                        </p:tgtEl>
                                        <p:attrNameLst>
                                          <p:attrName>ppt_y</p:attrName>
                                        </p:attrNameLst>
                                      </p:cBhvr>
                                      <p:tavLst>
                                        <p:tav tm="0">
                                          <p:val>
                                            <p:strVal val="#ppt_y+0.04"/>
                                          </p:val>
                                        </p:tav>
                                        <p:tav tm="100000">
                                          <p:val>
                                            <p:strVal val="#ppt_y"/>
                                          </p:val>
                                        </p:tav>
                                      </p:tavLst>
                                    </p:anim>
                                  </p:childTnLst>
                                </p:cTn>
                              </p:par>
                              <p:par>
                                <p:cTn id="76" presetID="10" presetClass="entr" presetSubtype="0" fill="hold" nodeType="withEffect">
                                  <p:stCondLst>
                                    <p:cond delay="127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600"/>
                                        <p:tgtEl>
                                          <p:spTgt spid="23"/>
                                        </p:tgtEl>
                                      </p:cBhvr>
                                    </p:animEffect>
                                    <p:anim calcmode="lin" valueType="num">
                                      <p:cBhvr additive="base">
                                        <p:cTn id="75" dur="600" fill="hold"/>
                                        <p:tgtEl>
                                          <p:spTgt spid="23"/>
                                        </p:tgtEl>
                                        <p:attrNameLst>
                                          <p:attrName>ppt_y</p:attrName>
                                        </p:attrNameLst>
                                      </p:cBhvr>
                                      <p:tavLst>
                                        <p:tav tm="0">
                                          <p:val>
                                            <p:strVal val="#ppt_y+0.04"/>
                                          </p:val>
                                        </p:tav>
                                        <p:tav tm="100000">
                                          <p:val>
                                            <p:strVal val="#ppt_y"/>
                                          </p:val>
                                        </p:tav>
                                      </p:tavLst>
                                    </p:anim>
                                  </p:childTnLst>
                                </p:cTn>
                              </p:par>
                              <p:par>
                                <p:cTn id="80" presetID="10" presetClass="entr" presetSubtype="0" fill="hold" nodeType="withEffect">
                                  <p:stCondLst>
                                    <p:cond delay="1270"/>
                                  </p:stCondLst>
                                  <p:childTnLst>
                                    <p:set>
                                      <p:cBhvr>
                                        <p:cTn id="77" dur="1" fill="hold">
                                          <p:stCondLst>
                                            <p:cond delay="0"/>
                                          </p:stCondLst>
                                        </p:cTn>
                                        <p:tgtEl>
                                          <p:spTgt spid="24"/>
                                        </p:tgtEl>
                                        <p:attrNameLst>
                                          <p:attrName>style.visibility</p:attrName>
                                        </p:attrNameLst>
                                      </p:cBhvr>
                                      <p:to>
                                        <p:strVal val="visible"/>
                                      </p:to>
                                    </p:set>
                                    <p:animEffect transition="in" filter="fade">
                                      <p:cBhvr>
                                        <p:cTn id="78" dur="600"/>
                                        <p:tgtEl>
                                          <p:spTgt spid="24"/>
                                        </p:tgtEl>
                                      </p:cBhvr>
                                    </p:animEffect>
                                    <p:anim calcmode="lin" valueType="num">
                                      <p:cBhvr additive="base">
                                        <p:cTn id="79" dur="600" fill="hold"/>
                                        <p:tgtEl>
                                          <p:spTgt spid="24"/>
                                        </p:tgtEl>
                                        <p:attrNameLst>
                                          <p:attrName>ppt_y</p:attrName>
                                        </p:attrNameLst>
                                      </p:cBhvr>
                                      <p:tavLst>
                                        <p:tav tm="0">
                                          <p:val>
                                            <p:strVal val="#ppt_y+0.04"/>
                                          </p:val>
                                        </p:tav>
                                        <p:tav tm="100000">
                                          <p:val>
                                            <p:strVal val="#ppt_y"/>
                                          </p:val>
                                        </p:tav>
                                      </p:tavLst>
                                    </p:anim>
                                  </p:childTnLst>
                                </p:cTn>
                              </p:par>
                              <p:par>
                                <p:cTn id="84" presetID="10" presetClass="entr" presetSubtype="0" fill="hold" nodeType="withEffect">
                                  <p:stCondLst>
                                    <p:cond delay="1270"/>
                                  </p:stCondLst>
                                  <p:childTnLst>
                                    <p:set>
                                      <p:cBhvr>
                                        <p:cTn id="81" dur="1" fill="hold">
                                          <p:stCondLst>
                                            <p:cond delay="0"/>
                                          </p:stCondLst>
                                        </p:cTn>
                                        <p:tgtEl>
                                          <p:spTgt spid="25"/>
                                        </p:tgtEl>
                                        <p:attrNameLst>
                                          <p:attrName>style.visibility</p:attrName>
                                        </p:attrNameLst>
                                      </p:cBhvr>
                                      <p:to>
                                        <p:strVal val="visible"/>
                                      </p:to>
                                    </p:set>
                                    <p:animEffect transition="in" filter="fade">
                                      <p:cBhvr>
                                        <p:cTn id="82" dur="600"/>
                                        <p:tgtEl>
                                          <p:spTgt spid="25"/>
                                        </p:tgtEl>
                                      </p:cBhvr>
                                    </p:animEffect>
                                    <p:anim calcmode="lin" valueType="num">
                                      <p:cBhvr additive="base">
                                        <p:cTn id="83" dur="600" fill="hold"/>
                                        <p:tgtEl>
                                          <p:spTgt spid="25"/>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mc:Ignorable="p14 p159">
  <p:cSld name="Slide 5">
    <p:bg>
      <p:bgPr>
        <a:solidFill>
          <a:srgbClr val="FCFBF7"/>
        </a:solidFill>
      </p:bgPr>
    </p:bg>
    <p:spTree>
      <p:nvGrpSpPr>
        <p:cNvPr id="1" name=""/>
        <p:cNvGrpSpPr/>
        <p:nvPr/>
      </p:nvGrpSpPr>
      <p:grpSpPr>
        <a:xfrm>
          <a:off x="0" y="0"/>
          <a:ext cx="0" cy="0"/>
          <a:chOff x="0" y="0"/>
          <a:chExt cx="0" cy="0"/>
        </a:xfrm>
      </p:grpSpPr>
      <p:pic>
        <p:nvPicPr>
          <p:cNvPr id="2" name="!!blobOrange" descr="preencoded.png">    </p:cNvPr>
          <p:cNvPicPr>
            <a:picLocks noChangeAspect="1"/>
          </p:cNvPicPr>
          <p:nvPr/>
        </p:nvPicPr>
        <p:blipFill>
          <a:blip r:embed="rId1"/>
          <a:stretch>
            <a:fillRect/>
          </a:stretch>
        </p:blipFill>
        <p:spPr>
          <a:xfrm>
            <a:off x="-2011680" y="3474720"/>
            <a:ext cx="5486400" cy="5486400"/>
          </a:xfrm>
          <a:prstGeom prst="rect">
            <a:avLst/>
          </a:prstGeom>
        </p:spPr>
      </p:pic>
      <p:pic>
        <p:nvPicPr>
          <p:cNvPr id="3" name="!!blobGreen" descr="preencoded.png">    </p:cNvPr>
          <p:cNvPicPr>
            <a:picLocks noChangeAspect="1"/>
          </p:cNvPicPr>
          <p:nvPr/>
        </p:nvPicPr>
        <p:blipFill>
          <a:blip r:embed="rId2"/>
          <a:stretch>
            <a:fillRect/>
          </a:stretch>
        </p:blipFill>
        <p:spPr>
          <a:xfrm>
            <a:off x="8595360" y="-2194560"/>
            <a:ext cx="5943600" cy="5943600"/>
          </a:xfrm>
          <a:prstGeom prst="rect">
            <a:avLst/>
          </a:prstGeom>
        </p:spPr>
      </p:pic>
      <p:sp>
        <p:nvSpPr>
          <p:cNvPr id="4" name="!!kicker"/>
          <p:cNvSpPr txBox="1"/>
          <p:nvPr/>
        </p:nvSpPr>
        <p:spPr>
          <a:xfrm>
            <a:off x="640080" y="228600"/>
            <a:ext cx="7315200" cy="274320"/>
          </a:xfrm>
          <a:prstGeom prst="rect">
            <a:avLst/>
          </a:prstGeom>
          <a:noFill/>
          <a:ln/>
        </p:spPr>
        <p:txBody>
          <a:bodyPr wrap="square" lIns="0" tIns="0" rIns="0" bIns="0" rtlCol="0" anchor="ctr"/>
          <a:lstStyle/>
          <a:p>
            <a:pPr indent="0" marL="0">
              <a:buNone/>
            </a:pPr>
            <a:r>
              <a:rPr lang="en-US" sz="1100" b="1" spc="300" kern="0" dirty="0">
                <a:solidFill>
                  <a:srgbClr val="BF5320"/>
                </a:solidFill>
                <a:latin typeface="Calibri" pitchFamily="34" charset="0"/>
                <a:ea typeface="Calibri" pitchFamily="34" charset="-122"/>
                <a:cs typeface="Calibri" pitchFamily="34" charset="-120"/>
              </a:rPr>
              <a:t>OUR USERS</a:t>
            </a:r>
            <a:endParaRPr lang="en-US" sz="1100" dirty="0"/>
          </a:p>
        </p:txBody>
      </p:sp>
      <p:sp>
        <p:nvSpPr>
          <p:cNvPr id="5" name="!!title"/>
          <p:cNvSpPr txBox="1"/>
          <p:nvPr/>
        </p:nvSpPr>
        <p:spPr>
          <a:xfrm>
            <a:off x="640080" y="502920"/>
            <a:ext cx="10881360" cy="914400"/>
          </a:xfrm>
          <a:prstGeom prst="rect">
            <a:avLst/>
          </a:prstGeom>
          <a:noFill/>
          <a:ln/>
        </p:spPr>
        <p:txBody>
          <a:bodyPr wrap="square" lIns="0" tIns="0" rIns="0" bIns="0" rtlCol="0" anchor="ctr"/>
          <a:lstStyle/>
          <a:p>
            <a:pPr indent="0" marL="0">
              <a:buNone/>
            </a:pPr>
            <a:r>
              <a:rPr lang="en-US" sz="3600" b="1" dirty="0">
                <a:solidFill>
                  <a:srgbClr val="1C1712"/>
                </a:solidFill>
                <a:latin typeface="Cambria" pitchFamily="34" charset="0"/>
                <a:ea typeface="Cambria" pitchFamily="34" charset="-122"/>
                <a:cs typeface="Cambria" pitchFamily="34" charset="-120"/>
              </a:rPr>
              <a:t>Two journeys that never meet —</a:t>
            </a:r>
            <a:pPr indent="0" marL="0">
              <a:buNone/>
            </a:pPr>
            <a:r>
              <a:rPr lang="en-US" sz="3600" b="1" dirty="0">
                <a:solidFill>
                  <a:srgbClr val="F0703D"/>
                </a:solidFill>
                <a:latin typeface="Cambria" pitchFamily="34" charset="0"/>
                <a:ea typeface="Cambria" pitchFamily="34" charset="-122"/>
                <a:cs typeface="Cambria" pitchFamily="34" charset="-120"/>
              </a:rPr>
              <a:t> until now</a:t>
            </a:r>
            <a:endParaRPr lang="en-US" sz="3600" dirty="0"/>
          </a:p>
        </p:txBody>
      </p:sp>
      <p:sp>
        <p:nvSpPr>
          <p:cNvPr id="6" name="anim1_lane"/>
          <p:cNvSpPr/>
          <p:nvPr/>
        </p:nvSpPr>
        <p:spPr>
          <a:xfrm>
            <a:off x="640080" y="1737360"/>
            <a:ext cx="10835640" cy="1874520"/>
          </a:xfrm>
          <a:prstGeom prst="roundRect">
            <a:avLst>
              <a:gd name="adj" fmla="val 8780"/>
            </a:avLst>
          </a:prstGeom>
          <a:solidFill>
            <a:srgbClr val="FFFFF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7" name="anim1_laneIconBg"/>
          <p:cNvSpPr/>
          <p:nvPr/>
        </p:nvSpPr>
        <p:spPr>
          <a:xfrm>
            <a:off x="914400" y="2057400"/>
            <a:ext cx="777240" cy="777240"/>
          </a:xfrm>
          <a:prstGeom prst="ellipse">
            <a:avLst/>
          </a:prstGeom>
          <a:solidFill>
            <a:srgbClr val="E3EEDF"/>
          </a:solidFill>
          <a:ln w="12700">
            <a:solidFill>
              <a:srgbClr val="E3EEDF"/>
            </a:solidFill>
            <a:prstDash val="solid"/>
          </a:ln>
        </p:spPr>
      </p:sp>
      <p:pic>
        <p:nvPicPr>
          <p:cNvPr id="8" name="anim1_laneIcon" descr="preencoded.png">    </p:cNvPr>
          <p:cNvPicPr>
            <a:picLocks noChangeAspect="1"/>
          </p:cNvPicPr>
          <p:nvPr/>
        </p:nvPicPr>
        <p:blipFill>
          <a:blip r:embed="rId3"/>
          <a:stretch>
            <a:fillRect/>
          </a:stretch>
        </p:blipFill>
        <p:spPr>
          <a:xfrm>
            <a:off x="1100938" y="2243938"/>
            <a:ext cx="404165" cy="404165"/>
          </a:xfrm>
          <a:prstGeom prst="rect">
            <a:avLst/>
          </a:prstGeom>
        </p:spPr>
      </p:pic>
      <p:sp>
        <p:nvSpPr>
          <p:cNvPr id="9" name="anim1_laneWho"/>
          <p:cNvSpPr txBox="1"/>
          <p:nvPr/>
        </p:nvSpPr>
        <p:spPr>
          <a:xfrm>
            <a:off x="914400" y="2880360"/>
            <a:ext cx="2103120" cy="594360"/>
          </a:xfrm>
          <a:prstGeom prst="rect">
            <a:avLst/>
          </a:prstGeom>
          <a:noFill/>
          <a:ln/>
        </p:spPr>
        <p:txBody>
          <a:bodyPr wrap="square" lIns="0" tIns="0" rIns="0" bIns="0" rtlCol="0" anchor="t"/>
          <a:lstStyle/>
          <a:p>
            <a:pPr indent="0" marL="0">
              <a:buNone/>
            </a:pPr>
            <a:r>
              <a:rPr lang="en-US" sz="1800" b="1" dirty="0">
                <a:solidFill>
                  <a:srgbClr val="1C1712"/>
                </a:solidFill>
                <a:latin typeface="Calibri" pitchFamily="34" charset="0"/>
                <a:ea typeface="Calibri" pitchFamily="34" charset="-122"/>
                <a:cs typeface="Calibri" pitchFamily="34" charset="-120"/>
              </a:rPr>
              <a:t>Donor</a:t>
            </a:r>
            <a:endParaRPr lang="en-US" sz="1800" dirty="0"/>
          </a:p>
          <a:p>
            <a:pPr indent="0" marL="0">
              <a:buNone/>
            </a:pPr>
            <a:r>
              <a:rPr lang="en-US" sz="1200" dirty="0">
                <a:solidFill>
                  <a:srgbClr val="5B5148"/>
                </a:solidFill>
                <a:latin typeface="Calibri" pitchFamily="34" charset="0"/>
                <a:ea typeface="Calibri" pitchFamily="34" charset="-122"/>
                <a:cs typeface="Calibri" pitchFamily="34" charset="-120"/>
              </a:rPr>
              <a:t>Event &amp; facilities coordinators</a:t>
            </a:r>
            <a:endParaRPr lang="en-US" sz="1800" dirty="0"/>
          </a:p>
        </p:txBody>
      </p:sp>
      <p:sp>
        <p:nvSpPr>
          <p:cNvPr id="10" name="anim2_step0"/>
          <p:cNvSpPr/>
          <p:nvPr/>
        </p:nvSpPr>
        <p:spPr>
          <a:xfrm>
            <a:off x="3154680" y="2148840"/>
            <a:ext cx="1325880" cy="868680"/>
          </a:xfrm>
          <a:prstGeom prst="roundRect">
            <a:avLst>
              <a:gd name="adj" fmla="val 14737"/>
            </a:avLst>
          </a:prstGeom>
          <a:solidFill>
            <a:srgbClr val="E3EEDF"/>
          </a:solidFill>
          <a:ln w="12700">
            <a:solidFill>
              <a:srgbClr val="E3EEDF"/>
            </a:solidFill>
            <a:prstDash val="solid"/>
          </a:ln>
        </p:spPr>
      </p:sp>
      <p:sp>
        <p:nvSpPr>
          <p:cNvPr id="11" name="anim2_stepT0"/>
          <p:cNvSpPr txBox="1"/>
          <p:nvPr/>
        </p:nvSpPr>
        <p:spPr>
          <a:xfrm>
            <a:off x="3227832" y="2148840"/>
            <a:ext cx="1179576" cy="868680"/>
          </a:xfrm>
          <a:prstGeom prst="rect">
            <a:avLst/>
          </a:prstGeom>
          <a:noFill/>
          <a:ln/>
        </p:spPr>
        <p:txBody>
          <a:bodyPr wrap="square" lIns="0" tIns="0" rIns="0" bIns="0" rtlCol="0" anchor="ctr"/>
          <a:lstStyle/>
          <a:p>
            <a:pPr algn="ctr" indent="0" marL="0">
              <a:buNone/>
            </a:pPr>
            <a:r>
              <a:rPr lang="en-US" sz="1300" b="1" dirty="0">
                <a:solidFill>
                  <a:srgbClr val="1C1712"/>
                </a:solidFill>
                <a:latin typeface="Calibri" pitchFamily="34" charset="0"/>
                <a:ea typeface="Calibri" pitchFamily="34" charset="-122"/>
                <a:cs typeface="Calibri" pitchFamily="34" charset="-120"/>
              </a:rPr>
              <a:t>Event ends</a:t>
            </a:r>
            <a:endParaRPr lang="en-US" sz="1300" dirty="0"/>
          </a:p>
        </p:txBody>
      </p:sp>
      <p:sp>
        <p:nvSpPr>
          <p:cNvPr id="12" name="anim2_step1"/>
          <p:cNvSpPr/>
          <p:nvPr/>
        </p:nvSpPr>
        <p:spPr>
          <a:xfrm>
            <a:off x="4636008" y="2148840"/>
            <a:ext cx="1325880" cy="868680"/>
          </a:xfrm>
          <a:prstGeom prst="roundRect">
            <a:avLst>
              <a:gd name="adj" fmla="val 14737"/>
            </a:avLst>
          </a:prstGeom>
          <a:solidFill>
            <a:srgbClr val="E3EEDF"/>
          </a:solidFill>
          <a:ln w="12700">
            <a:solidFill>
              <a:srgbClr val="E3EEDF"/>
            </a:solidFill>
            <a:prstDash val="solid"/>
          </a:ln>
        </p:spPr>
      </p:sp>
      <p:sp>
        <p:nvSpPr>
          <p:cNvPr id="13" name="anim2_stepT1"/>
          <p:cNvSpPr txBox="1"/>
          <p:nvPr/>
        </p:nvSpPr>
        <p:spPr>
          <a:xfrm>
            <a:off x="4709160" y="2148840"/>
            <a:ext cx="1179576" cy="868680"/>
          </a:xfrm>
          <a:prstGeom prst="rect">
            <a:avLst/>
          </a:prstGeom>
          <a:noFill/>
          <a:ln/>
        </p:spPr>
        <p:txBody>
          <a:bodyPr wrap="square" lIns="0" tIns="0" rIns="0" bIns="0" rtlCol="0" anchor="ctr"/>
          <a:lstStyle/>
          <a:p>
            <a:pPr algn="ctr" indent="0" marL="0">
              <a:buNone/>
            </a:pPr>
            <a:r>
              <a:rPr lang="en-US" sz="1300" b="1" dirty="0">
                <a:solidFill>
                  <a:srgbClr val="1C1712"/>
                </a:solidFill>
                <a:latin typeface="Calibri" pitchFamily="34" charset="0"/>
                <a:ea typeface="Calibri" pitchFamily="34" charset="-122"/>
                <a:cs typeface="Calibri" pitchFamily="34" charset="-120"/>
              </a:rPr>
              <a:t>Surplus remains</a:t>
            </a:r>
            <a:endParaRPr lang="en-US" sz="1300" dirty="0"/>
          </a:p>
        </p:txBody>
      </p:sp>
      <p:sp>
        <p:nvSpPr>
          <p:cNvPr id="14" name="anim2_step2"/>
          <p:cNvSpPr/>
          <p:nvPr/>
        </p:nvSpPr>
        <p:spPr>
          <a:xfrm>
            <a:off x="6117336" y="2148840"/>
            <a:ext cx="1325880" cy="868680"/>
          </a:xfrm>
          <a:prstGeom prst="roundRect">
            <a:avLst>
              <a:gd name="adj" fmla="val 14737"/>
            </a:avLst>
          </a:prstGeom>
          <a:solidFill>
            <a:srgbClr val="E3EEDF"/>
          </a:solidFill>
          <a:ln w="12700">
            <a:solidFill>
              <a:srgbClr val="E3EEDF"/>
            </a:solidFill>
            <a:prstDash val="solid"/>
          </a:ln>
        </p:spPr>
      </p:sp>
      <p:sp>
        <p:nvSpPr>
          <p:cNvPr id="15" name="anim2_stepT2"/>
          <p:cNvSpPr txBox="1"/>
          <p:nvPr/>
        </p:nvSpPr>
        <p:spPr>
          <a:xfrm>
            <a:off x="6190488" y="2148840"/>
            <a:ext cx="1179576" cy="868680"/>
          </a:xfrm>
          <a:prstGeom prst="rect">
            <a:avLst/>
          </a:prstGeom>
          <a:noFill/>
          <a:ln/>
        </p:spPr>
        <p:txBody>
          <a:bodyPr wrap="square" lIns="0" tIns="0" rIns="0" bIns="0" rtlCol="0" anchor="ctr"/>
          <a:lstStyle/>
          <a:p>
            <a:pPr algn="ctr" indent="0" marL="0">
              <a:buNone/>
            </a:pPr>
            <a:r>
              <a:rPr lang="en-US" sz="1300" b="1" dirty="0">
                <a:solidFill>
                  <a:srgbClr val="1C1712"/>
                </a:solidFill>
                <a:latin typeface="Calibri" pitchFamily="34" charset="0"/>
                <a:ea typeface="Calibri" pitchFamily="34" charset="-122"/>
                <a:cs typeface="Calibri" pitchFamily="34" charset="-120"/>
              </a:rPr>
              <a:t>No easy donation path</a:t>
            </a:r>
            <a:endParaRPr lang="en-US" sz="1300" dirty="0"/>
          </a:p>
        </p:txBody>
      </p:sp>
      <p:sp>
        <p:nvSpPr>
          <p:cNvPr id="16" name="anim2_step3"/>
          <p:cNvSpPr/>
          <p:nvPr/>
        </p:nvSpPr>
        <p:spPr>
          <a:xfrm>
            <a:off x="7598664" y="2148840"/>
            <a:ext cx="1325880" cy="868680"/>
          </a:xfrm>
          <a:prstGeom prst="roundRect">
            <a:avLst>
              <a:gd name="adj" fmla="val 14737"/>
            </a:avLst>
          </a:prstGeom>
          <a:solidFill>
            <a:srgbClr val="FBE3E0"/>
          </a:solidFill>
          <a:ln w="12700">
            <a:solidFill>
              <a:srgbClr val="E3EEDF"/>
            </a:solidFill>
            <a:prstDash val="solid"/>
          </a:ln>
        </p:spPr>
      </p:sp>
      <p:sp>
        <p:nvSpPr>
          <p:cNvPr id="17" name="anim2_stepT3"/>
          <p:cNvSpPr txBox="1"/>
          <p:nvPr/>
        </p:nvSpPr>
        <p:spPr>
          <a:xfrm>
            <a:off x="7671816" y="2148840"/>
            <a:ext cx="1179576" cy="868680"/>
          </a:xfrm>
          <a:prstGeom prst="rect">
            <a:avLst/>
          </a:prstGeom>
          <a:noFill/>
          <a:ln/>
        </p:spPr>
        <p:txBody>
          <a:bodyPr wrap="square" lIns="0" tIns="0" rIns="0" bIns="0" rtlCol="0" anchor="ctr"/>
          <a:lstStyle/>
          <a:p>
            <a:pPr algn="ctr" indent="0" marL="0">
              <a:buNone/>
            </a:pPr>
            <a:r>
              <a:rPr lang="en-US" sz="1300" b="1" dirty="0">
                <a:solidFill>
                  <a:srgbClr val="1C1712"/>
                </a:solidFill>
                <a:latin typeface="Calibri" pitchFamily="34" charset="0"/>
                <a:ea typeface="Calibri" pitchFamily="34" charset="-122"/>
                <a:cs typeface="Calibri" pitchFamily="34" charset="-120"/>
              </a:rPr>
              <a:t>Food is binned</a:t>
            </a:r>
            <a:endParaRPr lang="en-US" sz="1300" dirty="0"/>
          </a:p>
        </p:txBody>
      </p:sp>
      <p:sp>
        <p:nvSpPr>
          <p:cNvPr id="18" name="anim2_pain"/>
          <p:cNvSpPr txBox="1"/>
          <p:nvPr/>
        </p:nvSpPr>
        <p:spPr>
          <a:xfrm>
            <a:off x="9189720" y="2057400"/>
            <a:ext cx="2103120" cy="1280160"/>
          </a:xfrm>
          <a:prstGeom prst="rect">
            <a:avLst/>
          </a:prstGeom>
          <a:noFill/>
          <a:ln/>
        </p:spPr>
        <p:txBody>
          <a:bodyPr wrap="square" lIns="0" tIns="0" rIns="0" bIns="0" rtlCol="0" anchor="ctr"/>
          <a:lstStyle/>
          <a:p>
            <a:pPr indent="0" marL="0">
              <a:buNone/>
            </a:pPr>
            <a:r>
              <a:rPr lang="en-US" sz="1000" b="1" spc="200" kern="0" dirty="0">
                <a:solidFill>
                  <a:srgbClr val="165840"/>
                </a:solidFill>
                <a:latin typeface="Calibri" pitchFamily="34" charset="0"/>
                <a:ea typeface="Calibri" pitchFamily="34" charset="-122"/>
                <a:cs typeface="Calibri" pitchFamily="34" charset="-120"/>
              </a:rPr>
              <a:t>PAIN POINT</a:t>
            </a:r>
            <a:endParaRPr lang="en-US" sz="1000" dirty="0"/>
          </a:p>
          <a:p>
            <a:pPr indent="0" marL="0">
              <a:buNone/>
            </a:pPr>
            <a:r>
              <a:rPr lang="en-US" sz="1400" dirty="0">
                <a:solidFill>
                  <a:srgbClr val="1C1712"/>
                </a:solidFill>
                <a:latin typeface="Calibri" pitchFamily="34" charset="0"/>
                <a:ea typeface="Calibri" pitchFamily="34" charset="-122"/>
                <a:cs typeface="Calibri" pitchFamily="34" charset="-120"/>
              </a:rPr>
              <a:t>Needs a one-tap way to give, with pickup already planned.</a:t>
            </a:r>
            <a:endParaRPr lang="en-US" sz="1000" dirty="0"/>
          </a:p>
        </p:txBody>
      </p:sp>
      <p:sp>
        <p:nvSpPr>
          <p:cNvPr id="19" name="anim3_lane"/>
          <p:cNvSpPr/>
          <p:nvPr/>
        </p:nvSpPr>
        <p:spPr>
          <a:xfrm>
            <a:off x="640080" y="3886200"/>
            <a:ext cx="10835640" cy="1874520"/>
          </a:xfrm>
          <a:prstGeom prst="roundRect">
            <a:avLst>
              <a:gd name="adj" fmla="val 8780"/>
            </a:avLst>
          </a:prstGeom>
          <a:solidFill>
            <a:srgbClr val="FFFFF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20" name="anim3_laneIconBg"/>
          <p:cNvSpPr/>
          <p:nvPr/>
        </p:nvSpPr>
        <p:spPr>
          <a:xfrm>
            <a:off x="914400" y="4206240"/>
            <a:ext cx="777240" cy="777240"/>
          </a:xfrm>
          <a:prstGeom prst="ellipse">
            <a:avLst/>
          </a:prstGeom>
          <a:solidFill>
            <a:srgbClr val="FDE6D4"/>
          </a:solidFill>
          <a:ln w="12700">
            <a:solidFill>
              <a:srgbClr val="FDE6D4"/>
            </a:solidFill>
            <a:prstDash val="solid"/>
          </a:ln>
        </p:spPr>
      </p:sp>
      <p:pic>
        <p:nvPicPr>
          <p:cNvPr id="21" name="anim3_laneIcon" descr="preencoded.png">    </p:cNvPr>
          <p:cNvPicPr>
            <a:picLocks noChangeAspect="1"/>
          </p:cNvPicPr>
          <p:nvPr/>
        </p:nvPicPr>
        <p:blipFill>
          <a:blip r:embed="rId4"/>
          <a:stretch>
            <a:fillRect/>
          </a:stretch>
        </p:blipFill>
        <p:spPr>
          <a:xfrm>
            <a:off x="1100938" y="4392778"/>
            <a:ext cx="404165" cy="404165"/>
          </a:xfrm>
          <a:prstGeom prst="rect">
            <a:avLst/>
          </a:prstGeom>
        </p:spPr>
      </p:pic>
      <p:sp>
        <p:nvSpPr>
          <p:cNvPr id="22" name="anim3_laneWho"/>
          <p:cNvSpPr txBox="1"/>
          <p:nvPr/>
        </p:nvSpPr>
        <p:spPr>
          <a:xfrm>
            <a:off x="914400" y="5029200"/>
            <a:ext cx="2103120" cy="594360"/>
          </a:xfrm>
          <a:prstGeom prst="rect">
            <a:avLst/>
          </a:prstGeom>
          <a:noFill/>
          <a:ln/>
        </p:spPr>
        <p:txBody>
          <a:bodyPr wrap="square" lIns="0" tIns="0" rIns="0" bIns="0" rtlCol="0" anchor="t"/>
          <a:lstStyle/>
          <a:p>
            <a:pPr indent="0" marL="0">
              <a:buNone/>
            </a:pPr>
            <a:r>
              <a:rPr lang="en-US" sz="1800" b="1" dirty="0">
                <a:solidFill>
                  <a:srgbClr val="1C1712"/>
                </a:solidFill>
                <a:latin typeface="Calibri" pitchFamily="34" charset="0"/>
                <a:ea typeface="Calibri" pitchFamily="34" charset="-122"/>
                <a:cs typeface="Calibri" pitchFamily="34" charset="-120"/>
              </a:rPr>
              <a:t>Recipient</a:t>
            </a:r>
            <a:endParaRPr lang="en-US" sz="1800" dirty="0"/>
          </a:p>
          <a:p>
            <a:pPr indent="0" marL="0">
              <a:buNone/>
            </a:pPr>
            <a:r>
              <a:rPr lang="en-US" sz="1200" dirty="0">
                <a:solidFill>
                  <a:srgbClr val="5B5148"/>
                </a:solidFill>
                <a:latin typeface="Calibri" pitchFamily="34" charset="0"/>
                <a:ea typeface="Calibri" pitchFamily="34" charset="-122"/>
                <a:cs typeface="Calibri" pitchFamily="34" charset="-120"/>
              </a:rPr>
              <a:t>Food banks, pantries, shelters</a:t>
            </a:r>
            <a:endParaRPr lang="en-US" sz="1800" dirty="0"/>
          </a:p>
        </p:txBody>
      </p:sp>
      <p:sp>
        <p:nvSpPr>
          <p:cNvPr id="23" name="anim4_step0"/>
          <p:cNvSpPr/>
          <p:nvPr/>
        </p:nvSpPr>
        <p:spPr>
          <a:xfrm>
            <a:off x="3154680" y="4297680"/>
            <a:ext cx="1325880" cy="868680"/>
          </a:xfrm>
          <a:prstGeom prst="roundRect">
            <a:avLst>
              <a:gd name="adj" fmla="val 14737"/>
            </a:avLst>
          </a:prstGeom>
          <a:solidFill>
            <a:srgbClr val="FDE6D4"/>
          </a:solidFill>
          <a:ln w="12700">
            <a:solidFill>
              <a:srgbClr val="FDE6D4"/>
            </a:solidFill>
            <a:prstDash val="solid"/>
          </a:ln>
        </p:spPr>
      </p:sp>
      <p:sp>
        <p:nvSpPr>
          <p:cNvPr id="24" name="anim4_stepT0"/>
          <p:cNvSpPr txBox="1"/>
          <p:nvPr/>
        </p:nvSpPr>
        <p:spPr>
          <a:xfrm>
            <a:off x="3227832" y="4297680"/>
            <a:ext cx="1179576" cy="868680"/>
          </a:xfrm>
          <a:prstGeom prst="rect">
            <a:avLst/>
          </a:prstGeom>
          <a:noFill/>
          <a:ln/>
        </p:spPr>
        <p:txBody>
          <a:bodyPr wrap="square" lIns="0" tIns="0" rIns="0" bIns="0" rtlCol="0" anchor="ctr"/>
          <a:lstStyle/>
          <a:p>
            <a:pPr algn="ctr" indent="0" marL="0">
              <a:buNone/>
            </a:pPr>
            <a:r>
              <a:rPr lang="en-US" sz="1300" b="1" dirty="0">
                <a:solidFill>
                  <a:srgbClr val="1C1712"/>
                </a:solidFill>
                <a:latin typeface="Calibri" pitchFamily="34" charset="0"/>
                <a:ea typeface="Calibri" pitchFamily="34" charset="-122"/>
                <a:cs typeface="Calibri" pitchFamily="34" charset="-120"/>
              </a:rPr>
              <a:t>Need arises</a:t>
            </a:r>
            <a:endParaRPr lang="en-US" sz="1300" dirty="0"/>
          </a:p>
        </p:txBody>
      </p:sp>
      <p:sp>
        <p:nvSpPr>
          <p:cNvPr id="25" name="anim4_step1"/>
          <p:cNvSpPr/>
          <p:nvPr/>
        </p:nvSpPr>
        <p:spPr>
          <a:xfrm>
            <a:off x="4636008" y="4297680"/>
            <a:ext cx="1325880" cy="868680"/>
          </a:xfrm>
          <a:prstGeom prst="roundRect">
            <a:avLst>
              <a:gd name="adj" fmla="val 14737"/>
            </a:avLst>
          </a:prstGeom>
          <a:solidFill>
            <a:srgbClr val="FDE6D4"/>
          </a:solidFill>
          <a:ln w="12700">
            <a:solidFill>
              <a:srgbClr val="FDE6D4"/>
            </a:solidFill>
            <a:prstDash val="solid"/>
          </a:ln>
        </p:spPr>
      </p:sp>
      <p:sp>
        <p:nvSpPr>
          <p:cNvPr id="26" name="anim4_stepT1"/>
          <p:cNvSpPr txBox="1"/>
          <p:nvPr/>
        </p:nvSpPr>
        <p:spPr>
          <a:xfrm>
            <a:off x="4709160" y="4297680"/>
            <a:ext cx="1179576" cy="868680"/>
          </a:xfrm>
          <a:prstGeom prst="rect">
            <a:avLst/>
          </a:prstGeom>
          <a:noFill/>
          <a:ln/>
        </p:spPr>
        <p:txBody>
          <a:bodyPr wrap="square" lIns="0" tIns="0" rIns="0" bIns="0" rtlCol="0" anchor="ctr"/>
          <a:lstStyle/>
          <a:p>
            <a:pPr algn="ctr" indent="0" marL="0">
              <a:buNone/>
            </a:pPr>
            <a:r>
              <a:rPr lang="en-US" sz="1300" b="1" dirty="0">
                <a:solidFill>
                  <a:srgbClr val="1C1712"/>
                </a:solidFill>
                <a:latin typeface="Calibri" pitchFamily="34" charset="0"/>
                <a:ea typeface="Calibri" pitchFamily="34" charset="-122"/>
                <a:cs typeface="Calibri" pitchFamily="34" charset="-120"/>
              </a:rPr>
              <a:t>Search for reliable food</a:t>
            </a:r>
            <a:endParaRPr lang="en-US" sz="1300" dirty="0"/>
          </a:p>
        </p:txBody>
      </p:sp>
      <p:sp>
        <p:nvSpPr>
          <p:cNvPr id="27" name="anim4_step2"/>
          <p:cNvSpPr/>
          <p:nvPr/>
        </p:nvSpPr>
        <p:spPr>
          <a:xfrm>
            <a:off x="6117336" y="4297680"/>
            <a:ext cx="1325880" cy="868680"/>
          </a:xfrm>
          <a:prstGeom prst="roundRect">
            <a:avLst>
              <a:gd name="adj" fmla="val 14737"/>
            </a:avLst>
          </a:prstGeom>
          <a:solidFill>
            <a:srgbClr val="FDE6D4"/>
          </a:solidFill>
          <a:ln w="12700">
            <a:solidFill>
              <a:srgbClr val="FDE6D4"/>
            </a:solidFill>
            <a:prstDash val="solid"/>
          </a:ln>
        </p:spPr>
      </p:sp>
      <p:sp>
        <p:nvSpPr>
          <p:cNvPr id="28" name="anim4_stepT2"/>
          <p:cNvSpPr txBox="1"/>
          <p:nvPr/>
        </p:nvSpPr>
        <p:spPr>
          <a:xfrm>
            <a:off x="6190488" y="4297680"/>
            <a:ext cx="1179576" cy="868680"/>
          </a:xfrm>
          <a:prstGeom prst="rect">
            <a:avLst/>
          </a:prstGeom>
          <a:noFill/>
          <a:ln/>
        </p:spPr>
        <p:txBody>
          <a:bodyPr wrap="square" lIns="0" tIns="0" rIns="0" bIns="0" rtlCol="0" anchor="ctr"/>
          <a:lstStyle/>
          <a:p>
            <a:pPr algn="ctr" indent="0" marL="0">
              <a:buNone/>
            </a:pPr>
            <a:r>
              <a:rPr lang="en-US" sz="1300" b="1" dirty="0">
                <a:solidFill>
                  <a:srgbClr val="1C1712"/>
                </a:solidFill>
                <a:latin typeface="Calibri" pitchFamily="34" charset="0"/>
                <a:ea typeface="Calibri" pitchFamily="34" charset="-122"/>
                <a:cs typeface="Calibri" pitchFamily="34" charset="-120"/>
              </a:rPr>
              <a:t>Coordinate pickup</a:t>
            </a:r>
            <a:endParaRPr lang="en-US" sz="1300" dirty="0"/>
          </a:p>
        </p:txBody>
      </p:sp>
      <p:sp>
        <p:nvSpPr>
          <p:cNvPr id="29" name="anim4_step3"/>
          <p:cNvSpPr/>
          <p:nvPr/>
        </p:nvSpPr>
        <p:spPr>
          <a:xfrm>
            <a:off x="7598664" y="4297680"/>
            <a:ext cx="1325880" cy="868680"/>
          </a:xfrm>
          <a:prstGeom prst="roundRect">
            <a:avLst>
              <a:gd name="adj" fmla="val 14737"/>
            </a:avLst>
          </a:prstGeom>
          <a:solidFill>
            <a:srgbClr val="FDE6D4"/>
          </a:solidFill>
          <a:ln w="12700">
            <a:solidFill>
              <a:srgbClr val="FDE6D4"/>
            </a:solidFill>
            <a:prstDash val="solid"/>
          </a:ln>
        </p:spPr>
      </p:sp>
      <p:sp>
        <p:nvSpPr>
          <p:cNvPr id="30" name="anim4_stepT3"/>
          <p:cNvSpPr txBox="1"/>
          <p:nvPr/>
        </p:nvSpPr>
        <p:spPr>
          <a:xfrm>
            <a:off x="7671816" y="4297680"/>
            <a:ext cx="1179576" cy="868680"/>
          </a:xfrm>
          <a:prstGeom prst="rect">
            <a:avLst/>
          </a:prstGeom>
          <a:noFill/>
          <a:ln/>
        </p:spPr>
        <p:txBody>
          <a:bodyPr wrap="square" lIns="0" tIns="0" rIns="0" bIns="0" rtlCol="0" anchor="ctr"/>
          <a:lstStyle/>
          <a:p>
            <a:pPr algn="ctr" indent="0" marL="0">
              <a:buNone/>
            </a:pPr>
            <a:r>
              <a:rPr lang="en-US" sz="1300" b="1" dirty="0">
                <a:solidFill>
                  <a:srgbClr val="1C1712"/>
                </a:solidFill>
                <a:latin typeface="Calibri" pitchFamily="34" charset="0"/>
                <a:ea typeface="Calibri" pitchFamily="34" charset="-122"/>
                <a:cs typeface="Calibri" pitchFamily="34" charset="-120"/>
              </a:rPr>
              <a:t>Serve more people</a:t>
            </a:r>
            <a:endParaRPr lang="en-US" sz="1300" dirty="0"/>
          </a:p>
        </p:txBody>
      </p:sp>
      <p:sp>
        <p:nvSpPr>
          <p:cNvPr id="31" name="anim4_pain"/>
          <p:cNvSpPr txBox="1"/>
          <p:nvPr/>
        </p:nvSpPr>
        <p:spPr>
          <a:xfrm>
            <a:off x="9189720" y="4206240"/>
            <a:ext cx="2103120" cy="1280160"/>
          </a:xfrm>
          <a:prstGeom prst="rect">
            <a:avLst/>
          </a:prstGeom>
          <a:noFill/>
          <a:ln/>
        </p:spPr>
        <p:txBody>
          <a:bodyPr wrap="square" lIns="0" tIns="0" rIns="0" bIns="0" rtlCol="0" anchor="ctr"/>
          <a:lstStyle/>
          <a:p>
            <a:pPr indent="0" marL="0">
              <a:buNone/>
            </a:pPr>
            <a:r>
              <a:rPr lang="en-US" sz="1000" b="1" spc="200" kern="0" dirty="0">
                <a:solidFill>
                  <a:srgbClr val="BF5320"/>
                </a:solidFill>
                <a:latin typeface="Calibri" pitchFamily="34" charset="0"/>
                <a:ea typeface="Calibri" pitchFamily="34" charset="-122"/>
                <a:cs typeface="Calibri" pitchFamily="34" charset="-120"/>
              </a:rPr>
              <a:t>PAIN POINT</a:t>
            </a:r>
            <a:endParaRPr lang="en-US" sz="1000" dirty="0"/>
          </a:p>
          <a:p>
            <a:pPr indent="0" marL="0">
              <a:buNone/>
            </a:pPr>
            <a:r>
              <a:rPr lang="en-US" sz="1400" dirty="0">
                <a:solidFill>
                  <a:srgbClr val="1C1712"/>
                </a:solidFill>
                <a:latin typeface="Calibri" pitchFamily="34" charset="0"/>
                <a:ea typeface="Calibri" pitchFamily="34" charset="-122"/>
                <a:cs typeface="Calibri" pitchFamily="34" charset="-120"/>
              </a:rPr>
              <a:t>Needs reliable, local supply that fits their rules and capacity.</a:t>
            </a:r>
            <a:endParaRPr lang="en-US" sz="1000" dirty="0"/>
          </a:p>
        </p:txBody>
      </p:sp>
      <p:pic>
        <p:nvPicPr>
          <p:cNvPr id="32" name="footLogoL" descr="preencoded.png">    </p:cNvPr>
          <p:cNvPicPr>
            <a:picLocks noChangeAspect="1"/>
          </p:cNvPicPr>
          <p:nvPr/>
        </p:nvPicPr>
        <p:blipFill>
          <a:blip r:embed="rId5"/>
          <a:stretch>
            <a:fillRect/>
          </a:stretch>
        </p:blipFill>
        <p:spPr>
          <a:xfrm>
            <a:off x="640080" y="6355080"/>
            <a:ext cx="384048" cy="252476"/>
          </a:xfrm>
          <a:prstGeom prst="rect">
            <a:avLst/>
          </a:prstGeom>
        </p:spPr>
      </p:pic>
      <p:pic>
        <p:nvPicPr>
          <p:cNvPr id="33" name="footLogoR" descr="preencoded.png">    </p:cNvPr>
          <p:cNvPicPr>
            <a:picLocks noChangeAspect="1"/>
          </p:cNvPicPr>
          <p:nvPr/>
        </p:nvPicPr>
        <p:blipFill>
          <a:blip r:embed="rId6"/>
          <a:stretch>
            <a:fillRect/>
          </a:stretch>
        </p:blipFill>
        <p:spPr>
          <a:xfrm>
            <a:off x="640080" y="6355080"/>
            <a:ext cx="384048" cy="252476"/>
          </a:xfrm>
          <a:prstGeom prst="rect">
            <a:avLst/>
          </a:prstGeom>
        </p:spPr>
      </p:pic>
      <p:pic>
        <p:nvPicPr>
          <p:cNvPr id="34" name="footLogoS" descr="preencoded.png">    </p:cNvPr>
          <p:cNvPicPr>
            <a:picLocks noChangeAspect="1"/>
          </p:cNvPicPr>
          <p:nvPr/>
        </p:nvPicPr>
        <p:blipFill>
          <a:blip r:embed="rId7"/>
          <a:stretch>
            <a:fillRect/>
          </a:stretch>
        </p:blipFill>
        <p:spPr>
          <a:xfrm>
            <a:off x="640080" y="6355080"/>
            <a:ext cx="384048" cy="252476"/>
          </a:xfrm>
          <a:prstGeom prst="rect">
            <a:avLst/>
          </a:prstGeom>
        </p:spPr>
      </p:pic>
      <p:sp>
        <p:nvSpPr>
          <p:cNvPr id="35" name="Text 26"/>
          <p:cNvSpPr txBox="1"/>
          <p:nvPr/>
        </p:nvSpPr>
        <p:spPr>
          <a:xfrm>
            <a:off x="1097280" y="6327648"/>
            <a:ext cx="3657600" cy="292608"/>
          </a:xfrm>
          <a:prstGeom prst="rect">
            <a:avLst/>
          </a:prstGeom>
          <a:noFill/>
          <a:ln/>
        </p:spPr>
        <p:txBody>
          <a:bodyPr wrap="square" lIns="0" tIns="0" rIns="0" bIns="0" rtlCol="0" anchor="ctr"/>
          <a:lstStyle/>
          <a:p>
            <a:pPr indent="0" marL="0">
              <a:buNone/>
            </a:pPr>
            <a:r>
              <a:rPr lang="en-US" sz="1000" dirty="0">
                <a:solidFill>
                  <a:srgbClr val="5B5148"/>
                </a:solidFill>
                <a:latin typeface="Calibri" pitchFamily="34" charset="0"/>
                <a:ea typeface="Calibri" pitchFamily="34" charset="-122"/>
                <a:cs typeface="Calibri" pitchFamily="34" charset="-120"/>
              </a:rPr>
              <a:t>Not Wasted · Surplus saved</a:t>
            </a:r>
            <a:endParaRPr lang="en-US" sz="1000" dirty="0"/>
          </a:p>
        </p:txBody>
      </p:sp>
      <p:sp>
        <p:nvSpPr>
          <p:cNvPr id="36" name="Text 27"/>
          <p:cNvSpPr txBox="1"/>
          <p:nvPr/>
        </p:nvSpPr>
        <p:spPr>
          <a:xfrm>
            <a:off x="10607040" y="6327648"/>
            <a:ext cx="914400" cy="292608"/>
          </a:xfrm>
          <a:prstGeom prst="rect">
            <a:avLst/>
          </a:prstGeom>
          <a:noFill/>
          <a:ln/>
        </p:spPr>
        <p:txBody>
          <a:bodyPr wrap="square" lIns="0" tIns="0" rIns="0" bIns="0" rtlCol="0" anchor="ctr"/>
          <a:lstStyle/>
          <a:p>
            <a:pPr algn="r" indent="0" marL="0">
              <a:buNone/>
            </a:pPr>
            <a:r>
              <a:rPr lang="en-US" sz="1000" dirty="0">
                <a:solidFill>
                  <a:srgbClr val="5B5148"/>
                </a:solidFill>
                <a:latin typeface="Calibri" pitchFamily="34" charset="0"/>
                <a:ea typeface="Calibri" pitchFamily="34" charset="-122"/>
                <a:cs typeface="Calibri" pitchFamily="34" charset="-120"/>
              </a:rPr>
              <a:t>05 / 12</a:t>
            </a:r>
            <a:endParaRPr lang="en-US" sz="1000" dirty="0"/>
          </a:p>
        </p:txBody>
      </p:sp>
    </p:spTree>
  </p:cSld>
  <p:clrMapOvr>
    <a:masterClrMapping/>
  </p:clrMapOvr>
  <mc:AlternateContent>
    <mc:Choice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10" presetClass="entr" presetSubtype="0" fill="hold"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600"/>
                                        <p:tgtEl>
                                          <p:spTgt spid="6"/>
                                        </p:tgtEl>
                                      </p:cBhvr>
                                    </p:animEffect>
                                    <p:anim calcmode="lin" valueType="num">
                                      <p:cBhvr additive="base">
                                        <p:cTn id="7" dur="600" fill="hold"/>
                                        <p:tgtEl>
                                          <p:spTgt spid="6"/>
                                        </p:tgtEl>
                                        <p:attrNameLst>
                                          <p:attrName>ppt_y</p:attrName>
                                        </p:attrNameLst>
                                      </p:cBhvr>
                                      <p:tavLst>
                                        <p:tav tm="0">
                                          <p:val>
                                            <p:strVal val="#ppt_y+0.04"/>
                                          </p:val>
                                        </p:tav>
                                        <p:tav tm="100000">
                                          <p:val>
                                            <p:strVal val="#ppt_y"/>
                                          </p:val>
                                        </p:tav>
                                      </p:tavLst>
                                    </p:anim>
                                  </p:childTnLst>
                                </p:cTn>
                              </p:par>
                              <p:par>
                                <p:cTn id="12" presetID="10" presetClass="entr" presetSubtype="0" fill="hold" nodeType="withEffect">
                                  <p:stCondLst>
                                    <p:cond delay="15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600"/>
                                        <p:tgtEl>
                                          <p:spTgt spid="7"/>
                                        </p:tgtEl>
                                      </p:cBhvr>
                                    </p:animEffect>
                                    <p:anim calcmode="lin" valueType="num">
                                      <p:cBhvr additive="base">
                                        <p:cTn id="11" dur="600" fill="hold"/>
                                        <p:tgtEl>
                                          <p:spTgt spid="7"/>
                                        </p:tgtEl>
                                        <p:attrNameLst>
                                          <p:attrName>ppt_y</p:attrName>
                                        </p:attrNameLst>
                                      </p:cBhvr>
                                      <p:tavLst>
                                        <p:tav tm="0">
                                          <p:val>
                                            <p:strVal val="#ppt_y+0.04"/>
                                          </p:val>
                                        </p:tav>
                                        <p:tav tm="100000">
                                          <p:val>
                                            <p:strVal val="#ppt_y"/>
                                          </p:val>
                                        </p:tav>
                                      </p:tavLst>
                                    </p:anim>
                                  </p:childTnLst>
                                </p:cTn>
                              </p:par>
                              <p:par>
                                <p:cTn id="16" presetID="10" presetClass="entr" presetSubtype="0" fill="hold" nodeType="withEffect">
                                  <p:stCondLst>
                                    <p:cond delay="15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600"/>
                                        <p:tgtEl>
                                          <p:spTgt spid="8"/>
                                        </p:tgtEl>
                                      </p:cBhvr>
                                    </p:animEffect>
                                    <p:anim calcmode="lin" valueType="num">
                                      <p:cBhvr additive="base">
                                        <p:cTn id="15" dur="600" fill="hold"/>
                                        <p:tgtEl>
                                          <p:spTgt spid="8"/>
                                        </p:tgtEl>
                                        <p:attrNameLst>
                                          <p:attrName>ppt_y</p:attrName>
                                        </p:attrNameLst>
                                      </p:cBhvr>
                                      <p:tavLst>
                                        <p:tav tm="0">
                                          <p:val>
                                            <p:strVal val="#ppt_y+0.04"/>
                                          </p:val>
                                        </p:tav>
                                        <p:tav tm="100000">
                                          <p:val>
                                            <p:strVal val="#ppt_y"/>
                                          </p:val>
                                        </p:tav>
                                      </p:tavLst>
                                    </p:anim>
                                  </p:childTnLst>
                                </p:cTn>
                              </p:par>
                              <p:par>
                                <p:cTn id="20" presetID="10" presetClass="entr" presetSubtype="0" fill="hold" nodeType="withEffect">
                                  <p:stCondLst>
                                    <p:cond delay="15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600"/>
                                        <p:tgtEl>
                                          <p:spTgt spid="9"/>
                                        </p:tgtEl>
                                      </p:cBhvr>
                                    </p:animEffect>
                                    <p:anim calcmode="lin" valueType="num">
                                      <p:cBhvr additive="base">
                                        <p:cTn id="19" dur="600" fill="hold"/>
                                        <p:tgtEl>
                                          <p:spTgt spid="9"/>
                                        </p:tgtEl>
                                        <p:attrNameLst>
                                          <p:attrName>ppt_y</p:attrName>
                                        </p:attrNameLst>
                                      </p:cBhvr>
                                      <p:tavLst>
                                        <p:tav tm="0">
                                          <p:val>
                                            <p:strVal val="#ppt_y+0.04"/>
                                          </p:val>
                                        </p:tav>
                                        <p:tav tm="100000">
                                          <p:val>
                                            <p:strVal val="#ppt_y"/>
                                          </p:val>
                                        </p:tav>
                                      </p:tavLst>
                                    </p:anim>
                                  </p:childTnLst>
                                </p:cTn>
                              </p:par>
                              <p:par>
                                <p:cTn id="24" presetID="10" presetClass="entr" presetSubtype="0" fill="hold" nodeType="withEffect">
                                  <p:stCondLst>
                                    <p:cond delay="43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600"/>
                                        <p:tgtEl>
                                          <p:spTgt spid="10"/>
                                        </p:tgtEl>
                                      </p:cBhvr>
                                    </p:animEffect>
                                    <p:anim calcmode="lin" valueType="num">
                                      <p:cBhvr additive="base">
                                        <p:cTn id="23" dur="600" fill="hold"/>
                                        <p:tgtEl>
                                          <p:spTgt spid="10"/>
                                        </p:tgtEl>
                                        <p:attrNameLst>
                                          <p:attrName>ppt_y</p:attrName>
                                        </p:attrNameLst>
                                      </p:cBhvr>
                                      <p:tavLst>
                                        <p:tav tm="0">
                                          <p:val>
                                            <p:strVal val="#ppt_y+0.04"/>
                                          </p:val>
                                        </p:tav>
                                        <p:tav tm="100000">
                                          <p:val>
                                            <p:strVal val="#ppt_y"/>
                                          </p:val>
                                        </p:tav>
                                      </p:tavLst>
                                    </p:anim>
                                  </p:childTnLst>
                                </p:cTn>
                              </p:par>
                              <p:par>
                                <p:cTn id="28" presetID="10" presetClass="entr" presetSubtype="0" fill="hold" nodeType="withEffect">
                                  <p:stCondLst>
                                    <p:cond delay="43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600"/>
                                        <p:tgtEl>
                                          <p:spTgt spid="11"/>
                                        </p:tgtEl>
                                      </p:cBhvr>
                                    </p:animEffect>
                                    <p:anim calcmode="lin" valueType="num">
                                      <p:cBhvr additive="base">
                                        <p:cTn id="27" dur="600" fill="hold"/>
                                        <p:tgtEl>
                                          <p:spTgt spid="11"/>
                                        </p:tgtEl>
                                        <p:attrNameLst>
                                          <p:attrName>ppt_y</p:attrName>
                                        </p:attrNameLst>
                                      </p:cBhvr>
                                      <p:tavLst>
                                        <p:tav tm="0">
                                          <p:val>
                                            <p:strVal val="#ppt_y+0.04"/>
                                          </p:val>
                                        </p:tav>
                                        <p:tav tm="100000">
                                          <p:val>
                                            <p:strVal val="#ppt_y"/>
                                          </p:val>
                                        </p:tav>
                                      </p:tavLst>
                                    </p:anim>
                                  </p:childTnLst>
                                </p:cTn>
                              </p:par>
                              <p:par>
                                <p:cTn id="32" presetID="10" presetClass="entr" presetSubtype="0" fill="hold" nodeType="withEffect">
                                  <p:stCondLst>
                                    <p:cond delay="43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600"/>
                                        <p:tgtEl>
                                          <p:spTgt spid="12"/>
                                        </p:tgtEl>
                                      </p:cBhvr>
                                    </p:animEffect>
                                    <p:anim calcmode="lin" valueType="num">
                                      <p:cBhvr additive="base">
                                        <p:cTn id="31" dur="600" fill="hold"/>
                                        <p:tgtEl>
                                          <p:spTgt spid="12"/>
                                        </p:tgtEl>
                                        <p:attrNameLst>
                                          <p:attrName>ppt_y</p:attrName>
                                        </p:attrNameLst>
                                      </p:cBhvr>
                                      <p:tavLst>
                                        <p:tav tm="0">
                                          <p:val>
                                            <p:strVal val="#ppt_y+0.04"/>
                                          </p:val>
                                        </p:tav>
                                        <p:tav tm="100000">
                                          <p:val>
                                            <p:strVal val="#ppt_y"/>
                                          </p:val>
                                        </p:tav>
                                      </p:tavLst>
                                    </p:anim>
                                  </p:childTnLst>
                                </p:cTn>
                              </p:par>
                              <p:par>
                                <p:cTn id="36" presetID="10" presetClass="entr" presetSubtype="0" fill="hold" nodeType="withEffect">
                                  <p:stCondLst>
                                    <p:cond delay="43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p:tgtEl>
                                          <p:spTgt spid="13"/>
                                        </p:tgtEl>
                                      </p:cBhvr>
                                    </p:animEffect>
                                    <p:anim calcmode="lin" valueType="num">
                                      <p:cBhvr additive="base">
                                        <p:cTn id="35" dur="600" fill="hold"/>
                                        <p:tgtEl>
                                          <p:spTgt spid="13"/>
                                        </p:tgtEl>
                                        <p:attrNameLst>
                                          <p:attrName>ppt_y</p:attrName>
                                        </p:attrNameLst>
                                      </p:cBhvr>
                                      <p:tavLst>
                                        <p:tav tm="0">
                                          <p:val>
                                            <p:strVal val="#ppt_y+0.04"/>
                                          </p:val>
                                        </p:tav>
                                        <p:tav tm="100000">
                                          <p:val>
                                            <p:strVal val="#ppt_y"/>
                                          </p:val>
                                        </p:tav>
                                      </p:tavLst>
                                    </p:anim>
                                  </p:childTnLst>
                                </p:cTn>
                              </p:par>
                              <p:par>
                                <p:cTn id="40" presetID="10" presetClass="entr" presetSubtype="0" fill="hold" nodeType="withEffect">
                                  <p:stCondLst>
                                    <p:cond delay="43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600"/>
                                        <p:tgtEl>
                                          <p:spTgt spid="14"/>
                                        </p:tgtEl>
                                      </p:cBhvr>
                                    </p:animEffect>
                                    <p:anim calcmode="lin" valueType="num">
                                      <p:cBhvr additive="base">
                                        <p:cTn id="39" dur="600" fill="hold"/>
                                        <p:tgtEl>
                                          <p:spTgt spid="14"/>
                                        </p:tgtEl>
                                        <p:attrNameLst>
                                          <p:attrName>ppt_y</p:attrName>
                                        </p:attrNameLst>
                                      </p:cBhvr>
                                      <p:tavLst>
                                        <p:tav tm="0">
                                          <p:val>
                                            <p:strVal val="#ppt_y+0.04"/>
                                          </p:val>
                                        </p:tav>
                                        <p:tav tm="100000">
                                          <p:val>
                                            <p:strVal val="#ppt_y"/>
                                          </p:val>
                                        </p:tav>
                                      </p:tavLst>
                                    </p:anim>
                                  </p:childTnLst>
                                </p:cTn>
                              </p:par>
                              <p:par>
                                <p:cTn id="44" presetID="10" presetClass="entr" presetSubtype="0" fill="hold" nodeType="withEffect">
                                  <p:stCondLst>
                                    <p:cond delay="43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anim calcmode="lin" valueType="num">
                                      <p:cBhvr additive="base">
                                        <p:cTn id="43" dur="600" fill="hold"/>
                                        <p:tgtEl>
                                          <p:spTgt spid="15"/>
                                        </p:tgtEl>
                                        <p:attrNameLst>
                                          <p:attrName>ppt_y</p:attrName>
                                        </p:attrNameLst>
                                      </p:cBhvr>
                                      <p:tavLst>
                                        <p:tav tm="0">
                                          <p:val>
                                            <p:strVal val="#ppt_y+0.04"/>
                                          </p:val>
                                        </p:tav>
                                        <p:tav tm="100000">
                                          <p:val>
                                            <p:strVal val="#ppt_y"/>
                                          </p:val>
                                        </p:tav>
                                      </p:tavLst>
                                    </p:anim>
                                  </p:childTnLst>
                                </p:cTn>
                              </p:par>
                              <p:par>
                                <p:cTn id="48" presetID="10" presetClass="entr" presetSubtype="0" fill="hold" nodeType="withEffect">
                                  <p:stCondLst>
                                    <p:cond delay="43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600"/>
                                        <p:tgtEl>
                                          <p:spTgt spid="16"/>
                                        </p:tgtEl>
                                      </p:cBhvr>
                                    </p:animEffect>
                                    <p:anim calcmode="lin" valueType="num">
                                      <p:cBhvr additive="base">
                                        <p:cTn id="47" dur="600" fill="hold"/>
                                        <p:tgtEl>
                                          <p:spTgt spid="16"/>
                                        </p:tgtEl>
                                        <p:attrNameLst>
                                          <p:attrName>ppt_y</p:attrName>
                                        </p:attrNameLst>
                                      </p:cBhvr>
                                      <p:tavLst>
                                        <p:tav tm="0">
                                          <p:val>
                                            <p:strVal val="#ppt_y+0.04"/>
                                          </p:val>
                                        </p:tav>
                                        <p:tav tm="100000">
                                          <p:val>
                                            <p:strVal val="#ppt_y"/>
                                          </p:val>
                                        </p:tav>
                                      </p:tavLst>
                                    </p:anim>
                                  </p:childTnLst>
                                </p:cTn>
                              </p:par>
                              <p:par>
                                <p:cTn id="52" presetID="10" presetClass="entr" presetSubtype="0" fill="hold" nodeType="withEffect">
                                  <p:stCondLst>
                                    <p:cond delay="43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600"/>
                                        <p:tgtEl>
                                          <p:spTgt spid="17"/>
                                        </p:tgtEl>
                                      </p:cBhvr>
                                    </p:animEffect>
                                    <p:anim calcmode="lin" valueType="num">
                                      <p:cBhvr additive="base">
                                        <p:cTn id="51" dur="600" fill="hold"/>
                                        <p:tgtEl>
                                          <p:spTgt spid="17"/>
                                        </p:tgtEl>
                                        <p:attrNameLst>
                                          <p:attrName>ppt_y</p:attrName>
                                        </p:attrNameLst>
                                      </p:cBhvr>
                                      <p:tavLst>
                                        <p:tav tm="0">
                                          <p:val>
                                            <p:strVal val="#ppt_y+0.04"/>
                                          </p:val>
                                        </p:tav>
                                        <p:tav tm="100000">
                                          <p:val>
                                            <p:strVal val="#ppt_y"/>
                                          </p:val>
                                        </p:tav>
                                      </p:tavLst>
                                    </p:anim>
                                  </p:childTnLst>
                                </p:cTn>
                              </p:par>
                              <p:par>
                                <p:cTn id="56" presetID="10" presetClass="entr" presetSubtype="0" fill="hold" nodeType="withEffect">
                                  <p:stCondLst>
                                    <p:cond delay="43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600"/>
                                        <p:tgtEl>
                                          <p:spTgt spid="18"/>
                                        </p:tgtEl>
                                      </p:cBhvr>
                                    </p:animEffect>
                                    <p:anim calcmode="lin" valueType="num">
                                      <p:cBhvr additive="base">
                                        <p:cTn id="55" dur="600" fill="hold"/>
                                        <p:tgtEl>
                                          <p:spTgt spid="18"/>
                                        </p:tgtEl>
                                        <p:attrNameLst>
                                          <p:attrName>ppt_y</p:attrName>
                                        </p:attrNameLst>
                                      </p:cBhvr>
                                      <p:tavLst>
                                        <p:tav tm="0">
                                          <p:val>
                                            <p:strVal val="#ppt_y+0.04"/>
                                          </p:val>
                                        </p:tav>
                                        <p:tav tm="100000">
                                          <p:val>
                                            <p:strVal val="#ppt_y"/>
                                          </p:val>
                                        </p:tav>
                                      </p:tavLst>
                                    </p:anim>
                                  </p:childTnLst>
                                </p:cTn>
                              </p:par>
                              <p:par>
                                <p:cTn id="60" presetID="10" presetClass="entr" presetSubtype="0" fill="hold" nodeType="withEffect">
                                  <p:stCondLst>
                                    <p:cond delay="71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600"/>
                                        <p:tgtEl>
                                          <p:spTgt spid="19"/>
                                        </p:tgtEl>
                                      </p:cBhvr>
                                    </p:animEffect>
                                    <p:anim calcmode="lin" valueType="num">
                                      <p:cBhvr additive="base">
                                        <p:cTn id="59" dur="600" fill="hold"/>
                                        <p:tgtEl>
                                          <p:spTgt spid="19"/>
                                        </p:tgtEl>
                                        <p:attrNameLst>
                                          <p:attrName>ppt_y</p:attrName>
                                        </p:attrNameLst>
                                      </p:cBhvr>
                                      <p:tavLst>
                                        <p:tav tm="0">
                                          <p:val>
                                            <p:strVal val="#ppt_y+0.04"/>
                                          </p:val>
                                        </p:tav>
                                        <p:tav tm="100000">
                                          <p:val>
                                            <p:strVal val="#ppt_y"/>
                                          </p:val>
                                        </p:tav>
                                      </p:tavLst>
                                    </p:anim>
                                  </p:childTnLst>
                                </p:cTn>
                              </p:par>
                              <p:par>
                                <p:cTn id="64" presetID="10" presetClass="entr" presetSubtype="0" fill="hold" nodeType="withEffect">
                                  <p:stCondLst>
                                    <p:cond delay="71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600"/>
                                        <p:tgtEl>
                                          <p:spTgt spid="20"/>
                                        </p:tgtEl>
                                      </p:cBhvr>
                                    </p:animEffect>
                                    <p:anim calcmode="lin" valueType="num">
                                      <p:cBhvr additive="base">
                                        <p:cTn id="63" dur="600" fill="hold"/>
                                        <p:tgtEl>
                                          <p:spTgt spid="20"/>
                                        </p:tgtEl>
                                        <p:attrNameLst>
                                          <p:attrName>ppt_y</p:attrName>
                                        </p:attrNameLst>
                                      </p:cBhvr>
                                      <p:tavLst>
                                        <p:tav tm="0">
                                          <p:val>
                                            <p:strVal val="#ppt_y+0.04"/>
                                          </p:val>
                                        </p:tav>
                                        <p:tav tm="100000">
                                          <p:val>
                                            <p:strVal val="#ppt_y"/>
                                          </p:val>
                                        </p:tav>
                                      </p:tavLst>
                                    </p:anim>
                                  </p:childTnLst>
                                </p:cTn>
                              </p:par>
                              <p:par>
                                <p:cTn id="68" presetID="10" presetClass="entr" presetSubtype="0" fill="hold" nodeType="withEffect">
                                  <p:stCondLst>
                                    <p:cond delay="71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600"/>
                                        <p:tgtEl>
                                          <p:spTgt spid="21"/>
                                        </p:tgtEl>
                                      </p:cBhvr>
                                    </p:animEffect>
                                    <p:anim calcmode="lin" valueType="num">
                                      <p:cBhvr additive="base">
                                        <p:cTn id="67" dur="600" fill="hold"/>
                                        <p:tgtEl>
                                          <p:spTgt spid="21"/>
                                        </p:tgtEl>
                                        <p:attrNameLst>
                                          <p:attrName>ppt_y</p:attrName>
                                        </p:attrNameLst>
                                      </p:cBhvr>
                                      <p:tavLst>
                                        <p:tav tm="0">
                                          <p:val>
                                            <p:strVal val="#ppt_y+0.04"/>
                                          </p:val>
                                        </p:tav>
                                        <p:tav tm="100000">
                                          <p:val>
                                            <p:strVal val="#ppt_y"/>
                                          </p:val>
                                        </p:tav>
                                      </p:tavLst>
                                    </p:anim>
                                  </p:childTnLst>
                                </p:cTn>
                              </p:par>
                              <p:par>
                                <p:cTn id="72" presetID="10" presetClass="entr" presetSubtype="0" fill="hold" nodeType="withEffect">
                                  <p:stCondLst>
                                    <p:cond delay="71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600"/>
                                        <p:tgtEl>
                                          <p:spTgt spid="22"/>
                                        </p:tgtEl>
                                      </p:cBhvr>
                                    </p:animEffect>
                                    <p:anim calcmode="lin" valueType="num">
                                      <p:cBhvr additive="base">
                                        <p:cTn id="71" dur="600" fill="hold"/>
                                        <p:tgtEl>
                                          <p:spTgt spid="22"/>
                                        </p:tgtEl>
                                        <p:attrNameLst>
                                          <p:attrName>ppt_y</p:attrName>
                                        </p:attrNameLst>
                                      </p:cBhvr>
                                      <p:tavLst>
                                        <p:tav tm="0">
                                          <p:val>
                                            <p:strVal val="#ppt_y+0.04"/>
                                          </p:val>
                                        </p:tav>
                                        <p:tav tm="100000">
                                          <p:val>
                                            <p:strVal val="#ppt_y"/>
                                          </p:val>
                                        </p:tav>
                                      </p:tavLst>
                                    </p:anim>
                                  </p:childTnLst>
                                </p:cTn>
                              </p:par>
                              <p:par>
                                <p:cTn id="76" presetID="10" presetClass="entr" presetSubtype="0" fill="hold" nodeType="withEffect">
                                  <p:stCondLst>
                                    <p:cond delay="99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600"/>
                                        <p:tgtEl>
                                          <p:spTgt spid="23"/>
                                        </p:tgtEl>
                                      </p:cBhvr>
                                    </p:animEffect>
                                    <p:anim calcmode="lin" valueType="num">
                                      <p:cBhvr additive="base">
                                        <p:cTn id="75" dur="600" fill="hold"/>
                                        <p:tgtEl>
                                          <p:spTgt spid="23"/>
                                        </p:tgtEl>
                                        <p:attrNameLst>
                                          <p:attrName>ppt_y</p:attrName>
                                        </p:attrNameLst>
                                      </p:cBhvr>
                                      <p:tavLst>
                                        <p:tav tm="0">
                                          <p:val>
                                            <p:strVal val="#ppt_y+0.04"/>
                                          </p:val>
                                        </p:tav>
                                        <p:tav tm="100000">
                                          <p:val>
                                            <p:strVal val="#ppt_y"/>
                                          </p:val>
                                        </p:tav>
                                      </p:tavLst>
                                    </p:anim>
                                  </p:childTnLst>
                                </p:cTn>
                              </p:par>
                              <p:par>
                                <p:cTn id="80" presetID="10" presetClass="entr" presetSubtype="0" fill="hold" nodeType="withEffect">
                                  <p:stCondLst>
                                    <p:cond delay="990"/>
                                  </p:stCondLst>
                                  <p:childTnLst>
                                    <p:set>
                                      <p:cBhvr>
                                        <p:cTn id="77" dur="1" fill="hold">
                                          <p:stCondLst>
                                            <p:cond delay="0"/>
                                          </p:stCondLst>
                                        </p:cTn>
                                        <p:tgtEl>
                                          <p:spTgt spid="24"/>
                                        </p:tgtEl>
                                        <p:attrNameLst>
                                          <p:attrName>style.visibility</p:attrName>
                                        </p:attrNameLst>
                                      </p:cBhvr>
                                      <p:to>
                                        <p:strVal val="visible"/>
                                      </p:to>
                                    </p:set>
                                    <p:animEffect transition="in" filter="fade">
                                      <p:cBhvr>
                                        <p:cTn id="78" dur="600"/>
                                        <p:tgtEl>
                                          <p:spTgt spid="24"/>
                                        </p:tgtEl>
                                      </p:cBhvr>
                                    </p:animEffect>
                                    <p:anim calcmode="lin" valueType="num">
                                      <p:cBhvr additive="base">
                                        <p:cTn id="79" dur="600" fill="hold"/>
                                        <p:tgtEl>
                                          <p:spTgt spid="24"/>
                                        </p:tgtEl>
                                        <p:attrNameLst>
                                          <p:attrName>ppt_y</p:attrName>
                                        </p:attrNameLst>
                                      </p:cBhvr>
                                      <p:tavLst>
                                        <p:tav tm="0">
                                          <p:val>
                                            <p:strVal val="#ppt_y+0.04"/>
                                          </p:val>
                                        </p:tav>
                                        <p:tav tm="100000">
                                          <p:val>
                                            <p:strVal val="#ppt_y"/>
                                          </p:val>
                                        </p:tav>
                                      </p:tavLst>
                                    </p:anim>
                                  </p:childTnLst>
                                </p:cTn>
                              </p:par>
                              <p:par>
                                <p:cTn id="84" presetID="10" presetClass="entr" presetSubtype="0" fill="hold" nodeType="withEffect">
                                  <p:stCondLst>
                                    <p:cond delay="990"/>
                                  </p:stCondLst>
                                  <p:childTnLst>
                                    <p:set>
                                      <p:cBhvr>
                                        <p:cTn id="81" dur="1" fill="hold">
                                          <p:stCondLst>
                                            <p:cond delay="0"/>
                                          </p:stCondLst>
                                        </p:cTn>
                                        <p:tgtEl>
                                          <p:spTgt spid="25"/>
                                        </p:tgtEl>
                                        <p:attrNameLst>
                                          <p:attrName>style.visibility</p:attrName>
                                        </p:attrNameLst>
                                      </p:cBhvr>
                                      <p:to>
                                        <p:strVal val="visible"/>
                                      </p:to>
                                    </p:set>
                                    <p:animEffect transition="in" filter="fade">
                                      <p:cBhvr>
                                        <p:cTn id="82" dur="600"/>
                                        <p:tgtEl>
                                          <p:spTgt spid="25"/>
                                        </p:tgtEl>
                                      </p:cBhvr>
                                    </p:animEffect>
                                    <p:anim calcmode="lin" valueType="num">
                                      <p:cBhvr additive="base">
                                        <p:cTn id="83" dur="600" fill="hold"/>
                                        <p:tgtEl>
                                          <p:spTgt spid="25"/>
                                        </p:tgtEl>
                                        <p:attrNameLst>
                                          <p:attrName>ppt_y</p:attrName>
                                        </p:attrNameLst>
                                      </p:cBhvr>
                                      <p:tavLst>
                                        <p:tav tm="0">
                                          <p:val>
                                            <p:strVal val="#ppt_y+0.04"/>
                                          </p:val>
                                        </p:tav>
                                        <p:tav tm="100000">
                                          <p:val>
                                            <p:strVal val="#ppt_y"/>
                                          </p:val>
                                        </p:tav>
                                      </p:tavLst>
                                    </p:anim>
                                  </p:childTnLst>
                                </p:cTn>
                              </p:par>
                              <p:par>
                                <p:cTn id="88" presetID="10" presetClass="entr" presetSubtype="0" fill="hold" nodeType="withEffect">
                                  <p:stCondLst>
                                    <p:cond delay="990"/>
                                  </p:stCondLst>
                                  <p:childTnLst>
                                    <p:set>
                                      <p:cBhvr>
                                        <p:cTn id="85" dur="1" fill="hold">
                                          <p:stCondLst>
                                            <p:cond delay="0"/>
                                          </p:stCondLst>
                                        </p:cTn>
                                        <p:tgtEl>
                                          <p:spTgt spid="26"/>
                                        </p:tgtEl>
                                        <p:attrNameLst>
                                          <p:attrName>style.visibility</p:attrName>
                                        </p:attrNameLst>
                                      </p:cBhvr>
                                      <p:to>
                                        <p:strVal val="visible"/>
                                      </p:to>
                                    </p:set>
                                    <p:animEffect transition="in" filter="fade">
                                      <p:cBhvr>
                                        <p:cTn id="86" dur="600"/>
                                        <p:tgtEl>
                                          <p:spTgt spid="26"/>
                                        </p:tgtEl>
                                      </p:cBhvr>
                                    </p:animEffect>
                                    <p:anim calcmode="lin" valueType="num">
                                      <p:cBhvr additive="base">
                                        <p:cTn id="87" dur="600" fill="hold"/>
                                        <p:tgtEl>
                                          <p:spTgt spid="26"/>
                                        </p:tgtEl>
                                        <p:attrNameLst>
                                          <p:attrName>ppt_y</p:attrName>
                                        </p:attrNameLst>
                                      </p:cBhvr>
                                      <p:tavLst>
                                        <p:tav tm="0">
                                          <p:val>
                                            <p:strVal val="#ppt_y+0.04"/>
                                          </p:val>
                                        </p:tav>
                                        <p:tav tm="100000">
                                          <p:val>
                                            <p:strVal val="#ppt_y"/>
                                          </p:val>
                                        </p:tav>
                                      </p:tavLst>
                                    </p:anim>
                                  </p:childTnLst>
                                </p:cTn>
                              </p:par>
                              <p:par>
                                <p:cTn id="92" presetID="10" presetClass="entr" presetSubtype="0" fill="hold" nodeType="withEffect">
                                  <p:stCondLst>
                                    <p:cond delay="990"/>
                                  </p:stCondLst>
                                  <p:childTnLst>
                                    <p:set>
                                      <p:cBhvr>
                                        <p:cTn id="89" dur="1" fill="hold">
                                          <p:stCondLst>
                                            <p:cond delay="0"/>
                                          </p:stCondLst>
                                        </p:cTn>
                                        <p:tgtEl>
                                          <p:spTgt spid="27"/>
                                        </p:tgtEl>
                                        <p:attrNameLst>
                                          <p:attrName>style.visibility</p:attrName>
                                        </p:attrNameLst>
                                      </p:cBhvr>
                                      <p:to>
                                        <p:strVal val="visible"/>
                                      </p:to>
                                    </p:set>
                                    <p:animEffect transition="in" filter="fade">
                                      <p:cBhvr>
                                        <p:cTn id="90" dur="600"/>
                                        <p:tgtEl>
                                          <p:spTgt spid="27"/>
                                        </p:tgtEl>
                                      </p:cBhvr>
                                    </p:animEffect>
                                    <p:anim calcmode="lin" valueType="num">
                                      <p:cBhvr additive="base">
                                        <p:cTn id="91" dur="600" fill="hold"/>
                                        <p:tgtEl>
                                          <p:spTgt spid="27"/>
                                        </p:tgtEl>
                                        <p:attrNameLst>
                                          <p:attrName>ppt_y</p:attrName>
                                        </p:attrNameLst>
                                      </p:cBhvr>
                                      <p:tavLst>
                                        <p:tav tm="0">
                                          <p:val>
                                            <p:strVal val="#ppt_y+0.04"/>
                                          </p:val>
                                        </p:tav>
                                        <p:tav tm="100000">
                                          <p:val>
                                            <p:strVal val="#ppt_y"/>
                                          </p:val>
                                        </p:tav>
                                      </p:tavLst>
                                    </p:anim>
                                  </p:childTnLst>
                                </p:cTn>
                              </p:par>
                              <p:par>
                                <p:cTn id="96" presetID="10" presetClass="entr" presetSubtype="0" fill="hold" nodeType="withEffect">
                                  <p:stCondLst>
                                    <p:cond delay="990"/>
                                  </p:stCondLst>
                                  <p:childTnLst>
                                    <p:set>
                                      <p:cBhvr>
                                        <p:cTn id="93" dur="1" fill="hold">
                                          <p:stCondLst>
                                            <p:cond delay="0"/>
                                          </p:stCondLst>
                                        </p:cTn>
                                        <p:tgtEl>
                                          <p:spTgt spid="28"/>
                                        </p:tgtEl>
                                        <p:attrNameLst>
                                          <p:attrName>style.visibility</p:attrName>
                                        </p:attrNameLst>
                                      </p:cBhvr>
                                      <p:to>
                                        <p:strVal val="visible"/>
                                      </p:to>
                                    </p:set>
                                    <p:animEffect transition="in" filter="fade">
                                      <p:cBhvr>
                                        <p:cTn id="94" dur="600"/>
                                        <p:tgtEl>
                                          <p:spTgt spid="28"/>
                                        </p:tgtEl>
                                      </p:cBhvr>
                                    </p:animEffect>
                                    <p:anim calcmode="lin" valueType="num">
                                      <p:cBhvr additive="base">
                                        <p:cTn id="95" dur="600" fill="hold"/>
                                        <p:tgtEl>
                                          <p:spTgt spid="28"/>
                                        </p:tgtEl>
                                        <p:attrNameLst>
                                          <p:attrName>ppt_y</p:attrName>
                                        </p:attrNameLst>
                                      </p:cBhvr>
                                      <p:tavLst>
                                        <p:tav tm="0">
                                          <p:val>
                                            <p:strVal val="#ppt_y+0.04"/>
                                          </p:val>
                                        </p:tav>
                                        <p:tav tm="100000">
                                          <p:val>
                                            <p:strVal val="#ppt_y"/>
                                          </p:val>
                                        </p:tav>
                                      </p:tavLst>
                                    </p:anim>
                                  </p:childTnLst>
                                </p:cTn>
                              </p:par>
                              <p:par>
                                <p:cTn id="100" presetID="10" presetClass="entr" presetSubtype="0" fill="hold" nodeType="withEffect">
                                  <p:stCondLst>
                                    <p:cond delay="990"/>
                                  </p:stCondLst>
                                  <p:childTnLst>
                                    <p:set>
                                      <p:cBhvr>
                                        <p:cTn id="97" dur="1" fill="hold">
                                          <p:stCondLst>
                                            <p:cond delay="0"/>
                                          </p:stCondLst>
                                        </p:cTn>
                                        <p:tgtEl>
                                          <p:spTgt spid="29"/>
                                        </p:tgtEl>
                                        <p:attrNameLst>
                                          <p:attrName>style.visibility</p:attrName>
                                        </p:attrNameLst>
                                      </p:cBhvr>
                                      <p:to>
                                        <p:strVal val="visible"/>
                                      </p:to>
                                    </p:set>
                                    <p:animEffect transition="in" filter="fade">
                                      <p:cBhvr>
                                        <p:cTn id="98" dur="600"/>
                                        <p:tgtEl>
                                          <p:spTgt spid="29"/>
                                        </p:tgtEl>
                                      </p:cBhvr>
                                    </p:animEffect>
                                    <p:anim calcmode="lin" valueType="num">
                                      <p:cBhvr additive="base">
                                        <p:cTn id="99" dur="600" fill="hold"/>
                                        <p:tgtEl>
                                          <p:spTgt spid="29"/>
                                        </p:tgtEl>
                                        <p:attrNameLst>
                                          <p:attrName>ppt_y</p:attrName>
                                        </p:attrNameLst>
                                      </p:cBhvr>
                                      <p:tavLst>
                                        <p:tav tm="0">
                                          <p:val>
                                            <p:strVal val="#ppt_y+0.04"/>
                                          </p:val>
                                        </p:tav>
                                        <p:tav tm="100000">
                                          <p:val>
                                            <p:strVal val="#ppt_y"/>
                                          </p:val>
                                        </p:tav>
                                      </p:tavLst>
                                    </p:anim>
                                  </p:childTnLst>
                                </p:cTn>
                              </p:par>
                              <p:par>
                                <p:cTn id="104" presetID="10" presetClass="entr" presetSubtype="0" fill="hold" nodeType="withEffect">
                                  <p:stCondLst>
                                    <p:cond delay="990"/>
                                  </p:stCondLst>
                                  <p:childTnLst>
                                    <p:set>
                                      <p:cBhvr>
                                        <p:cTn id="101" dur="1" fill="hold">
                                          <p:stCondLst>
                                            <p:cond delay="0"/>
                                          </p:stCondLst>
                                        </p:cTn>
                                        <p:tgtEl>
                                          <p:spTgt spid="30"/>
                                        </p:tgtEl>
                                        <p:attrNameLst>
                                          <p:attrName>style.visibility</p:attrName>
                                        </p:attrNameLst>
                                      </p:cBhvr>
                                      <p:to>
                                        <p:strVal val="visible"/>
                                      </p:to>
                                    </p:set>
                                    <p:animEffect transition="in" filter="fade">
                                      <p:cBhvr>
                                        <p:cTn id="102" dur="600"/>
                                        <p:tgtEl>
                                          <p:spTgt spid="30"/>
                                        </p:tgtEl>
                                      </p:cBhvr>
                                    </p:animEffect>
                                    <p:anim calcmode="lin" valueType="num">
                                      <p:cBhvr additive="base">
                                        <p:cTn id="103" dur="600" fill="hold"/>
                                        <p:tgtEl>
                                          <p:spTgt spid="30"/>
                                        </p:tgtEl>
                                        <p:attrNameLst>
                                          <p:attrName>ppt_y</p:attrName>
                                        </p:attrNameLst>
                                      </p:cBhvr>
                                      <p:tavLst>
                                        <p:tav tm="0">
                                          <p:val>
                                            <p:strVal val="#ppt_y+0.04"/>
                                          </p:val>
                                        </p:tav>
                                        <p:tav tm="100000">
                                          <p:val>
                                            <p:strVal val="#ppt_y"/>
                                          </p:val>
                                        </p:tav>
                                      </p:tavLst>
                                    </p:anim>
                                  </p:childTnLst>
                                </p:cTn>
                              </p:par>
                              <p:par>
                                <p:cTn id="108" presetID="10" presetClass="entr" presetSubtype="0" fill="hold" nodeType="withEffect">
                                  <p:stCondLst>
                                    <p:cond delay="990"/>
                                  </p:stCondLst>
                                  <p:childTnLst>
                                    <p:set>
                                      <p:cBhvr>
                                        <p:cTn id="105" dur="1" fill="hold">
                                          <p:stCondLst>
                                            <p:cond delay="0"/>
                                          </p:stCondLst>
                                        </p:cTn>
                                        <p:tgtEl>
                                          <p:spTgt spid="31"/>
                                        </p:tgtEl>
                                        <p:attrNameLst>
                                          <p:attrName>style.visibility</p:attrName>
                                        </p:attrNameLst>
                                      </p:cBhvr>
                                      <p:to>
                                        <p:strVal val="visible"/>
                                      </p:to>
                                    </p:set>
                                    <p:animEffect transition="in" filter="fade">
                                      <p:cBhvr>
                                        <p:cTn id="106" dur="600"/>
                                        <p:tgtEl>
                                          <p:spTgt spid="31"/>
                                        </p:tgtEl>
                                      </p:cBhvr>
                                    </p:animEffect>
                                    <p:anim calcmode="lin" valueType="num">
                                      <p:cBhvr additive="base">
                                        <p:cTn id="107" dur="600" fill="hold"/>
                                        <p:tgtEl>
                                          <p:spTgt spid="31"/>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mc:Ignorable="p14 p159">
  <p:cSld name="Slide 6">
    <p:bg>
      <p:bgPr>
        <a:solidFill>
          <a:srgbClr val="FCFBF7"/>
        </a:solidFill>
      </p:bgPr>
    </p:bg>
    <p:spTree>
      <p:nvGrpSpPr>
        <p:cNvPr id="1" name=""/>
        <p:cNvGrpSpPr/>
        <p:nvPr/>
      </p:nvGrpSpPr>
      <p:grpSpPr>
        <a:xfrm>
          <a:off x="0" y="0"/>
          <a:ext cx="0" cy="0"/>
          <a:chOff x="0" y="0"/>
          <a:chExt cx="0" cy="0"/>
        </a:xfrm>
      </p:grpSpPr>
      <p:pic>
        <p:nvPicPr>
          <p:cNvPr id="2" name="!!blobOrange" descr="preencoded.png">    </p:cNvPr>
          <p:cNvPicPr>
            <a:picLocks noChangeAspect="1"/>
          </p:cNvPicPr>
          <p:nvPr/>
        </p:nvPicPr>
        <p:blipFill>
          <a:blip r:embed="rId1"/>
          <a:stretch>
            <a:fillRect/>
          </a:stretch>
        </p:blipFill>
        <p:spPr>
          <a:xfrm>
            <a:off x="9144000" y="3291840"/>
            <a:ext cx="5486400" cy="5486400"/>
          </a:xfrm>
          <a:prstGeom prst="rect">
            <a:avLst/>
          </a:prstGeom>
        </p:spPr>
      </p:pic>
      <p:pic>
        <p:nvPicPr>
          <p:cNvPr id="3" name="!!blobGreen" descr="preencoded.png">    </p:cNvPr>
          <p:cNvPicPr>
            <a:picLocks noChangeAspect="1"/>
          </p:cNvPicPr>
          <p:nvPr/>
        </p:nvPicPr>
        <p:blipFill>
          <a:blip r:embed="rId2"/>
          <a:stretch>
            <a:fillRect/>
          </a:stretch>
        </p:blipFill>
        <p:spPr>
          <a:xfrm>
            <a:off x="-2377440" y="-2560320"/>
            <a:ext cx="5943600" cy="5943600"/>
          </a:xfrm>
          <a:prstGeom prst="rect">
            <a:avLst/>
          </a:prstGeom>
        </p:spPr>
      </p:pic>
      <p:sp>
        <p:nvSpPr>
          <p:cNvPr id="4" name="!!kicker"/>
          <p:cNvSpPr txBox="1"/>
          <p:nvPr/>
        </p:nvSpPr>
        <p:spPr>
          <a:xfrm>
            <a:off x="640080" y="228600"/>
            <a:ext cx="7315200" cy="274320"/>
          </a:xfrm>
          <a:prstGeom prst="rect">
            <a:avLst/>
          </a:prstGeom>
          <a:noFill/>
          <a:ln/>
        </p:spPr>
        <p:txBody>
          <a:bodyPr wrap="square" lIns="0" tIns="0" rIns="0" bIns="0" rtlCol="0" anchor="ctr"/>
          <a:lstStyle/>
          <a:p>
            <a:pPr indent="0" marL="0">
              <a:buNone/>
            </a:pPr>
            <a:r>
              <a:rPr lang="en-US" sz="1100" b="1" spc="300" kern="0" dirty="0">
                <a:solidFill>
                  <a:srgbClr val="BF5320"/>
                </a:solidFill>
                <a:latin typeface="Calibri" pitchFamily="34" charset="0"/>
                <a:ea typeface="Calibri" pitchFamily="34" charset="-122"/>
                <a:cs typeface="Calibri" pitchFamily="34" charset="-120"/>
              </a:rPr>
              <a:t>THE SOLUTION</a:t>
            </a:r>
            <a:endParaRPr lang="en-US" sz="1100" dirty="0"/>
          </a:p>
        </p:txBody>
      </p:sp>
      <p:sp>
        <p:nvSpPr>
          <p:cNvPr id="5" name="!!title"/>
          <p:cNvSpPr txBox="1"/>
          <p:nvPr/>
        </p:nvSpPr>
        <p:spPr>
          <a:xfrm>
            <a:off x="640080" y="502920"/>
            <a:ext cx="10881360" cy="914400"/>
          </a:xfrm>
          <a:prstGeom prst="rect">
            <a:avLst/>
          </a:prstGeom>
          <a:noFill/>
          <a:ln/>
        </p:spPr>
        <p:txBody>
          <a:bodyPr wrap="square" lIns="0" tIns="0" rIns="0" bIns="0" rtlCol="0" anchor="ctr"/>
          <a:lstStyle/>
          <a:p>
            <a:pPr indent="0" marL="0">
              <a:buNone/>
            </a:pPr>
            <a:r>
              <a:rPr lang="en-US" sz="3600" b="1" dirty="0">
                <a:solidFill>
                  <a:srgbClr val="1C1712"/>
                </a:solidFill>
                <a:latin typeface="Cambria" pitchFamily="34" charset="0"/>
                <a:ea typeface="Cambria" pitchFamily="34" charset="-122"/>
                <a:cs typeface="Cambria" pitchFamily="34" charset="-120"/>
              </a:rPr>
              <a:t>Predict. Match. Move.</a:t>
            </a:r>
            <a:pPr indent="0" marL="0">
              <a:buNone/>
            </a:pPr>
            <a:r>
              <a:rPr lang="en-US" sz="3600" b="1" dirty="0">
                <a:solidFill>
                  <a:srgbClr val="F0703D"/>
                </a:solidFill>
                <a:latin typeface="Cambria" pitchFamily="34" charset="0"/>
                <a:ea typeface="Cambria" pitchFamily="34" charset="-122"/>
                <a:cs typeface="Cambria" pitchFamily="34" charset="-120"/>
              </a:rPr>
              <a:t> Before teardown.</a:t>
            </a:r>
            <a:endParaRPr lang="en-US" sz="3600" dirty="0"/>
          </a:p>
        </p:txBody>
      </p:sp>
      <p:sp>
        <p:nvSpPr>
          <p:cNvPr id="6" name="anim1_card"/>
          <p:cNvSpPr/>
          <p:nvPr/>
        </p:nvSpPr>
        <p:spPr>
          <a:xfrm>
            <a:off x="640080" y="1783080"/>
            <a:ext cx="2560320" cy="3657600"/>
          </a:xfrm>
          <a:prstGeom prst="roundRect">
            <a:avLst>
              <a:gd name="adj" fmla="val 6429"/>
            </a:avLst>
          </a:prstGeom>
          <a:solidFill>
            <a:srgbClr val="FFFFF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7" name="anim1_iconBg"/>
          <p:cNvSpPr/>
          <p:nvPr/>
        </p:nvSpPr>
        <p:spPr>
          <a:xfrm>
            <a:off x="914400" y="2057400"/>
            <a:ext cx="822960" cy="822960"/>
          </a:xfrm>
          <a:prstGeom prst="ellipse">
            <a:avLst/>
          </a:prstGeom>
          <a:solidFill>
            <a:srgbClr val="FDE6D4"/>
          </a:solidFill>
          <a:ln w="12700">
            <a:solidFill>
              <a:srgbClr val="FDE6D4"/>
            </a:solidFill>
            <a:prstDash val="solid"/>
          </a:ln>
        </p:spPr>
      </p:sp>
      <p:pic>
        <p:nvPicPr>
          <p:cNvPr id="8" name="anim1_icon" descr="preencoded.png">    </p:cNvPr>
          <p:cNvPicPr>
            <a:picLocks noChangeAspect="1"/>
          </p:cNvPicPr>
          <p:nvPr/>
        </p:nvPicPr>
        <p:blipFill>
          <a:blip r:embed="rId3"/>
          <a:stretch>
            <a:fillRect/>
          </a:stretch>
        </p:blipFill>
        <p:spPr>
          <a:xfrm>
            <a:off x="1111910" y="2254910"/>
            <a:ext cx="427939" cy="427939"/>
          </a:xfrm>
          <a:prstGeom prst="rect">
            <a:avLst/>
          </a:prstGeom>
        </p:spPr>
      </p:pic>
      <p:sp>
        <p:nvSpPr>
          <p:cNvPr id="9" name="anim1_n"/>
          <p:cNvSpPr txBox="1"/>
          <p:nvPr/>
        </p:nvSpPr>
        <p:spPr>
          <a:xfrm>
            <a:off x="2423160" y="2057400"/>
            <a:ext cx="502920" cy="548640"/>
          </a:xfrm>
          <a:prstGeom prst="rect">
            <a:avLst/>
          </a:prstGeom>
          <a:noFill/>
          <a:ln/>
        </p:spPr>
        <p:txBody>
          <a:bodyPr wrap="square" lIns="0" tIns="0" rIns="0" bIns="0" rtlCol="0" anchor="ctr"/>
          <a:lstStyle/>
          <a:p>
            <a:pPr algn="r" indent="0" marL="0">
              <a:buNone/>
            </a:pPr>
            <a:r>
              <a:rPr lang="en-US" sz="2800" b="1" dirty="0">
                <a:solidFill>
                  <a:srgbClr val="E8CDB8"/>
                </a:solidFill>
                <a:latin typeface="Cambria" pitchFamily="34" charset="0"/>
                <a:ea typeface="Cambria" pitchFamily="34" charset="-122"/>
                <a:cs typeface="Cambria" pitchFamily="34" charset="-120"/>
              </a:rPr>
              <a:t>1</a:t>
            </a:r>
            <a:endParaRPr lang="en-US" sz="2800" dirty="0"/>
          </a:p>
        </p:txBody>
      </p:sp>
      <p:sp>
        <p:nvSpPr>
          <p:cNvPr id="10" name="anim1_h"/>
          <p:cNvSpPr txBox="1"/>
          <p:nvPr/>
        </p:nvSpPr>
        <p:spPr>
          <a:xfrm>
            <a:off x="914400" y="3063240"/>
            <a:ext cx="2057400" cy="640080"/>
          </a:xfrm>
          <a:prstGeom prst="rect">
            <a:avLst/>
          </a:prstGeom>
          <a:noFill/>
          <a:ln/>
        </p:spPr>
        <p:txBody>
          <a:bodyPr wrap="square" lIns="0" tIns="0" rIns="0" bIns="0" rtlCol="0" anchor="t"/>
          <a:lstStyle/>
          <a:p>
            <a:pPr indent="0" marL="0">
              <a:buNone/>
            </a:pPr>
            <a:r>
              <a:rPr lang="en-US" sz="1800" b="1" dirty="0">
                <a:solidFill>
                  <a:srgbClr val="1C1712"/>
                </a:solidFill>
                <a:latin typeface="Calibri" pitchFamily="34" charset="0"/>
                <a:ea typeface="Calibri" pitchFamily="34" charset="-122"/>
                <a:cs typeface="Calibri" pitchFamily="34" charset="-120"/>
              </a:rPr>
              <a:t>Register the event</a:t>
            </a:r>
            <a:endParaRPr lang="en-US" sz="1800" dirty="0"/>
          </a:p>
        </p:txBody>
      </p:sp>
      <p:sp>
        <p:nvSpPr>
          <p:cNvPr id="11" name="anim1_b"/>
          <p:cNvSpPr txBox="1"/>
          <p:nvPr/>
        </p:nvSpPr>
        <p:spPr>
          <a:xfrm>
            <a:off x="914400" y="3703320"/>
            <a:ext cx="2057400" cy="1600200"/>
          </a:xfrm>
          <a:prstGeom prst="rect">
            <a:avLst/>
          </a:prstGeom>
          <a:noFill/>
          <a:ln/>
        </p:spPr>
        <p:txBody>
          <a:bodyPr wrap="square" lIns="0" tIns="0" rIns="0" bIns="0" rtlCol="0" anchor="t"/>
          <a:lstStyle/>
          <a:p>
            <a:pPr indent="0" marL="0">
              <a:buNone/>
            </a:pPr>
            <a:r>
              <a:rPr lang="en-US" sz="1400" dirty="0">
                <a:solidFill>
                  <a:srgbClr val="5B5148"/>
                </a:solidFill>
                <a:latin typeface="Calibri" pitchFamily="34" charset="0"/>
                <a:ea typeface="Calibri" pitchFamily="34" charset="-122"/>
                <a:cs typeface="Calibri" pitchFamily="34" charset="-120"/>
              </a:rPr>
              <a:t>Time, place, guests, catering — or post a photo of any surplus. Donor says whether they deliver or need a pickup.</a:t>
            </a:r>
            <a:endParaRPr lang="en-US" sz="1400" dirty="0"/>
          </a:p>
        </p:txBody>
      </p:sp>
      <p:sp>
        <p:nvSpPr>
          <p:cNvPr id="12" name="anim2_card"/>
          <p:cNvSpPr/>
          <p:nvPr/>
        </p:nvSpPr>
        <p:spPr>
          <a:xfrm>
            <a:off x="3401568" y="1783080"/>
            <a:ext cx="2560320" cy="3657600"/>
          </a:xfrm>
          <a:prstGeom prst="roundRect">
            <a:avLst>
              <a:gd name="adj" fmla="val 6429"/>
            </a:avLst>
          </a:prstGeom>
          <a:solidFill>
            <a:srgbClr val="FFFFF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13" name="anim2_iconBg"/>
          <p:cNvSpPr/>
          <p:nvPr/>
        </p:nvSpPr>
        <p:spPr>
          <a:xfrm>
            <a:off x="3675888" y="2057400"/>
            <a:ext cx="822960" cy="822960"/>
          </a:xfrm>
          <a:prstGeom prst="ellipse">
            <a:avLst/>
          </a:prstGeom>
          <a:solidFill>
            <a:srgbClr val="FDE6D4"/>
          </a:solidFill>
          <a:ln w="12700">
            <a:solidFill>
              <a:srgbClr val="FDE6D4"/>
            </a:solidFill>
            <a:prstDash val="solid"/>
          </a:ln>
        </p:spPr>
      </p:sp>
      <p:pic>
        <p:nvPicPr>
          <p:cNvPr id="14" name="anim2_icon" descr="preencoded.png">    </p:cNvPr>
          <p:cNvPicPr>
            <a:picLocks noChangeAspect="1"/>
          </p:cNvPicPr>
          <p:nvPr/>
        </p:nvPicPr>
        <p:blipFill>
          <a:blip r:embed="rId4"/>
          <a:stretch>
            <a:fillRect/>
          </a:stretch>
        </p:blipFill>
        <p:spPr>
          <a:xfrm>
            <a:off x="3873398" y="2254910"/>
            <a:ext cx="427939" cy="427939"/>
          </a:xfrm>
          <a:prstGeom prst="rect">
            <a:avLst/>
          </a:prstGeom>
        </p:spPr>
      </p:pic>
      <p:sp>
        <p:nvSpPr>
          <p:cNvPr id="15" name="anim2_n"/>
          <p:cNvSpPr txBox="1"/>
          <p:nvPr/>
        </p:nvSpPr>
        <p:spPr>
          <a:xfrm>
            <a:off x="5184648" y="2057400"/>
            <a:ext cx="502920" cy="548640"/>
          </a:xfrm>
          <a:prstGeom prst="rect">
            <a:avLst/>
          </a:prstGeom>
          <a:noFill/>
          <a:ln/>
        </p:spPr>
        <p:txBody>
          <a:bodyPr wrap="square" lIns="0" tIns="0" rIns="0" bIns="0" rtlCol="0" anchor="ctr"/>
          <a:lstStyle/>
          <a:p>
            <a:pPr algn="r" indent="0" marL="0">
              <a:buNone/>
            </a:pPr>
            <a:r>
              <a:rPr lang="en-US" sz="2800" b="1" dirty="0">
                <a:solidFill>
                  <a:srgbClr val="E8CDB8"/>
                </a:solidFill>
                <a:latin typeface="Cambria" pitchFamily="34" charset="0"/>
                <a:ea typeface="Cambria" pitchFamily="34" charset="-122"/>
                <a:cs typeface="Cambria" pitchFamily="34" charset="-120"/>
              </a:rPr>
              <a:t>2</a:t>
            </a:r>
            <a:endParaRPr lang="en-US" sz="2800" dirty="0"/>
          </a:p>
        </p:txBody>
      </p:sp>
      <p:sp>
        <p:nvSpPr>
          <p:cNvPr id="16" name="anim2_h"/>
          <p:cNvSpPr txBox="1"/>
          <p:nvPr/>
        </p:nvSpPr>
        <p:spPr>
          <a:xfrm>
            <a:off x="3675888" y="3063240"/>
            <a:ext cx="2057400" cy="640080"/>
          </a:xfrm>
          <a:prstGeom prst="rect">
            <a:avLst/>
          </a:prstGeom>
          <a:noFill/>
          <a:ln/>
        </p:spPr>
        <p:txBody>
          <a:bodyPr wrap="square" lIns="0" tIns="0" rIns="0" bIns="0" rtlCol="0" anchor="t"/>
          <a:lstStyle/>
          <a:p>
            <a:pPr indent="0" marL="0">
              <a:buNone/>
            </a:pPr>
            <a:r>
              <a:rPr lang="en-US" sz="1800" b="1" dirty="0">
                <a:solidFill>
                  <a:srgbClr val="1C1712"/>
                </a:solidFill>
                <a:latin typeface="Calibri" pitchFamily="34" charset="0"/>
                <a:ea typeface="Calibri" pitchFamily="34" charset="-122"/>
                <a:cs typeface="Calibri" pitchFamily="34" charset="-120"/>
              </a:rPr>
              <a:t>45-minute ping</a:t>
            </a:r>
            <a:endParaRPr lang="en-US" sz="1800" dirty="0"/>
          </a:p>
        </p:txBody>
      </p:sp>
      <p:sp>
        <p:nvSpPr>
          <p:cNvPr id="17" name="anim2_b"/>
          <p:cNvSpPr txBox="1"/>
          <p:nvPr/>
        </p:nvSpPr>
        <p:spPr>
          <a:xfrm>
            <a:off x="3675888" y="3703320"/>
            <a:ext cx="2057400" cy="1600200"/>
          </a:xfrm>
          <a:prstGeom prst="rect">
            <a:avLst/>
          </a:prstGeom>
          <a:noFill/>
          <a:ln/>
        </p:spPr>
        <p:txBody>
          <a:bodyPr wrap="square" lIns="0" tIns="0" rIns="0" bIns="0" rtlCol="0" anchor="t"/>
          <a:lstStyle/>
          <a:p>
            <a:pPr indent="0" marL="0">
              <a:buNone/>
            </a:pPr>
            <a:r>
              <a:rPr lang="en-US" sz="1400" dirty="0">
                <a:solidFill>
                  <a:srgbClr val="5B5148"/>
                </a:solidFill>
                <a:latin typeface="Calibri" pitchFamily="34" charset="0"/>
                <a:ea typeface="Calibri" pitchFamily="34" charset="-122"/>
                <a:cs typeface="Calibri" pitchFamily="34" charset="-120"/>
              </a:rPr>
              <a:t>Before it ends, the host confirms what’s actually left in one tap and snaps a photo.</a:t>
            </a:r>
            <a:endParaRPr lang="en-US" sz="1400" dirty="0"/>
          </a:p>
        </p:txBody>
      </p:sp>
      <p:sp>
        <p:nvSpPr>
          <p:cNvPr id="18" name="anim3_card"/>
          <p:cNvSpPr/>
          <p:nvPr/>
        </p:nvSpPr>
        <p:spPr>
          <a:xfrm>
            <a:off x="6163056" y="1783080"/>
            <a:ext cx="2560320" cy="3657600"/>
          </a:xfrm>
          <a:prstGeom prst="roundRect">
            <a:avLst>
              <a:gd name="adj" fmla="val 6429"/>
            </a:avLst>
          </a:prstGeom>
          <a:solidFill>
            <a:srgbClr val="FFFFF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19" name="anim3_iconBg"/>
          <p:cNvSpPr/>
          <p:nvPr/>
        </p:nvSpPr>
        <p:spPr>
          <a:xfrm>
            <a:off x="6437376" y="2057400"/>
            <a:ext cx="822960" cy="822960"/>
          </a:xfrm>
          <a:prstGeom prst="ellipse">
            <a:avLst/>
          </a:prstGeom>
          <a:solidFill>
            <a:srgbClr val="FDE6D4"/>
          </a:solidFill>
          <a:ln w="12700">
            <a:solidFill>
              <a:srgbClr val="FDE6D4"/>
            </a:solidFill>
            <a:prstDash val="solid"/>
          </a:ln>
        </p:spPr>
      </p:sp>
      <p:pic>
        <p:nvPicPr>
          <p:cNvPr id="20" name="anim3_icon" descr="preencoded.png">    </p:cNvPr>
          <p:cNvPicPr>
            <a:picLocks noChangeAspect="1"/>
          </p:cNvPicPr>
          <p:nvPr/>
        </p:nvPicPr>
        <p:blipFill>
          <a:blip r:embed="rId5"/>
          <a:stretch>
            <a:fillRect/>
          </a:stretch>
        </p:blipFill>
        <p:spPr>
          <a:xfrm>
            <a:off x="6634886" y="2254910"/>
            <a:ext cx="427939" cy="427939"/>
          </a:xfrm>
          <a:prstGeom prst="rect">
            <a:avLst/>
          </a:prstGeom>
        </p:spPr>
      </p:pic>
      <p:sp>
        <p:nvSpPr>
          <p:cNvPr id="21" name="anim3_n"/>
          <p:cNvSpPr txBox="1"/>
          <p:nvPr/>
        </p:nvSpPr>
        <p:spPr>
          <a:xfrm>
            <a:off x="7946136" y="2057400"/>
            <a:ext cx="502920" cy="548640"/>
          </a:xfrm>
          <a:prstGeom prst="rect">
            <a:avLst/>
          </a:prstGeom>
          <a:noFill/>
          <a:ln/>
        </p:spPr>
        <p:txBody>
          <a:bodyPr wrap="square" lIns="0" tIns="0" rIns="0" bIns="0" rtlCol="0" anchor="ctr"/>
          <a:lstStyle/>
          <a:p>
            <a:pPr algn="r" indent="0" marL="0">
              <a:buNone/>
            </a:pPr>
            <a:r>
              <a:rPr lang="en-US" sz="2800" b="1" dirty="0">
                <a:solidFill>
                  <a:srgbClr val="E8CDB8"/>
                </a:solidFill>
                <a:latin typeface="Cambria" pitchFamily="34" charset="0"/>
                <a:ea typeface="Cambria" pitchFamily="34" charset="-122"/>
                <a:cs typeface="Cambria" pitchFamily="34" charset="-120"/>
              </a:rPr>
              <a:t>3</a:t>
            </a:r>
            <a:endParaRPr lang="en-US" sz="2800" dirty="0"/>
          </a:p>
        </p:txBody>
      </p:sp>
      <p:sp>
        <p:nvSpPr>
          <p:cNvPr id="22" name="anim3_h"/>
          <p:cNvSpPr txBox="1"/>
          <p:nvPr/>
        </p:nvSpPr>
        <p:spPr>
          <a:xfrm>
            <a:off x="6437376" y="3063240"/>
            <a:ext cx="2057400" cy="640080"/>
          </a:xfrm>
          <a:prstGeom prst="rect">
            <a:avLst/>
          </a:prstGeom>
          <a:noFill/>
          <a:ln/>
        </p:spPr>
        <p:txBody>
          <a:bodyPr wrap="square" lIns="0" tIns="0" rIns="0" bIns="0" rtlCol="0" anchor="t"/>
          <a:lstStyle/>
          <a:p>
            <a:pPr indent="0" marL="0">
              <a:buNone/>
            </a:pPr>
            <a:r>
              <a:rPr lang="en-US" sz="1800" b="1" dirty="0">
                <a:solidFill>
                  <a:srgbClr val="1C1712"/>
                </a:solidFill>
                <a:latin typeface="Calibri" pitchFamily="34" charset="0"/>
                <a:ea typeface="Calibri" pitchFamily="34" charset="-122"/>
                <a:cs typeface="Calibri" pitchFamily="34" charset="-120"/>
              </a:rPr>
              <a:t>AI builds the listing</a:t>
            </a:r>
            <a:endParaRPr lang="en-US" sz="1800" dirty="0"/>
          </a:p>
        </p:txBody>
      </p:sp>
      <p:sp>
        <p:nvSpPr>
          <p:cNvPr id="23" name="anim3_b"/>
          <p:cNvSpPr txBox="1"/>
          <p:nvPr/>
        </p:nvSpPr>
        <p:spPr>
          <a:xfrm>
            <a:off x="6437376" y="3703320"/>
            <a:ext cx="2057400" cy="1600200"/>
          </a:xfrm>
          <a:prstGeom prst="rect">
            <a:avLst/>
          </a:prstGeom>
          <a:noFill/>
          <a:ln/>
        </p:spPr>
        <p:txBody>
          <a:bodyPr wrap="square" lIns="0" tIns="0" rIns="0" bIns="0" rtlCol="0" anchor="t"/>
          <a:lstStyle/>
          <a:p>
            <a:pPr indent="0" marL="0">
              <a:buNone/>
            </a:pPr>
            <a:r>
              <a:rPr lang="en-US" sz="1400" dirty="0">
                <a:solidFill>
                  <a:srgbClr val="5B5148"/>
                </a:solidFill>
                <a:latin typeface="Calibri" pitchFamily="34" charset="0"/>
                <a:ea typeface="Calibri" pitchFamily="34" charset="-122"/>
                <a:cs typeface="Calibri" pitchFamily="34" charset="-120"/>
              </a:rPr>
              <a:t>OCI vision names items, flags quality and likely allergens. The donor reviews every field.</a:t>
            </a:r>
            <a:endParaRPr lang="en-US" sz="1400" dirty="0"/>
          </a:p>
        </p:txBody>
      </p:sp>
      <p:sp>
        <p:nvSpPr>
          <p:cNvPr id="24" name="anim4_card"/>
          <p:cNvSpPr/>
          <p:nvPr/>
        </p:nvSpPr>
        <p:spPr>
          <a:xfrm>
            <a:off x="8924544" y="1783080"/>
            <a:ext cx="2560320" cy="3657600"/>
          </a:xfrm>
          <a:prstGeom prst="roundRect">
            <a:avLst>
              <a:gd name="adj" fmla="val 6429"/>
            </a:avLst>
          </a:prstGeom>
          <a:solidFill>
            <a:srgbClr val="FFFFF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25" name="anim4_iconBg"/>
          <p:cNvSpPr/>
          <p:nvPr/>
        </p:nvSpPr>
        <p:spPr>
          <a:xfrm>
            <a:off x="9198864" y="2057400"/>
            <a:ext cx="822960" cy="822960"/>
          </a:xfrm>
          <a:prstGeom prst="ellipse">
            <a:avLst/>
          </a:prstGeom>
          <a:solidFill>
            <a:srgbClr val="165840"/>
          </a:solidFill>
          <a:ln w="12700">
            <a:solidFill>
              <a:srgbClr val="165840"/>
            </a:solidFill>
            <a:prstDash val="solid"/>
          </a:ln>
        </p:spPr>
      </p:sp>
      <p:pic>
        <p:nvPicPr>
          <p:cNvPr id="26" name="anim4_icon" descr="preencoded.png">    </p:cNvPr>
          <p:cNvPicPr>
            <a:picLocks noChangeAspect="1"/>
          </p:cNvPicPr>
          <p:nvPr/>
        </p:nvPicPr>
        <p:blipFill>
          <a:blip r:embed="rId6"/>
          <a:stretch>
            <a:fillRect/>
          </a:stretch>
        </p:blipFill>
        <p:spPr>
          <a:xfrm>
            <a:off x="9396374" y="2254910"/>
            <a:ext cx="427939" cy="427939"/>
          </a:xfrm>
          <a:prstGeom prst="rect">
            <a:avLst/>
          </a:prstGeom>
        </p:spPr>
      </p:pic>
      <p:sp>
        <p:nvSpPr>
          <p:cNvPr id="27" name="anim4_n"/>
          <p:cNvSpPr txBox="1"/>
          <p:nvPr/>
        </p:nvSpPr>
        <p:spPr>
          <a:xfrm>
            <a:off x="10707624" y="2057400"/>
            <a:ext cx="502920" cy="548640"/>
          </a:xfrm>
          <a:prstGeom prst="rect">
            <a:avLst/>
          </a:prstGeom>
          <a:noFill/>
          <a:ln/>
        </p:spPr>
        <p:txBody>
          <a:bodyPr wrap="square" lIns="0" tIns="0" rIns="0" bIns="0" rtlCol="0" anchor="ctr"/>
          <a:lstStyle/>
          <a:p>
            <a:pPr algn="r" indent="0" marL="0">
              <a:buNone/>
            </a:pPr>
            <a:r>
              <a:rPr lang="en-US" sz="2800" b="1" dirty="0">
                <a:solidFill>
                  <a:srgbClr val="E8CDB8"/>
                </a:solidFill>
                <a:latin typeface="Cambria" pitchFamily="34" charset="0"/>
                <a:ea typeface="Cambria" pitchFamily="34" charset="-122"/>
                <a:cs typeface="Cambria" pitchFamily="34" charset="-120"/>
              </a:rPr>
              <a:t>4</a:t>
            </a:r>
            <a:endParaRPr lang="en-US" sz="2800" dirty="0"/>
          </a:p>
        </p:txBody>
      </p:sp>
      <p:sp>
        <p:nvSpPr>
          <p:cNvPr id="28" name="anim4_h"/>
          <p:cNvSpPr txBox="1"/>
          <p:nvPr/>
        </p:nvSpPr>
        <p:spPr>
          <a:xfrm>
            <a:off x="9198864" y="3063240"/>
            <a:ext cx="2057400" cy="640080"/>
          </a:xfrm>
          <a:prstGeom prst="rect">
            <a:avLst/>
          </a:prstGeom>
          <a:noFill/>
          <a:ln/>
        </p:spPr>
        <p:txBody>
          <a:bodyPr wrap="square" lIns="0" tIns="0" rIns="0" bIns="0" rtlCol="0" anchor="t"/>
          <a:lstStyle/>
          <a:p>
            <a:pPr indent="0" marL="0">
              <a:buNone/>
            </a:pPr>
            <a:r>
              <a:rPr lang="en-US" sz="1800" b="1" dirty="0">
                <a:solidFill>
                  <a:srgbClr val="1C1712"/>
                </a:solidFill>
                <a:latin typeface="Calibri" pitchFamily="34" charset="0"/>
                <a:ea typeface="Calibri" pitchFamily="34" charset="-122"/>
                <a:cs typeface="Calibri" pitchFamily="34" charset="-120"/>
              </a:rPr>
              <a:t>Matched and moved</a:t>
            </a:r>
            <a:endParaRPr lang="en-US" sz="1800" dirty="0"/>
          </a:p>
        </p:txBody>
      </p:sp>
      <p:sp>
        <p:nvSpPr>
          <p:cNvPr id="29" name="anim4_b"/>
          <p:cNvSpPr txBox="1"/>
          <p:nvPr/>
        </p:nvSpPr>
        <p:spPr>
          <a:xfrm>
            <a:off x="9198864" y="3703320"/>
            <a:ext cx="2057400" cy="1600200"/>
          </a:xfrm>
          <a:prstGeom prst="rect">
            <a:avLst/>
          </a:prstGeom>
          <a:noFill/>
          <a:ln/>
        </p:spPr>
        <p:txBody>
          <a:bodyPr wrap="square" lIns="0" tIns="0" rIns="0" bIns="0" rtlCol="0" anchor="t"/>
          <a:lstStyle/>
          <a:p>
            <a:pPr indent="0" marL="0">
              <a:buNone/>
            </a:pPr>
            <a:r>
              <a:rPr lang="en-US" sz="1400" dirty="0">
                <a:solidFill>
                  <a:srgbClr val="5B5148"/>
                </a:solidFill>
                <a:latin typeface="Calibri" pitchFamily="34" charset="0"/>
                <a:ea typeface="Calibri" pitchFamily="34" charset="-122"/>
                <a:cs typeface="Calibri" pitchFamily="34" charset="-120"/>
              </a:rPr>
              <a:t>Ranked by fit, dietary rules, capacity, distance and neighborhood need. Food banks claim, edit or join a waitlist.</a:t>
            </a:r>
            <a:endParaRPr lang="en-US" sz="1400" dirty="0"/>
          </a:p>
        </p:txBody>
      </p:sp>
      <p:sp>
        <p:nvSpPr>
          <p:cNvPr id="30" name="anim5_tag"/>
          <p:cNvSpPr txBox="1"/>
          <p:nvPr/>
        </p:nvSpPr>
        <p:spPr>
          <a:xfrm>
            <a:off x="640080" y="5669280"/>
            <a:ext cx="10789920" cy="365760"/>
          </a:xfrm>
          <a:prstGeom prst="rect">
            <a:avLst/>
          </a:prstGeom>
          <a:noFill/>
          <a:ln/>
        </p:spPr>
        <p:txBody>
          <a:bodyPr wrap="square" lIns="0" tIns="0" rIns="0" bIns="0" rtlCol="0" anchor="ctr"/>
          <a:lstStyle/>
          <a:p>
            <a:pPr indent="0" marL="0">
              <a:buNone/>
            </a:pPr>
            <a:r>
              <a:rPr lang="en-US" sz="1600" i="1" dirty="0">
                <a:solidFill>
                  <a:srgbClr val="165840"/>
                </a:solidFill>
                <a:latin typeface="Cambria" pitchFamily="34" charset="0"/>
                <a:ea typeface="Cambria" pitchFamily="34" charset="-122"/>
                <a:cs typeface="Cambria" pitchFamily="34" charset="-120"/>
              </a:rPr>
              <a:t>No new hub, no driver waiting around — just the handoff, planned early.</a:t>
            </a:r>
            <a:endParaRPr lang="en-US" sz="1600" dirty="0"/>
          </a:p>
        </p:txBody>
      </p:sp>
      <p:pic>
        <p:nvPicPr>
          <p:cNvPr id="31" name="footLogoL" descr="preencoded.png">    </p:cNvPr>
          <p:cNvPicPr>
            <a:picLocks noChangeAspect="1"/>
          </p:cNvPicPr>
          <p:nvPr/>
        </p:nvPicPr>
        <p:blipFill>
          <a:blip r:embed="rId7"/>
          <a:stretch>
            <a:fillRect/>
          </a:stretch>
        </p:blipFill>
        <p:spPr>
          <a:xfrm>
            <a:off x="640080" y="6355080"/>
            <a:ext cx="384048" cy="252476"/>
          </a:xfrm>
          <a:prstGeom prst="rect">
            <a:avLst/>
          </a:prstGeom>
        </p:spPr>
      </p:pic>
      <p:pic>
        <p:nvPicPr>
          <p:cNvPr id="32" name="footLogoR" descr="preencoded.png">    </p:cNvPr>
          <p:cNvPicPr>
            <a:picLocks noChangeAspect="1"/>
          </p:cNvPicPr>
          <p:nvPr/>
        </p:nvPicPr>
        <p:blipFill>
          <a:blip r:embed="rId8"/>
          <a:stretch>
            <a:fillRect/>
          </a:stretch>
        </p:blipFill>
        <p:spPr>
          <a:xfrm>
            <a:off x="640080" y="6355080"/>
            <a:ext cx="384048" cy="252476"/>
          </a:xfrm>
          <a:prstGeom prst="rect">
            <a:avLst/>
          </a:prstGeom>
        </p:spPr>
      </p:pic>
      <p:pic>
        <p:nvPicPr>
          <p:cNvPr id="33" name="footLogoS" descr="preencoded.png">    </p:cNvPr>
          <p:cNvPicPr>
            <a:picLocks noChangeAspect="1"/>
          </p:cNvPicPr>
          <p:nvPr/>
        </p:nvPicPr>
        <p:blipFill>
          <a:blip r:embed="rId9"/>
          <a:stretch>
            <a:fillRect/>
          </a:stretch>
        </p:blipFill>
        <p:spPr>
          <a:xfrm>
            <a:off x="640080" y="6355080"/>
            <a:ext cx="384048" cy="252476"/>
          </a:xfrm>
          <a:prstGeom prst="rect">
            <a:avLst/>
          </a:prstGeom>
        </p:spPr>
      </p:pic>
      <p:sp>
        <p:nvSpPr>
          <p:cNvPr id="34" name="Text 23"/>
          <p:cNvSpPr txBox="1"/>
          <p:nvPr/>
        </p:nvSpPr>
        <p:spPr>
          <a:xfrm>
            <a:off x="1097280" y="6327648"/>
            <a:ext cx="3657600" cy="292608"/>
          </a:xfrm>
          <a:prstGeom prst="rect">
            <a:avLst/>
          </a:prstGeom>
          <a:noFill/>
          <a:ln/>
        </p:spPr>
        <p:txBody>
          <a:bodyPr wrap="square" lIns="0" tIns="0" rIns="0" bIns="0" rtlCol="0" anchor="ctr"/>
          <a:lstStyle/>
          <a:p>
            <a:pPr indent="0" marL="0">
              <a:buNone/>
            </a:pPr>
            <a:r>
              <a:rPr lang="en-US" sz="1000" dirty="0">
                <a:solidFill>
                  <a:srgbClr val="5B5148"/>
                </a:solidFill>
                <a:latin typeface="Calibri" pitchFamily="34" charset="0"/>
                <a:ea typeface="Calibri" pitchFamily="34" charset="-122"/>
                <a:cs typeface="Calibri" pitchFamily="34" charset="-120"/>
              </a:rPr>
              <a:t>Not Wasted · Surplus saved</a:t>
            </a:r>
            <a:endParaRPr lang="en-US" sz="1000" dirty="0"/>
          </a:p>
        </p:txBody>
      </p:sp>
      <p:sp>
        <p:nvSpPr>
          <p:cNvPr id="35" name="Text 24"/>
          <p:cNvSpPr txBox="1"/>
          <p:nvPr/>
        </p:nvSpPr>
        <p:spPr>
          <a:xfrm>
            <a:off x="10607040" y="6327648"/>
            <a:ext cx="914400" cy="292608"/>
          </a:xfrm>
          <a:prstGeom prst="rect">
            <a:avLst/>
          </a:prstGeom>
          <a:noFill/>
          <a:ln/>
        </p:spPr>
        <p:txBody>
          <a:bodyPr wrap="square" lIns="0" tIns="0" rIns="0" bIns="0" rtlCol="0" anchor="ctr"/>
          <a:lstStyle/>
          <a:p>
            <a:pPr algn="r" indent="0" marL="0">
              <a:buNone/>
            </a:pPr>
            <a:r>
              <a:rPr lang="en-US" sz="1000" dirty="0">
                <a:solidFill>
                  <a:srgbClr val="5B5148"/>
                </a:solidFill>
                <a:latin typeface="Calibri" pitchFamily="34" charset="0"/>
                <a:ea typeface="Calibri" pitchFamily="34" charset="-122"/>
                <a:cs typeface="Calibri" pitchFamily="34" charset="-120"/>
              </a:rPr>
              <a:t>06 / 12</a:t>
            </a:r>
            <a:endParaRPr lang="en-US" sz="1000" dirty="0"/>
          </a:p>
        </p:txBody>
      </p:sp>
    </p:spTree>
  </p:cSld>
  <p:clrMapOvr>
    <a:masterClrMapping/>
  </p:clrMapOvr>
  <mc:AlternateContent>
    <mc:Choice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10" presetClass="entr" presetSubtype="0" fill="hold"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600"/>
                                        <p:tgtEl>
                                          <p:spTgt spid="6"/>
                                        </p:tgtEl>
                                      </p:cBhvr>
                                    </p:animEffect>
                                    <p:anim calcmode="lin" valueType="num">
                                      <p:cBhvr additive="base">
                                        <p:cTn id="7" dur="600" fill="hold"/>
                                        <p:tgtEl>
                                          <p:spTgt spid="6"/>
                                        </p:tgtEl>
                                        <p:attrNameLst>
                                          <p:attrName>ppt_y</p:attrName>
                                        </p:attrNameLst>
                                      </p:cBhvr>
                                      <p:tavLst>
                                        <p:tav tm="0">
                                          <p:val>
                                            <p:strVal val="#ppt_y+0.04"/>
                                          </p:val>
                                        </p:tav>
                                        <p:tav tm="100000">
                                          <p:val>
                                            <p:strVal val="#ppt_y"/>
                                          </p:val>
                                        </p:tav>
                                      </p:tavLst>
                                    </p:anim>
                                  </p:childTnLst>
                                </p:cTn>
                              </p:par>
                              <p:par>
                                <p:cTn id="12" presetID="10" presetClass="entr" presetSubtype="0" fill="hold" nodeType="withEffect">
                                  <p:stCondLst>
                                    <p:cond delay="15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600"/>
                                        <p:tgtEl>
                                          <p:spTgt spid="7"/>
                                        </p:tgtEl>
                                      </p:cBhvr>
                                    </p:animEffect>
                                    <p:anim calcmode="lin" valueType="num">
                                      <p:cBhvr additive="base">
                                        <p:cTn id="11" dur="600" fill="hold"/>
                                        <p:tgtEl>
                                          <p:spTgt spid="7"/>
                                        </p:tgtEl>
                                        <p:attrNameLst>
                                          <p:attrName>ppt_y</p:attrName>
                                        </p:attrNameLst>
                                      </p:cBhvr>
                                      <p:tavLst>
                                        <p:tav tm="0">
                                          <p:val>
                                            <p:strVal val="#ppt_y+0.04"/>
                                          </p:val>
                                        </p:tav>
                                        <p:tav tm="100000">
                                          <p:val>
                                            <p:strVal val="#ppt_y"/>
                                          </p:val>
                                        </p:tav>
                                      </p:tavLst>
                                    </p:anim>
                                  </p:childTnLst>
                                </p:cTn>
                              </p:par>
                              <p:par>
                                <p:cTn id="16" presetID="10" presetClass="entr" presetSubtype="0" fill="hold" nodeType="withEffect">
                                  <p:stCondLst>
                                    <p:cond delay="15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600"/>
                                        <p:tgtEl>
                                          <p:spTgt spid="8"/>
                                        </p:tgtEl>
                                      </p:cBhvr>
                                    </p:animEffect>
                                    <p:anim calcmode="lin" valueType="num">
                                      <p:cBhvr additive="base">
                                        <p:cTn id="15" dur="600" fill="hold"/>
                                        <p:tgtEl>
                                          <p:spTgt spid="8"/>
                                        </p:tgtEl>
                                        <p:attrNameLst>
                                          <p:attrName>ppt_y</p:attrName>
                                        </p:attrNameLst>
                                      </p:cBhvr>
                                      <p:tavLst>
                                        <p:tav tm="0">
                                          <p:val>
                                            <p:strVal val="#ppt_y+0.04"/>
                                          </p:val>
                                        </p:tav>
                                        <p:tav tm="100000">
                                          <p:val>
                                            <p:strVal val="#ppt_y"/>
                                          </p:val>
                                        </p:tav>
                                      </p:tavLst>
                                    </p:anim>
                                  </p:childTnLst>
                                </p:cTn>
                              </p:par>
                              <p:par>
                                <p:cTn id="20" presetID="10" presetClass="entr" presetSubtype="0" fill="hold" nodeType="withEffect">
                                  <p:stCondLst>
                                    <p:cond delay="15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600"/>
                                        <p:tgtEl>
                                          <p:spTgt spid="9"/>
                                        </p:tgtEl>
                                      </p:cBhvr>
                                    </p:animEffect>
                                    <p:anim calcmode="lin" valueType="num">
                                      <p:cBhvr additive="base">
                                        <p:cTn id="19" dur="600" fill="hold"/>
                                        <p:tgtEl>
                                          <p:spTgt spid="9"/>
                                        </p:tgtEl>
                                        <p:attrNameLst>
                                          <p:attrName>ppt_y</p:attrName>
                                        </p:attrNameLst>
                                      </p:cBhvr>
                                      <p:tavLst>
                                        <p:tav tm="0">
                                          <p:val>
                                            <p:strVal val="#ppt_y+0.04"/>
                                          </p:val>
                                        </p:tav>
                                        <p:tav tm="100000">
                                          <p:val>
                                            <p:strVal val="#ppt_y"/>
                                          </p:val>
                                        </p:tav>
                                      </p:tavLst>
                                    </p:anim>
                                  </p:childTnLst>
                                </p:cTn>
                              </p:par>
                              <p:par>
                                <p:cTn id="24" presetID="10" presetClass="entr" presetSubtype="0" fill="hold" nodeType="withEffect">
                                  <p:stCondLst>
                                    <p:cond delay="15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600"/>
                                        <p:tgtEl>
                                          <p:spTgt spid="10"/>
                                        </p:tgtEl>
                                      </p:cBhvr>
                                    </p:animEffect>
                                    <p:anim calcmode="lin" valueType="num">
                                      <p:cBhvr additive="base">
                                        <p:cTn id="23" dur="600" fill="hold"/>
                                        <p:tgtEl>
                                          <p:spTgt spid="10"/>
                                        </p:tgtEl>
                                        <p:attrNameLst>
                                          <p:attrName>ppt_y</p:attrName>
                                        </p:attrNameLst>
                                      </p:cBhvr>
                                      <p:tavLst>
                                        <p:tav tm="0">
                                          <p:val>
                                            <p:strVal val="#ppt_y+0.04"/>
                                          </p:val>
                                        </p:tav>
                                        <p:tav tm="100000">
                                          <p:val>
                                            <p:strVal val="#ppt_y"/>
                                          </p:val>
                                        </p:tav>
                                      </p:tavLst>
                                    </p:anim>
                                  </p:childTnLst>
                                </p:cTn>
                              </p:par>
                              <p:par>
                                <p:cTn id="28" presetID="10" presetClass="entr" presetSubtype="0" fill="hold" nodeType="withEffect">
                                  <p:stCondLst>
                                    <p:cond delay="15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600"/>
                                        <p:tgtEl>
                                          <p:spTgt spid="11"/>
                                        </p:tgtEl>
                                      </p:cBhvr>
                                    </p:animEffect>
                                    <p:anim calcmode="lin" valueType="num">
                                      <p:cBhvr additive="base">
                                        <p:cTn id="27" dur="600" fill="hold"/>
                                        <p:tgtEl>
                                          <p:spTgt spid="11"/>
                                        </p:tgtEl>
                                        <p:attrNameLst>
                                          <p:attrName>ppt_y</p:attrName>
                                        </p:attrNameLst>
                                      </p:cBhvr>
                                      <p:tavLst>
                                        <p:tav tm="0">
                                          <p:val>
                                            <p:strVal val="#ppt_y+0.04"/>
                                          </p:val>
                                        </p:tav>
                                        <p:tav tm="100000">
                                          <p:val>
                                            <p:strVal val="#ppt_y"/>
                                          </p:val>
                                        </p:tav>
                                      </p:tavLst>
                                    </p:anim>
                                  </p:childTnLst>
                                </p:cTn>
                              </p:par>
                              <p:par>
                                <p:cTn id="32" presetID="10" presetClass="entr" presetSubtype="0" fill="hold" nodeType="withEffect">
                                  <p:stCondLst>
                                    <p:cond delay="43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600"/>
                                        <p:tgtEl>
                                          <p:spTgt spid="12"/>
                                        </p:tgtEl>
                                      </p:cBhvr>
                                    </p:animEffect>
                                    <p:anim calcmode="lin" valueType="num">
                                      <p:cBhvr additive="base">
                                        <p:cTn id="31" dur="600" fill="hold"/>
                                        <p:tgtEl>
                                          <p:spTgt spid="12"/>
                                        </p:tgtEl>
                                        <p:attrNameLst>
                                          <p:attrName>ppt_y</p:attrName>
                                        </p:attrNameLst>
                                      </p:cBhvr>
                                      <p:tavLst>
                                        <p:tav tm="0">
                                          <p:val>
                                            <p:strVal val="#ppt_y+0.04"/>
                                          </p:val>
                                        </p:tav>
                                        <p:tav tm="100000">
                                          <p:val>
                                            <p:strVal val="#ppt_y"/>
                                          </p:val>
                                        </p:tav>
                                      </p:tavLst>
                                    </p:anim>
                                  </p:childTnLst>
                                </p:cTn>
                              </p:par>
                              <p:par>
                                <p:cTn id="36" presetID="10" presetClass="entr" presetSubtype="0" fill="hold" nodeType="withEffect">
                                  <p:stCondLst>
                                    <p:cond delay="43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p:tgtEl>
                                          <p:spTgt spid="13"/>
                                        </p:tgtEl>
                                      </p:cBhvr>
                                    </p:animEffect>
                                    <p:anim calcmode="lin" valueType="num">
                                      <p:cBhvr additive="base">
                                        <p:cTn id="35" dur="600" fill="hold"/>
                                        <p:tgtEl>
                                          <p:spTgt spid="13"/>
                                        </p:tgtEl>
                                        <p:attrNameLst>
                                          <p:attrName>ppt_y</p:attrName>
                                        </p:attrNameLst>
                                      </p:cBhvr>
                                      <p:tavLst>
                                        <p:tav tm="0">
                                          <p:val>
                                            <p:strVal val="#ppt_y+0.04"/>
                                          </p:val>
                                        </p:tav>
                                        <p:tav tm="100000">
                                          <p:val>
                                            <p:strVal val="#ppt_y"/>
                                          </p:val>
                                        </p:tav>
                                      </p:tavLst>
                                    </p:anim>
                                  </p:childTnLst>
                                </p:cTn>
                              </p:par>
                              <p:par>
                                <p:cTn id="40" presetID="10" presetClass="entr" presetSubtype="0" fill="hold" nodeType="withEffect">
                                  <p:stCondLst>
                                    <p:cond delay="43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600"/>
                                        <p:tgtEl>
                                          <p:spTgt spid="14"/>
                                        </p:tgtEl>
                                      </p:cBhvr>
                                    </p:animEffect>
                                    <p:anim calcmode="lin" valueType="num">
                                      <p:cBhvr additive="base">
                                        <p:cTn id="39" dur="600" fill="hold"/>
                                        <p:tgtEl>
                                          <p:spTgt spid="14"/>
                                        </p:tgtEl>
                                        <p:attrNameLst>
                                          <p:attrName>ppt_y</p:attrName>
                                        </p:attrNameLst>
                                      </p:cBhvr>
                                      <p:tavLst>
                                        <p:tav tm="0">
                                          <p:val>
                                            <p:strVal val="#ppt_y+0.04"/>
                                          </p:val>
                                        </p:tav>
                                        <p:tav tm="100000">
                                          <p:val>
                                            <p:strVal val="#ppt_y"/>
                                          </p:val>
                                        </p:tav>
                                      </p:tavLst>
                                    </p:anim>
                                  </p:childTnLst>
                                </p:cTn>
                              </p:par>
                              <p:par>
                                <p:cTn id="44" presetID="10" presetClass="entr" presetSubtype="0" fill="hold" nodeType="withEffect">
                                  <p:stCondLst>
                                    <p:cond delay="43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anim calcmode="lin" valueType="num">
                                      <p:cBhvr additive="base">
                                        <p:cTn id="43" dur="600" fill="hold"/>
                                        <p:tgtEl>
                                          <p:spTgt spid="15"/>
                                        </p:tgtEl>
                                        <p:attrNameLst>
                                          <p:attrName>ppt_y</p:attrName>
                                        </p:attrNameLst>
                                      </p:cBhvr>
                                      <p:tavLst>
                                        <p:tav tm="0">
                                          <p:val>
                                            <p:strVal val="#ppt_y+0.04"/>
                                          </p:val>
                                        </p:tav>
                                        <p:tav tm="100000">
                                          <p:val>
                                            <p:strVal val="#ppt_y"/>
                                          </p:val>
                                        </p:tav>
                                      </p:tavLst>
                                    </p:anim>
                                  </p:childTnLst>
                                </p:cTn>
                              </p:par>
                              <p:par>
                                <p:cTn id="48" presetID="10" presetClass="entr" presetSubtype="0" fill="hold" nodeType="withEffect">
                                  <p:stCondLst>
                                    <p:cond delay="43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600"/>
                                        <p:tgtEl>
                                          <p:spTgt spid="16"/>
                                        </p:tgtEl>
                                      </p:cBhvr>
                                    </p:animEffect>
                                    <p:anim calcmode="lin" valueType="num">
                                      <p:cBhvr additive="base">
                                        <p:cTn id="47" dur="600" fill="hold"/>
                                        <p:tgtEl>
                                          <p:spTgt spid="16"/>
                                        </p:tgtEl>
                                        <p:attrNameLst>
                                          <p:attrName>ppt_y</p:attrName>
                                        </p:attrNameLst>
                                      </p:cBhvr>
                                      <p:tavLst>
                                        <p:tav tm="0">
                                          <p:val>
                                            <p:strVal val="#ppt_y+0.04"/>
                                          </p:val>
                                        </p:tav>
                                        <p:tav tm="100000">
                                          <p:val>
                                            <p:strVal val="#ppt_y"/>
                                          </p:val>
                                        </p:tav>
                                      </p:tavLst>
                                    </p:anim>
                                  </p:childTnLst>
                                </p:cTn>
                              </p:par>
                              <p:par>
                                <p:cTn id="52" presetID="10" presetClass="entr" presetSubtype="0" fill="hold" nodeType="withEffect">
                                  <p:stCondLst>
                                    <p:cond delay="43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600"/>
                                        <p:tgtEl>
                                          <p:spTgt spid="17"/>
                                        </p:tgtEl>
                                      </p:cBhvr>
                                    </p:animEffect>
                                    <p:anim calcmode="lin" valueType="num">
                                      <p:cBhvr additive="base">
                                        <p:cTn id="51" dur="600" fill="hold"/>
                                        <p:tgtEl>
                                          <p:spTgt spid="17"/>
                                        </p:tgtEl>
                                        <p:attrNameLst>
                                          <p:attrName>ppt_y</p:attrName>
                                        </p:attrNameLst>
                                      </p:cBhvr>
                                      <p:tavLst>
                                        <p:tav tm="0">
                                          <p:val>
                                            <p:strVal val="#ppt_y+0.04"/>
                                          </p:val>
                                        </p:tav>
                                        <p:tav tm="100000">
                                          <p:val>
                                            <p:strVal val="#ppt_y"/>
                                          </p:val>
                                        </p:tav>
                                      </p:tavLst>
                                    </p:anim>
                                  </p:childTnLst>
                                </p:cTn>
                              </p:par>
                              <p:par>
                                <p:cTn id="56" presetID="10" presetClass="entr" presetSubtype="0" fill="hold" nodeType="withEffect">
                                  <p:stCondLst>
                                    <p:cond delay="71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600"/>
                                        <p:tgtEl>
                                          <p:spTgt spid="18"/>
                                        </p:tgtEl>
                                      </p:cBhvr>
                                    </p:animEffect>
                                    <p:anim calcmode="lin" valueType="num">
                                      <p:cBhvr additive="base">
                                        <p:cTn id="55" dur="600" fill="hold"/>
                                        <p:tgtEl>
                                          <p:spTgt spid="18"/>
                                        </p:tgtEl>
                                        <p:attrNameLst>
                                          <p:attrName>ppt_y</p:attrName>
                                        </p:attrNameLst>
                                      </p:cBhvr>
                                      <p:tavLst>
                                        <p:tav tm="0">
                                          <p:val>
                                            <p:strVal val="#ppt_y+0.04"/>
                                          </p:val>
                                        </p:tav>
                                        <p:tav tm="100000">
                                          <p:val>
                                            <p:strVal val="#ppt_y"/>
                                          </p:val>
                                        </p:tav>
                                      </p:tavLst>
                                    </p:anim>
                                  </p:childTnLst>
                                </p:cTn>
                              </p:par>
                              <p:par>
                                <p:cTn id="60" presetID="10" presetClass="entr" presetSubtype="0" fill="hold" nodeType="withEffect">
                                  <p:stCondLst>
                                    <p:cond delay="71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600"/>
                                        <p:tgtEl>
                                          <p:spTgt spid="19"/>
                                        </p:tgtEl>
                                      </p:cBhvr>
                                    </p:animEffect>
                                    <p:anim calcmode="lin" valueType="num">
                                      <p:cBhvr additive="base">
                                        <p:cTn id="59" dur="600" fill="hold"/>
                                        <p:tgtEl>
                                          <p:spTgt spid="19"/>
                                        </p:tgtEl>
                                        <p:attrNameLst>
                                          <p:attrName>ppt_y</p:attrName>
                                        </p:attrNameLst>
                                      </p:cBhvr>
                                      <p:tavLst>
                                        <p:tav tm="0">
                                          <p:val>
                                            <p:strVal val="#ppt_y+0.04"/>
                                          </p:val>
                                        </p:tav>
                                        <p:tav tm="100000">
                                          <p:val>
                                            <p:strVal val="#ppt_y"/>
                                          </p:val>
                                        </p:tav>
                                      </p:tavLst>
                                    </p:anim>
                                  </p:childTnLst>
                                </p:cTn>
                              </p:par>
                              <p:par>
                                <p:cTn id="64" presetID="10" presetClass="entr" presetSubtype="0" fill="hold" nodeType="withEffect">
                                  <p:stCondLst>
                                    <p:cond delay="71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600"/>
                                        <p:tgtEl>
                                          <p:spTgt spid="20"/>
                                        </p:tgtEl>
                                      </p:cBhvr>
                                    </p:animEffect>
                                    <p:anim calcmode="lin" valueType="num">
                                      <p:cBhvr additive="base">
                                        <p:cTn id="63" dur="600" fill="hold"/>
                                        <p:tgtEl>
                                          <p:spTgt spid="20"/>
                                        </p:tgtEl>
                                        <p:attrNameLst>
                                          <p:attrName>ppt_y</p:attrName>
                                        </p:attrNameLst>
                                      </p:cBhvr>
                                      <p:tavLst>
                                        <p:tav tm="0">
                                          <p:val>
                                            <p:strVal val="#ppt_y+0.04"/>
                                          </p:val>
                                        </p:tav>
                                        <p:tav tm="100000">
                                          <p:val>
                                            <p:strVal val="#ppt_y"/>
                                          </p:val>
                                        </p:tav>
                                      </p:tavLst>
                                    </p:anim>
                                  </p:childTnLst>
                                </p:cTn>
                              </p:par>
                              <p:par>
                                <p:cTn id="68" presetID="10" presetClass="entr" presetSubtype="0" fill="hold" nodeType="withEffect">
                                  <p:stCondLst>
                                    <p:cond delay="71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600"/>
                                        <p:tgtEl>
                                          <p:spTgt spid="21"/>
                                        </p:tgtEl>
                                      </p:cBhvr>
                                    </p:animEffect>
                                    <p:anim calcmode="lin" valueType="num">
                                      <p:cBhvr additive="base">
                                        <p:cTn id="67" dur="600" fill="hold"/>
                                        <p:tgtEl>
                                          <p:spTgt spid="21"/>
                                        </p:tgtEl>
                                        <p:attrNameLst>
                                          <p:attrName>ppt_y</p:attrName>
                                        </p:attrNameLst>
                                      </p:cBhvr>
                                      <p:tavLst>
                                        <p:tav tm="0">
                                          <p:val>
                                            <p:strVal val="#ppt_y+0.04"/>
                                          </p:val>
                                        </p:tav>
                                        <p:tav tm="100000">
                                          <p:val>
                                            <p:strVal val="#ppt_y"/>
                                          </p:val>
                                        </p:tav>
                                      </p:tavLst>
                                    </p:anim>
                                  </p:childTnLst>
                                </p:cTn>
                              </p:par>
                              <p:par>
                                <p:cTn id="72" presetID="10" presetClass="entr" presetSubtype="0" fill="hold" nodeType="withEffect">
                                  <p:stCondLst>
                                    <p:cond delay="71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600"/>
                                        <p:tgtEl>
                                          <p:spTgt spid="22"/>
                                        </p:tgtEl>
                                      </p:cBhvr>
                                    </p:animEffect>
                                    <p:anim calcmode="lin" valueType="num">
                                      <p:cBhvr additive="base">
                                        <p:cTn id="71" dur="600" fill="hold"/>
                                        <p:tgtEl>
                                          <p:spTgt spid="22"/>
                                        </p:tgtEl>
                                        <p:attrNameLst>
                                          <p:attrName>ppt_y</p:attrName>
                                        </p:attrNameLst>
                                      </p:cBhvr>
                                      <p:tavLst>
                                        <p:tav tm="0">
                                          <p:val>
                                            <p:strVal val="#ppt_y+0.04"/>
                                          </p:val>
                                        </p:tav>
                                        <p:tav tm="100000">
                                          <p:val>
                                            <p:strVal val="#ppt_y"/>
                                          </p:val>
                                        </p:tav>
                                      </p:tavLst>
                                    </p:anim>
                                  </p:childTnLst>
                                </p:cTn>
                              </p:par>
                              <p:par>
                                <p:cTn id="76" presetID="10" presetClass="entr" presetSubtype="0" fill="hold" nodeType="withEffect">
                                  <p:stCondLst>
                                    <p:cond delay="71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600"/>
                                        <p:tgtEl>
                                          <p:spTgt spid="23"/>
                                        </p:tgtEl>
                                      </p:cBhvr>
                                    </p:animEffect>
                                    <p:anim calcmode="lin" valueType="num">
                                      <p:cBhvr additive="base">
                                        <p:cTn id="75" dur="600" fill="hold"/>
                                        <p:tgtEl>
                                          <p:spTgt spid="23"/>
                                        </p:tgtEl>
                                        <p:attrNameLst>
                                          <p:attrName>ppt_y</p:attrName>
                                        </p:attrNameLst>
                                      </p:cBhvr>
                                      <p:tavLst>
                                        <p:tav tm="0">
                                          <p:val>
                                            <p:strVal val="#ppt_y+0.04"/>
                                          </p:val>
                                        </p:tav>
                                        <p:tav tm="100000">
                                          <p:val>
                                            <p:strVal val="#ppt_y"/>
                                          </p:val>
                                        </p:tav>
                                      </p:tavLst>
                                    </p:anim>
                                  </p:childTnLst>
                                </p:cTn>
                              </p:par>
                              <p:par>
                                <p:cTn id="80" presetID="10" presetClass="entr" presetSubtype="0" fill="hold" nodeType="withEffect">
                                  <p:stCondLst>
                                    <p:cond delay="990"/>
                                  </p:stCondLst>
                                  <p:childTnLst>
                                    <p:set>
                                      <p:cBhvr>
                                        <p:cTn id="77" dur="1" fill="hold">
                                          <p:stCondLst>
                                            <p:cond delay="0"/>
                                          </p:stCondLst>
                                        </p:cTn>
                                        <p:tgtEl>
                                          <p:spTgt spid="24"/>
                                        </p:tgtEl>
                                        <p:attrNameLst>
                                          <p:attrName>style.visibility</p:attrName>
                                        </p:attrNameLst>
                                      </p:cBhvr>
                                      <p:to>
                                        <p:strVal val="visible"/>
                                      </p:to>
                                    </p:set>
                                    <p:animEffect transition="in" filter="fade">
                                      <p:cBhvr>
                                        <p:cTn id="78" dur="600"/>
                                        <p:tgtEl>
                                          <p:spTgt spid="24"/>
                                        </p:tgtEl>
                                      </p:cBhvr>
                                    </p:animEffect>
                                    <p:anim calcmode="lin" valueType="num">
                                      <p:cBhvr additive="base">
                                        <p:cTn id="79" dur="600" fill="hold"/>
                                        <p:tgtEl>
                                          <p:spTgt spid="24"/>
                                        </p:tgtEl>
                                        <p:attrNameLst>
                                          <p:attrName>ppt_y</p:attrName>
                                        </p:attrNameLst>
                                      </p:cBhvr>
                                      <p:tavLst>
                                        <p:tav tm="0">
                                          <p:val>
                                            <p:strVal val="#ppt_y+0.04"/>
                                          </p:val>
                                        </p:tav>
                                        <p:tav tm="100000">
                                          <p:val>
                                            <p:strVal val="#ppt_y"/>
                                          </p:val>
                                        </p:tav>
                                      </p:tavLst>
                                    </p:anim>
                                  </p:childTnLst>
                                </p:cTn>
                              </p:par>
                              <p:par>
                                <p:cTn id="84" presetID="10" presetClass="entr" presetSubtype="0" fill="hold" nodeType="withEffect">
                                  <p:stCondLst>
                                    <p:cond delay="990"/>
                                  </p:stCondLst>
                                  <p:childTnLst>
                                    <p:set>
                                      <p:cBhvr>
                                        <p:cTn id="81" dur="1" fill="hold">
                                          <p:stCondLst>
                                            <p:cond delay="0"/>
                                          </p:stCondLst>
                                        </p:cTn>
                                        <p:tgtEl>
                                          <p:spTgt spid="25"/>
                                        </p:tgtEl>
                                        <p:attrNameLst>
                                          <p:attrName>style.visibility</p:attrName>
                                        </p:attrNameLst>
                                      </p:cBhvr>
                                      <p:to>
                                        <p:strVal val="visible"/>
                                      </p:to>
                                    </p:set>
                                    <p:animEffect transition="in" filter="fade">
                                      <p:cBhvr>
                                        <p:cTn id="82" dur="600"/>
                                        <p:tgtEl>
                                          <p:spTgt spid="25"/>
                                        </p:tgtEl>
                                      </p:cBhvr>
                                    </p:animEffect>
                                    <p:anim calcmode="lin" valueType="num">
                                      <p:cBhvr additive="base">
                                        <p:cTn id="83" dur="600" fill="hold"/>
                                        <p:tgtEl>
                                          <p:spTgt spid="25"/>
                                        </p:tgtEl>
                                        <p:attrNameLst>
                                          <p:attrName>ppt_y</p:attrName>
                                        </p:attrNameLst>
                                      </p:cBhvr>
                                      <p:tavLst>
                                        <p:tav tm="0">
                                          <p:val>
                                            <p:strVal val="#ppt_y+0.04"/>
                                          </p:val>
                                        </p:tav>
                                        <p:tav tm="100000">
                                          <p:val>
                                            <p:strVal val="#ppt_y"/>
                                          </p:val>
                                        </p:tav>
                                      </p:tavLst>
                                    </p:anim>
                                  </p:childTnLst>
                                </p:cTn>
                              </p:par>
                              <p:par>
                                <p:cTn id="88" presetID="10" presetClass="entr" presetSubtype="0" fill="hold" nodeType="withEffect">
                                  <p:stCondLst>
                                    <p:cond delay="990"/>
                                  </p:stCondLst>
                                  <p:childTnLst>
                                    <p:set>
                                      <p:cBhvr>
                                        <p:cTn id="85" dur="1" fill="hold">
                                          <p:stCondLst>
                                            <p:cond delay="0"/>
                                          </p:stCondLst>
                                        </p:cTn>
                                        <p:tgtEl>
                                          <p:spTgt spid="26"/>
                                        </p:tgtEl>
                                        <p:attrNameLst>
                                          <p:attrName>style.visibility</p:attrName>
                                        </p:attrNameLst>
                                      </p:cBhvr>
                                      <p:to>
                                        <p:strVal val="visible"/>
                                      </p:to>
                                    </p:set>
                                    <p:animEffect transition="in" filter="fade">
                                      <p:cBhvr>
                                        <p:cTn id="86" dur="600"/>
                                        <p:tgtEl>
                                          <p:spTgt spid="26"/>
                                        </p:tgtEl>
                                      </p:cBhvr>
                                    </p:animEffect>
                                    <p:anim calcmode="lin" valueType="num">
                                      <p:cBhvr additive="base">
                                        <p:cTn id="87" dur="600" fill="hold"/>
                                        <p:tgtEl>
                                          <p:spTgt spid="26"/>
                                        </p:tgtEl>
                                        <p:attrNameLst>
                                          <p:attrName>ppt_y</p:attrName>
                                        </p:attrNameLst>
                                      </p:cBhvr>
                                      <p:tavLst>
                                        <p:tav tm="0">
                                          <p:val>
                                            <p:strVal val="#ppt_y+0.04"/>
                                          </p:val>
                                        </p:tav>
                                        <p:tav tm="100000">
                                          <p:val>
                                            <p:strVal val="#ppt_y"/>
                                          </p:val>
                                        </p:tav>
                                      </p:tavLst>
                                    </p:anim>
                                  </p:childTnLst>
                                </p:cTn>
                              </p:par>
                              <p:par>
                                <p:cTn id="92" presetID="10" presetClass="entr" presetSubtype="0" fill="hold" nodeType="withEffect">
                                  <p:stCondLst>
                                    <p:cond delay="990"/>
                                  </p:stCondLst>
                                  <p:childTnLst>
                                    <p:set>
                                      <p:cBhvr>
                                        <p:cTn id="89" dur="1" fill="hold">
                                          <p:stCondLst>
                                            <p:cond delay="0"/>
                                          </p:stCondLst>
                                        </p:cTn>
                                        <p:tgtEl>
                                          <p:spTgt spid="27"/>
                                        </p:tgtEl>
                                        <p:attrNameLst>
                                          <p:attrName>style.visibility</p:attrName>
                                        </p:attrNameLst>
                                      </p:cBhvr>
                                      <p:to>
                                        <p:strVal val="visible"/>
                                      </p:to>
                                    </p:set>
                                    <p:animEffect transition="in" filter="fade">
                                      <p:cBhvr>
                                        <p:cTn id="90" dur="600"/>
                                        <p:tgtEl>
                                          <p:spTgt spid="27"/>
                                        </p:tgtEl>
                                      </p:cBhvr>
                                    </p:animEffect>
                                    <p:anim calcmode="lin" valueType="num">
                                      <p:cBhvr additive="base">
                                        <p:cTn id="91" dur="600" fill="hold"/>
                                        <p:tgtEl>
                                          <p:spTgt spid="27"/>
                                        </p:tgtEl>
                                        <p:attrNameLst>
                                          <p:attrName>ppt_y</p:attrName>
                                        </p:attrNameLst>
                                      </p:cBhvr>
                                      <p:tavLst>
                                        <p:tav tm="0">
                                          <p:val>
                                            <p:strVal val="#ppt_y+0.04"/>
                                          </p:val>
                                        </p:tav>
                                        <p:tav tm="100000">
                                          <p:val>
                                            <p:strVal val="#ppt_y"/>
                                          </p:val>
                                        </p:tav>
                                      </p:tavLst>
                                    </p:anim>
                                  </p:childTnLst>
                                </p:cTn>
                              </p:par>
                              <p:par>
                                <p:cTn id="96" presetID="10" presetClass="entr" presetSubtype="0" fill="hold" nodeType="withEffect">
                                  <p:stCondLst>
                                    <p:cond delay="990"/>
                                  </p:stCondLst>
                                  <p:childTnLst>
                                    <p:set>
                                      <p:cBhvr>
                                        <p:cTn id="93" dur="1" fill="hold">
                                          <p:stCondLst>
                                            <p:cond delay="0"/>
                                          </p:stCondLst>
                                        </p:cTn>
                                        <p:tgtEl>
                                          <p:spTgt spid="28"/>
                                        </p:tgtEl>
                                        <p:attrNameLst>
                                          <p:attrName>style.visibility</p:attrName>
                                        </p:attrNameLst>
                                      </p:cBhvr>
                                      <p:to>
                                        <p:strVal val="visible"/>
                                      </p:to>
                                    </p:set>
                                    <p:animEffect transition="in" filter="fade">
                                      <p:cBhvr>
                                        <p:cTn id="94" dur="600"/>
                                        <p:tgtEl>
                                          <p:spTgt spid="28"/>
                                        </p:tgtEl>
                                      </p:cBhvr>
                                    </p:animEffect>
                                    <p:anim calcmode="lin" valueType="num">
                                      <p:cBhvr additive="base">
                                        <p:cTn id="95" dur="600" fill="hold"/>
                                        <p:tgtEl>
                                          <p:spTgt spid="28"/>
                                        </p:tgtEl>
                                        <p:attrNameLst>
                                          <p:attrName>ppt_y</p:attrName>
                                        </p:attrNameLst>
                                      </p:cBhvr>
                                      <p:tavLst>
                                        <p:tav tm="0">
                                          <p:val>
                                            <p:strVal val="#ppt_y+0.04"/>
                                          </p:val>
                                        </p:tav>
                                        <p:tav tm="100000">
                                          <p:val>
                                            <p:strVal val="#ppt_y"/>
                                          </p:val>
                                        </p:tav>
                                      </p:tavLst>
                                    </p:anim>
                                  </p:childTnLst>
                                </p:cTn>
                              </p:par>
                              <p:par>
                                <p:cTn id="100" presetID="10" presetClass="entr" presetSubtype="0" fill="hold" nodeType="withEffect">
                                  <p:stCondLst>
                                    <p:cond delay="990"/>
                                  </p:stCondLst>
                                  <p:childTnLst>
                                    <p:set>
                                      <p:cBhvr>
                                        <p:cTn id="97" dur="1" fill="hold">
                                          <p:stCondLst>
                                            <p:cond delay="0"/>
                                          </p:stCondLst>
                                        </p:cTn>
                                        <p:tgtEl>
                                          <p:spTgt spid="29"/>
                                        </p:tgtEl>
                                        <p:attrNameLst>
                                          <p:attrName>style.visibility</p:attrName>
                                        </p:attrNameLst>
                                      </p:cBhvr>
                                      <p:to>
                                        <p:strVal val="visible"/>
                                      </p:to>
                                    </p:set>
                                    <p:animEffect transition="in" filter="fade">
                                      <p:cBhvr>
                                        <p:cTn id="98" dur="600"/>
                                        <p:tgtEl>
                                          <p:spTgt spid="29"/>
                                        </p:tgtEl>
                                      </p:cBhvr>
                                    </p:animEffect>
                                    <p:anim calcmode="lin" valueType="num">
                                      <p:cBhvr additive="base">
                                        <p:cTn id="99" dur="600" fill="hold"/>
                                        <p:tgtEl>
                                          <p:spTgt spid="29"/>
                                        </p:tgtEl>
                                        <p:attrNameLst>
                                          <p:attrName>ppt_y</p:attrName>
                                        </p:attrNameLst>
                                      </p:cBhvr>
                                      <p:tavLst>
                                        <p:tav tm="0">
                                          <p:val>
                                            <p:strVal val="#ppt_y+0.04"/>
                                          </p:val>
                                        </p:tav>
                                        <p:tav tm="100000">
                                          <p:val>
                                            <p:strVal val="#ppt_y"/>
                                          </p:val>
                                        </p:tav>
                                      </p:tavLst>
                                    </p:anim>
                                  </p:childTnLst>
                                </p:cTn>
                              </p:par>
                              <p:par>
                                <p:cTn id="104" presetID="10" presetClass="entr" presetSubtype="0" fill="hold" nodeType="withEffect">
                                  <p:stCondLst>
                                    <p:cond delay="1270"/>
                                  </p:stCondLst>
                                  <p:childTnLst>
                                    <p:set>
                                      <p:cBhvr>
                                        <p:cTn id="101" dur="1" fill="hold">
                                          <p:stCondLst>
                                            <p:cond delay="0"/>
                                          </p:stCondLst>
                                        </p:cTn>
                                        <p:tgtEl>
                                          <p:spTgt spid="30"/>
                                        </p:tgtEl>
                                        <p:attrNameLst>
                                          <p:attrName>style.visibility</p:attrName>
                                        </p:attrNameLst>
                                      </p:cBhvr>
                                      <p:to>
                                        <p:strVal val="visible"/>
                                      </p:to>
                                    </p:set>
                                    <p:animEffect transition="in" filter="fade">
                                      <p:cBhvr>
                                        <p:cTn id="102" dur="600"/>
                                        <p:tgtEl>
                                          <p:spTgt spid="30"/>
                                        </p:tgtEl>
                                      </p:cBhvr>
                                    </p:animEffect>
                                    <p:anim calcmode="lin" valueType="num">
                                      <p:cBhvr additive="base">
                                        <p:cTn id="103" dur="600" fill="hold"/>
                                        <p:tgtEl>
                                          <p:spTgt spid="30"/>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mc:Ignorable="p14 p159">
  <p:cSld name="Slide 7">
    <p:bg>
      <p:bgPr>
        <a:solidFill>
          <a:srgbClr val="FCFBF7"/>
        </a:solidFill>
      </p:bgPr>
    </p:bg>
    <p:spTree>
      <p:nvGrpSpPr>
        <p:cNvPr id="1" name=""/>
        <p:cNvGrpSpPr/>
        <p:nvPr/>
      </p:nvGrpSpPr>
      <p:grpSpPr>
        <a:xfrm>
          <a:off x="0" y="0"/>
          <a:ext cx="0" cy="0"/>
          <a:chOff x="0" y="0"/>
          <a:chExt cx="0" cy="0"/>
        </a:xfrm>
      </p:grpSpPr>
      <p:pic>
        <p:nvPicPr>
          <p:cNvPr id="2" name="!!blobOrange" descr="preencoded.png">    </p:cNvPr>
          <p:cNvPicPr>
            <a:picLocks noChangeAspect="1"/>
          </p:cNvPicPr>
          <p:nvPr/>
        </p:nvPicPr>
        <p:blipFill>
          <a:blip r:embed="rId1"/>
          <a:stretch>
            <a:fillRect/>
          </a:stretch>
        </p:blipFill>
        <p:spPr>
          <a:xfrm>
            <a:off x="-2194560" y="3108960"/>
            <a:ext cx="5943600" cy="5943600"/>
          </a:xfrm>
          <a:prstGeom prst="rect">
            <a:avLst/>
          </a:prstGeom>
        </p:spPr>
      </p:pic>
      <p:pic>
        <p:nvPicPr>
          <p:cNvPr id="3" name="!!blobGreen" descr="preencoded.png">    </p:cNvPr>
          <p:cNvPicPr>
            <a:picLocks noChangeAspect="1"/>
          </p:cNvPicPr>
          <p:nvPr/>
        </p:nvPicPr>
        <p:blipFill>
          <a:blip r:embed="rId2"/>
          <a:stretch>
            <a:fillRect/>
          </a:stretch>
        </p:blipFill>
        <p:spPr>
          <a:xfrm>
            <a:off x="8778240" y="-2194560"/>
            <a:ext cx="5486400" cy="5486400"/>
          </a:xfrm>
          <a:prstGeom prst="rect">
            <a:avLst/>
          </a:prstGeom>
        </p:spPr>
      </p:pic>
      <p:sp>
        <p:nvSpPr>
          <p:cNvPr id="4" name="!!kicker"/>
          <p:cNvSpPr txBox="1"/>
          <p:nvPr/>
        </p:nvSpPr>
        <p:spPr>
          <a:xfrm>
            <a:off x="640080" y="228600"/>
            <a:ext cx="7315200" cy="274320"/>
          </a:xfrm>
          <a:prstGeom prst="rect">
            <a:avLst/>
          </a:prstGeom>
          <a:noFill/>
          <a:ln/>
        </p:spPr>
        <p:txBody>
          <a:bodyPr wrap="square" lIns="0" tIns="0" rIns="0" bIns="0" rtlCol="0" anchor="ctr"/>
          <a:lstStyle/>
          <a:p>
            <a:pPr indent="0" marL="0">
              <a:buNone/>
            </a:pPr>
            <a:r>
              <a:rPr lang="en-US" sz="1100" b="1" spc="300" kern="0" dirty="0">
                <a:solidFill>
                  <a:srgbClr val="BF5320"/>
                </a:solidFill>
                <a:latin typeface="Calibri" pitchFamily="34" charset="0"/>
                <a:ea typeface="Calibri" pitchFamily="34" charset="-122"/>
                <a:cs typeface="Calibri" pitchFamily="34" charset="-120"/>
              </a:rPr>
              <a:t>WORKING PROTOTYPE — LIVE ON OCI</a:t>
            </a:r>
            <a:endParaRPr lang="en-US" sz="1100" dirty="0"/>
          </a:p>
        </p:txBody>
      </p:sp>
      <p:sp>
        <p:nvSpPr>
          <p:cNvPr id="5" name="!!title"/>
          <p:cNvSpPr txBox="1"/>
          <p:nvPr/>
        </p:nvSpPr>
        <p:spPr>
          <a:xfrm>
            <a:off x="640080" y="502920"/>
            <a:ext cx="10881360" cy="914400"/>
          </a:xfrm>
          <a:prstGeom prst="rect">
            <a:avLst/>
          </a:prstGeom>
          <a:noFill/>
          <a:ln/>
        </p:spPr>
        <p:txBody>
          <a:bodyPr wrap="square" lIns="0" tIns="0" rIns="0" bIns="0" rtlCol="0" anchor="ctr"/>
          <a:lstStyle/>
          <a:p>
            <a:pPr indent="0" marL="0">
              <a:buNone/>
            </a:pPr>
            <a:r>
              <a:rPr lang="en-US" sz="3600" b="1" dirty="0">
                <a:solidFill>
                  <a:srgbClr val="1C1712"/>
                </a:solidFill>
                <a:latin typeface="Cambria" pitchFamily="34" charset="0"/>
                <a:ea typeface="Cambria" pitchFamily="34" charset="-122"/>
                <a:cs typeface="Cambria" pitchFamily="34" charset="-120"/>
              </a:rPr>
              <a:t>It works today.</a:t>
            </a:r>
            <a:pPr indent="0" marL="0">
              <a:buNone/>
            </a:pPr>
            <a:r>
              <a:rPr lang="en-US" sz="3600" b="1" dirty="0">
                <a:solidFill>
                  <a:srgbClr val="F0703D"/>
                </a:solidFill>
                <a:latin typeface="Cambria" pitchFamily="34" charset="0"/>
                <a:ea typeface="Cambria" pitchFamily="34" charset="-122"/>
                <a:cs typeface="Cambria" pitchFamily="34" charset="-120"/>
              </a:rPr>
              <a:t> Try it.</a:t>
            </a:r>
            <a:endParaRPr lang="en-US" sz="3600" dirty="0"/>
          </a:p>
        </p:txBody>
      </p:sp>
      <p:pic>
        <p:nvPicPr>
          <p:cNvPr id="6" name="anim1_shot" descr="preencoded.png">    </p:cNvPr>
          <p:cNvPicPr>
            <a:picLocks noChangeAspect="1"/>
          </p:cNvPicPr>
          <p:nvPr/>
        </p:nvPicPr>
        <p:blipFill>
          <a:blip r:embed="rId3"/>
          <a:stretch>
            <a:fillRect/>
          </a:stretch>
        </p:blipFill>
        <p:spPr>
          <a:xfrm>
            <a:off x="640080" y="1828800"/>
            <a:ext cx="3429000" cy="2269191"/>
          </a:xfrm>
          <a:prstGeom prst="rect">
            <a:avLst/>
          </a:prstGeom>
          <a:effectLst>
            <a:outerShdw sx="100000" sy="100000" kx="0" ky="0" algn="bl" rotWithShape="0" blurRad="228600" dist="101600" dir="5400000">
              <a:srgbClr val="3D1A0C">
                <a:alpha val="20000"/>
              </a:srgbClr>
            </a:outerShdw>
          </a:effectLst>
        </p:spPr>
      </p:pic>
      <p:sp>
        <p:nvSpPr>
          <p:cNvPr id="7" name="anim1_cap"/>
          <p:cNvSpPr txBox="1"/>
          <p:nvPr/>
        </p:nvSpPr>
        <p:spPr>
          <a:xfrm>
            <a:off x="640080" y="4280871"/>
            <a:ext cx="3429000" cy="685800"/>
          </a:xfrm>
          <a:prstGeom prst="rect">
            <a:avLst/>
          </a:prstGeom>
          <a:noFill/>
          <a:ln/>
        </p:spPr>
        <p:txBody>
          <a:bodyPr wrap="square" lIns="0" tIns="0" rIns="0" bIns="0" rtlCol="0" anchor="t"/>
          <a:lstStyle/>
          <a:p>
            <a:pPr indent="0" marL="0">
              <a:buNone/>
            </a:pPr>
            <a:r>
              <a:rPr lang="en-US" sz="1600" b="1" dirty="0">
                <a:solidFill>
                  <a:srgbClr val="1C1712"/>
                </a:solidFill>
                <a:latin typeface="Calibri" pitchFamily="34" charset="0"/>
                <a:ea typeface="Calibri" pitchFamily="34" charset="-122"/>
                <a:cs typeface="Calibri" pitchFamily="34" charset="-120"/>
              </a:rPr>
              <a:t>Donor workspace</a:t>
            </a:r>
            <a:endParaRPr lang="en-US" sz="1600" dirty="0"/>
          </a:p>
          <a:p>
            <a:pPr indent="0" marL="0">
              <a:buNone/>
            </a:pPr>
            <a:r>
              <a:rPr lang="en-US" sz="1300" dirty="0">
                <a:solidFill>
                  <a:srgbClr val="5B5148"/>
                </a:solidFill>
                <a:latin typeface="Calibri" pitchFamily="34" charset="0"/>
                <a:ea typeface="Calibri" pitchFamily="34" charset="-122"/>
                <a:cs typeface="Calibri" pitchFamily="34" charset="-120"/>
              </a:rPr>
              <a:t>Post surplus, track who claimed it</a:t>
            </a:r>
            <a:endParaRPr lang="en-US" sz="1600" dirty="0"/>
          </a:p>
        </p:txBody>
      </p:sp>
      <p:pic>
        <p:nvPicPr>
          <p:cNvPr id="8" name="anim2_shot" descr="preencoded.png">    </p:cNvPr>
          <p:cNvPicPr>
            <a:picLocks noChangeAspect="1"/>
          </p:cNvPicPr>
          <p:nvPr/>
        </p:nvPicPr>
        <p:blipFill>
          <a:blip r:embed="rId4"/>
          <a:stretch>
            <a:fillRect/>
          </a:stretch>
        </p:blipFill>
        <p:spPr>
          <a:xfrm>
            <a:off x="4343400" y="1828800"/>
            <a:ext cx="3429000" cy="2269191"/>
          </a:xfrm>
          <a:prstGeom prst="rect">
            <a:avLst/>
          </a:prstGeom>
          <a:effectLst>
            <a:outerShdw sx="100000" sy="100000" kx="0" ky="0" algn="bl" rotWithShape="0" blurRad="228600" dist="101600" dir="5400000">
              <a:srgbClr val="3D1A0C">
                <a:alpha val="20000"/>
              </a:srgbClr>
            </a:outerShdw>
          </a:effectLst>
        </p:spPr>
      </p:pic>
      <p:sp>
        <p:nvSpPr>
          <p:cNvPr id="9" name="anim2_cap"/>
          <p:cNvSpPr txBox="1"/>
          <p:nvPr/>
        </p:nvSpPr>
        <p:spPr>
          <a:xfrm>
            <a:off x="4343400" y="4280871"/>
            <a:ext cx="3429000" cy="685800"/>
          </a:xfrm>
          <a:prstGeom prst="rect">
            <a:avLst/>
          </a:prstGeom>
          <a:noFill/>
          <a:ln/>
        </p:spPr>
        <p:txBody>
          <a:bodyPr wrap="square" lIns="0" tIns="0" rIns="0" bIns="0" rtlCol="0" anchor="t"/>
          <a:lstStyle/>
          <a:p>
            <a:pPr indent="0" marL="0">
              <a:buNone/>
            </a:pPr>
            <a:r>
              <a:rPr lang="en-US" sz="1600" b="1" dirty="0">
                <a:solidFill>
                  <a:srgbClr val="1C1712"/>
                </a:solidFill>
                <a:latin typeface="Calibri" pitchFamily="34" charset="0"/>
                <a:ea typeface="Calibri" pitchFamily="34" charset="-122"/>
                <a:cs typeface="Calibri" pitchFamily="34" charset="-120"/>
              </a:rPr>
              <a:t>Food bank portal</a:t>
            </a:r>
            <a:endParaRPr lang="en-US" sz="1600" dirty="0"/>
          </a:p>
          <a:p>
            <a:pPr indent="0" marL="0">
              <a:buNone/>
            </a:pPr>
            <a:r>
              <a:rPr lang="en-US" sz="1300" dirty="0">
                <a:solidFill>
                  <a:srgbClr val="5B5148"/>
                </a:solidFill>
                <a:latin typeface="Calibri" pitchFamily="34" charset="0"/>
                <a:ea typeface="Calibri" pitchFamily="34" charset="-122"/>
                <a:cs typeface="Calibri" pitchFamily="34" charset="-120"/>
              </a:rPr>
              <a:t>Edit capacity, filter by diet, claim or edit a claim</a:t>
            </a:r>
            <a:endParaRPr lang="en-US" sz="1600" dirty="0"/>
          </a:p>
        </p:txBody>
      </p:sp>
      <p:pic>
        <p:nvPicPr>
          <p:cNvPr id="10" name="anim3_shot" descr="preencoded.png">    </p:cNvPr>
          <p:cNvPicPr>
            <a:picLocks noChangeAspect="1"/>
          </p:cNvPicPr>
          <p:nvPr/>
        </p:nvPicPr>
        <p:blipFill>
          <a:blip r:embed="rId5"/>
          <a:stretch>
            <a:fillRect/>
          </a:stretch>
        </p:blipFill>
        <p:spPr>
          <a:xfrm>
            <a:off x="8046720" y="1828800"/>
            <a:ext cx="3429000" cy="2269191"/>
          </a:xfrm>
          <a:prstGeom prst="rect">
            <a:avLst/>
          </a:prstGeom>
          <a:effectLst>
            <a:outerShdw sx="100000" sy="100000" kx="0" ky="0" algn="bl" rotWithShape="0" blurRad="228600" dist="101600" dir="5400000">
              <a:srgbClr val="3D1A0C">
                <a:alpha val="20000"/>
              </a:srgbClr>
            </a:outerShdw>
          </a:effectLst>
        </p:spPr>
      </p:pic>
      <p:sp>
        <p:nvSpPr>
          <p:cNvPr id="11" name="anim3_cap"/>
          <p:cNvSpPr txBox="1"/>
          <p:nvPr/>
        </p:nvSpPr>
        <p:spPr>
          <a:xfrm>
            <a:off x="8046720" y="4280871"/>
            <a:ext cx="3429000" cy="685800"/>
          </a:xfrm>
          <a:prstGeom prst="rect">
            <a:avLst/>
          </a:prstGeom>
          <a:noFill/>
          <a:ln/>
        </p:spPr>
        <p:txBody>
          <a:bodyPr wrap="square" lIns="0" tIns="0" rIns="0" bIns="0" rtlCol="0" anchor="t"/>
          <a:lstStyle/>
          <a:p>
            <a:pPr indent="0" marL="0">
              <a:buNone/>
            </a:pPr>
            <a:r>
              <a:rPr lang="en-US" sz="1600" b="1" dirty="0">
                <a:solidFill>
                  <a:srgbClr val="1C1712"/>
                </a:solidFill>
                <a:latin typeface="Calibri" pitchFamily="34" charset="0"/>
                <a:ea typeface="Calibri" pitchFamily="34" charset="-122"/>
                <a:cs typeface="Calibri" pitchFamily="34" charset="-120"/>
              </a:rPr>
              <a:t>Agent console</a:t>
            </a:r>
            <a:endParaRPr lang="en-US" sz="1600" dirty="0"/>
          </a:p>
          <a:p>
            <a:pPr indent="0" marL="0">
              <a:buNone/>
            </a:pPr>
            <a:r>
              <a:rPr lang="en-US" sz="1300" dirty="0">
                <a:solidFill>
                  <a:srgbClr val="5B5148"/>
                </a:solidFill>
                <a:latin typeface="Calibri" pitchFamily="34" charset="0"/>
                <a:ea typeface="Calibri" pitchFamily="34" charset="-122"/>
                <a:cs typeface="Calibri" pitchFamily="34" charset="-120"/>
              </a:rPr>
              <a:t>Rescue, routing, intake and more</a:t>
            </a:r>
            <a:endParaRPr lang="en-US" sz="1600" dirty="0"/>
          </a:p>
        </p:txBody>
      </p:sp>
      <p:sp>
        <p:nvSpPr>
          <p:cNvPr id="12" name="anim4_urlBg"/>
          <p:cNvSpPr/>
          <p:nvPr/>
        </p:nvSpPr>
        <p:spPr>
          <a:xfrm>
            <a:off x="640080" y="5257800"/>
            <a:ext cx="10835640" cy="777240"/>
          </a:xfrm>
          <a:prstGeom prst="roundRect">
            <a:avLst>
              <a:gd name="adj" fmla="val 23529"/>
            </a:avLst>
          </a:prstGeom>
          <a:solidFill>
            <a:srgbClr val="FDE6D4"/>
          </a:solidFill>
          <a:ln w="12700">
            <a:solidFill>
              <a:srgbClr val="FDE6D4"/>
            </a:solidFill>
            <a:prstDash val="solid"/>
          </a:ln>
        </p:spPr>
      </p:sp>
      <p:sp>
        <p:nvSpPr>
          <p:cNvPr id="13" name="anim4_url"/>
          <p:cNvSpPr txBox="1"/>
          <p:nvPr/>
        </p:nvSpPr>
        <p:spPr>
          <a:xfrm>
            <a:off x="914400" y="5257800"/>
            <a:ext cx="10332720" cy="777240"/>
          </a:xfrm>
          <a:prstGeom prst="rect">
            <a:avLst/>
          </a:prstGeom>
          <a:noFill/>
          <a:ln/>
        </p:spPr>
        <p:txBody>
          <a:bodyPr wrap="square" lIns="0" tIns="0" rIns="0" bIns="0" rtlCol="0" anchor="ctr"/>
          <a:lstStyle/>
          <a:p>
            <a:pPr indent="0" marL="0">
              <a:buNone/>
            </a:pPr>
            <a:r>
              <a:rPr lang="en-US" sz="1500" b="1" dirty="0">
                <a:solidFill>
                  <a:srgbClr val="BF5320"/>
                </a:solidFill>
                <a:latin typeface="Calibri" pitchFamily="34" charset="0"/>
                <a:ea typeface="Calibri" pitchFamily="34" charset="-122"/>
                <a:cs typeface="Calibri" pitchFamily="34" charset="-120"/>
              </a:rPr>
              <a:t>Live demo  </a:t>
            </a:r>
            <a:pPr indent="0" marL="0">
              <a:buNone/>
            </a:pPr>
            <a:r>
              <a:rPr lang="en-US" sz="1500" b="1" dirty="0">
                <a:solidFill>
                  <a:srgbClr val="1C1712"/>
                </a:solidFill>
                <a:latin typeface="Calibri" pitchFamily="34" charset="0"/>
                <a:ea typeface="Calibri" pitchFamily="34" charset="-122"/>
                <a:cs typeface="Calibri" pitchFamily="34" charset="-120"/>
              </a:rPr>
              <a:t>https://147-224-193-213.sslip.io</a:t>
            </a:r>
            <a:pPr indent="0" marL="0">
              <a:buNone/>
            </a:pPr>
            <a:r>
              <a:rPr lang="en-US" sz="1500" dirty="0">
                <a:solidFill>
                  <a:srgbClr val="5B5148"/>
                </a:solidFill>
                <a:latin typeface="Calibri" pitchFamily="34" charset="0"/>
                <a:ea typeface="Calibri" pitchFamily="34" charset="-122"/>
                <a:cs typeface="Calibri" pitchFamily="34" charset="-120"/>
              </a:rPr>
              <a:t>   ·   sign in with a sample donor or food bank account</a:t>
            </a:r>
            <a:endParaRPr lang="en-US" sz="1500" dirty="0"/>
          </a:p>
        </p:txBody>
      </p:sp>
      <p:pic>
        <p:nvPicPr>
          <p:cNvPr id="14" name="footLogoL" descr="preencoded.png">    </p:cNvPr>
          <p:cNvPicPr>
            <a:picLocks noChangeAspect="1"/>
          </p:cNvPicPr>
          <p:nvPr/>
        </p:nvPicPr>
        <p:blipFill>
          <a:blip r:embed="rId6"/>
          <a:stretch>
            <a:fillRect/>
          </a:stretch>
        </p:blipFill>
        <p:spPr>
          <a:xfrm>
            <a:off x="640080" y="6355080"/>
            <a:ext cx="384048" cy="252476"/>
          </a:xfrm>
          <a:prstGeom prst="rect">
            <a:avLst/>
          </a:prstGeom>
        </p:spPr>
      </p:pic>
      <p:pic>
        <p:nvPicPr>
          <p:cNvPr id="15" name="footLogoR" descr="preencoded.png">    </p:cNvPr>
          <p:cNvPicPr>
            <a:picLocks noChangeAspect="1"/>
          </p:cNvPicPr>
          <p:nvPr/>
        </p:nvPicPr>
        <p:blipFill>
          <a:blip r:embed="rId7"/>
          <a:stretch>
            <a:fillRect/>
          </a:stretch>
        </p:blipFill>
        <p:spPr>
          <a:xfrm>
            <a:off x="640080" y="6355080"/>
            <a:ext cx="384048" cy="252476"/>
          </a:xfrm>
          <a:prstGeom prst="rect">
            <a:avLst/>
          </a:prstGeom>
        </p:spPr>
      </p:pic>
      <p:pic>
        <p:nvPicPr>
          <p:cNvPr id="16" name="footLogoS" descr="preencoded.png">    </p:cNvPr>
          <p:cNvPicPr>
            <a:picLocks noChangeAspect="1"/>
          </p:cNvPicPr>
          <p:nvPr/>
        </p:nvPicPr>
        <p:blipFill>
          <a:blip r:embed="rId8"/>
          <a:stretch>
            <a:fillRect/>
          </a:stretch>
        </p:blipFill>
        <p:spPr>
          <a:xfrm>
            <a:off x="640080" y="6355080"/>
            <a:ext cx="384048" cy="252476"/>
          </a:xfrm>
          <a:prstGeom prst="rect">
            <a:avLst/>
          </a:prstGeom>
        </p:spPr>
      </p:pic>
      <p:sp>
        <p:nvSpPr>
          <p:cNvPr id="17" name="Text 7"/>
          <p:cNvSpPr txBox="1"/>
          <p:nvPr/>
        </p:nvSpPr>
        <p:spPr>
          <a:xfrm>
            <a:off x="1097280" y="6327648"/>
            <a:ext cx="3657600" cy="292608"/>
          </a:xfrm>
          <a:prstGeom prst="rect">
            <a:avLst/>
          </a:prstGeom>
          <a:noFill/>
          <a:ln/>
        </p:spPr>
        <p:txBody>
          <a:bodyPr wrap="square" lIns="0" tIns="0" rIns="0" bIns="0" rtlCol="0" anchor="ctr"/>
          <a:lstStyle/>
          <a:p>
            <a:pPr indent="0" marL="0">
              <a:buNone/>
            </a:pPr>
            <a:r>
              <a:rPr lang="en-US" sz="1000" dirty="0">
                <a:solidFill>
                  <a:srgbClr val="5B5148"/>
                </a:solidFill>
                <a:latin typeface="Calibri" pitchFamily="34" charset="0"/>
                <a:ea typeface="Calibri" pitchFamily="34" charset="-122"/>
                <a:cs typeface="Calibri" pitchFamily="34" charset="-120"/>
              </a:rPr>
              <a:t>Not Wasted · Surplus saved</a:t>
            </a:r>
            <a:endParaRPr lang="en-US" sz="1000" dirty="0"/>
          </a:p>
        </p:txBody>
      </p:sp>
      <p:sp>
        <p:nvSpPr>
          <p:cNvPr id="18" name="Text 8"/>
          <p:cNvSpPr txBox="1"/>
          <p:nvPr/>
        </p:nvSpPr>
        <p:spPr>
          <a:xfrm>
            <a:off x="10607040" y="6327648"/>
            <a:ext cx="914400" cy="292608"/>
          </a:xfrm>
          <a:prstGeom prst="rect">
            <a:avLst/>
          </a:prstGeom>
          <a:noFill/>
          <a:ln/>
        </p:spPr>
        <p:txBody>
          <a:bodyPr wrap="square" lIns="0" tIns="0" rIns="0" bIns="0" rtlCol="0" anchor="ctr"/>
          <a:lstStyle/>
          <a:p>
            <a:pPr algn="r" indent="0" marL="0">
              <a:buNone/>
            </a:pPr>
            <a:r>
              <a:rPr lang="en-US" sz="1000" dirty="0">
                <a:solidFill>
                  <a:srgbClr val="5B5148"/>
                </a:solidFill>
                <a:latin typeface="Calibri" pitchFamily="34" charset="0"/>
                <a:ea typeface="Calibri" pitchFamily="34" charset="-122"/>
                <a:cs typeface="Calibri" pitchFamily="34" charset="-120"/>
              </a:rPr>
              <a:t>07 / 12</a:t>
            </a:r>
            <a:endParaRPr lang="en-US" sz="1000" dirty="0"/>
          </a:p>
        </p:txBody>
      </p:sp>
    </p:spTree>
  </p:cSld>
  <p:clrMapOvr>
    <a:masterClrMapping/>
  </p:clrMapOvr>
  <mc:AlternateContent>
    <mc:Choice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10" presetClass="entr" presetSubtype="0" fill="hold"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600"/>
                                        <p:tgtEl>
                                          <p:spTgt spid="6"/>
                                        </p:tgtEl>
                                      </p:cBhvr>
                                    </p:animEffect>
                                    <p:anim calcmode="lin" valueType="num">
                                      <p:cBhvr additive="base">
                                        <p:cTn id="7" dur="600" fill="hold"/>
                                        <p:tgtEl>
                                          <p:spTgt spid="6"/>
                                        </p:tgtEl>
                                        <p:attrNameLst>
                                          <p:attrName>ppt_y</p:attrName>
                                        </p:attrNameLst>
                                      </p:cBhvr>
                                      <p:tavLst>
                                        <p:tav tm="0">
                                          <p:val>
                                            <p:strVal val="#ppt_y+0.04"/>
                                          </p:val>
                                        </p:tav>
                                        <p:tav tm="100000">
                                          <p:val>
                                            <p:strVal val="#ppt_y"/>
                                          </p:val>
                                        </p:tav>
                                      </p:tavLst>
                                    </p:anim>
                                  </p:childTnLst>
                                </p:cTn>
                              </p:par>
                              <p:par>
                                <p:cTn id="12" presetID="10" presetClass="entr" presetSubtype="0" fill="hold" nodeType="withEffect">
                                  <p:stCondLst>
                                    <p:cond delay="15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600"/>
                                        <p:tgtEl>
                                          <p:spTgt spid="7"/>
                                        </p:tgtEl>
                                      </p:cBhvr>
                                    </p:animEffect>
                                    <p:anim calcmode="lin" valueType="num">
                                      <p:cBhvr additive="base">
                                        <p:cTn id="11" dur="600" fill="hold"/>
                                        <p:tgtEl>
                                          <p:spTgt spid="7"/>
                                        </p:tgtEl>
                                        <p:attrNameLst>
                                          <p:attrName>ppt_y</p:attrName>
                                        </p:attrNameLst>
                                      </p:cBhvr>
                                      <p:tavLst>
                                        <p:tav tm="0">
                                          <p:val>
                                            <p:strVal val="#ppt_y+0.04"/>
                                          </p:val>
                                        </p:tav>
                                        <p:tav tm="100000">
                                          <p:val>
                                            <p:strVal val="#ppt_y"/>
                                          </p:val>
                                        </p:tav>
                                      </p:tavLst>
                                    </p:anim>
                                  </p:childTnLst>
                                </p:cTn>
                              </p:par>
                              <p:par>
                                <p:cTn id="16" presetID="10" presetClass="entr" presetSubtype="0" fill="hold" nodeType="withEffect">
                                  <p:stCondLst>
                                    <p:cond delay="43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600"/>
                                        <p:tgtEl>
                                          <p:spTgt spid="8"/>
                                        </p:tgtEl>
                                      </p:cBhvr>
                                    </p:animEffect>
                                    <p:anim calcmode="lin" valueType="num">
                                      <p:cBhvr additive="base">
                                        <p:cTn id="15" dur="600" fill="hold"/>
                                        <p:tgtEl>
                                          <p:spTgt spid="8"/>
                                        </p:tgtEl>
                                        <p:attrNameLst>
                                          <p:attrName>ppt_y</p:attrName>
                                        </p:attrNameLst>
                                      </p:cBhvr>
                                      <p:tavLst>
                                        <p:tav tm="0">
                                          <p:val>
                                            <p:strVal val="#ppt_y+0.04"/>
                                          </p:val>
                                        </p:tav>
                                        <p:tav tm="100000">
                                          <p:val>
                                            <p:strVal val="#ppt_y"/>
                                          </p:val>
                                        </p:tav>
                                      </p:tavLst>
                                    </p:anim>
                                  </p:childTnLst>
                                </p:cTn>
                              </p:par>
                              <p:par>
                                <p:cTn id="20" presetID="10" presetClass="entr" presetSubtype="0" fill="hold" nodeType="withEffect">
                                  <p:stCondLst>
                                    <p:cond delay="43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600"/>
                                        <p:tgtEl>
                                          <p:spTgt spid="9"/>
                                        </p:tgtEl>
                                      </p:cBhvr>
                                    </p:animEffect>
                                    <p:anim calcmode="lin" valueType="num">
                                      <p:cBhvr additive="base">
                                        <p:cTn id="19" dur="600" fill="hold"/>
                                        <p:tgtEl>
                                          <p:spTgt spid="9"/>
                                        </p:tgtEl>
                                        <p:attrNameLst>
                                          <p:attrName>ppt_y</p:attrName>
                                        </p:attrNameLst>
                                      </p:cBhvr>
                                      <p:tavLst>
                                        <p:tav tm="0">
                                          <p:val>
                                            <p:strVal val="#ppt_y+0.04"/>
                                          </p:val>
                                        </p:tav>
                                        <p:tav tm="100000">
                                          <p:val>
                                            <p:strVal val="#ppt_y"/>
                                          </p:val>
                                        </p:tav>
                                      </p:tavLst>
                                    </p:anim>
                                  </p:childTnLst>
                                </p:cTn>
                              </p:par>
                              <p:par>
                                <p:cTn id="24" presetID="10" presetClass="entr" presetSubtype="0" fill="hold" nodeType="withEffect">
                                  <p:stCondLst>
                                    <p:cond delay="71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600"/>
                                        <p:tgtEl>
                                          <p:spTgt spid="10"/>
                                        </p:tgtEl>
                                      </p:cBhvr>
                                    </p:animEffect>
                                    <p:anim calcmode="lin" valueType="num">
                                      <p:cBhvr additive="base">
                                        <p:cTn id="23" dur="600" fill="hold"/>
                                        <p:tgtEl>
                                          <p:spTgt spid="10"/>
                                        </p:tgtEl>
                                        <p:attrNameLst>
                                          <p:attrName>ppt_y</p:attrName>
                                        </p:attrNameLst>
                                      </p:cBhvr>
                                      <p:tavLst>
                                        <p:tav tm="0">
                                          <p:val>
                                            <p:strVal val="#ppt_y+0.04"/>
                                          </p:val>
                                        </p:tav>
                                        <p:tav tm="100000">
                                          <p:val>
                                            <p:strVal val="#ppt_y"/>
                                          </p:val>
                                        </p:tav>
                                      </p:tavLst>
                                    </p:anim>
                                  </p:childTnLst>
                                </p:cTn>
                              </p:par>
                              <p:par>
                                <p:cTn id="28" presetID="10" presetClass="entr" presetSubtype="0" fill="hold" nodeType="withEffect">
                                  <p:stCondLst>
                                    <p:cond delay="71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600"/>
                                        <p:tgtEl>
                                          <p:spTgt spid="11"/>
                                        </p:tgtEl>
                                      </p:cBhvr>
                                    </p:animEffect>
                                    <p:anim calcmode="lin" valueType="num">
                                      <p:cBhvr additive="base">
                                        <p:cTn id="27" dur="600" fill="hold"/>
                                        <p:tgtEl>
                                          <p:spTgt spid="11"/>
                                        </p:tgtEl>
                                        <p:attrNameLst>
                                          <p:attrName>ppt_y</p:attrName>
                                        </p:attrNameLst>
                                      </p:cBhvr>
                                      <p:tavLst>
                                        <p:tav tm="0">
                                          <p:val>
                                            <p:strVal val="#ppt_y+0.04"/>
                                          </p:val>
                                        </p:tav>
                                        <p:tav tm="100000">
                                          <p:val>
                                            <p:strVal val="#ppt_y"/>
                                          </p:val>
                                        </p:tav>
                                      </p:tavLst>
                                    </p:anim>
                                  </p:childTnLst>
                                </p:cTn>
                              </p:par>
                              <p:par>
                                <p:cTn id="32" presetID="10" presetClass="entr" presetSubtype="0" fill="hold" nodeType="withEffect">
                                  <p:stCondLst>
                                    <p:cond delay="99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600"/>
                                        <p:tgtEl>
                                          <p:spTgt spid="12"/>
                                        </p:tgtEl>
                                      </p:cBhvr>
                                    </p:animEffect>
                                    <p:anim calcmode="lin" valueType="num">
                                      <p:cBhvr additive="base">
                                        <p:cTn id="31" dur="600" fill="hold"/>
                                        <p:tgtEl>
                                          <p:spTgt spid="12"/>
                                        </p:tgtEl>
                                        <p:attrNameLst>
                                          <p:attrName>ppt_y</p:attrName>
                                        </p:attrNameLst>
                                      </p:cBhvr>
                                      <p:tavLst>
                                        <p:tav tm="0">
                                          <p:val>
                                            <p:strVal val="#ppt_y+0.04"/>
                                          </p:val>
                                        </p:tav>
                                        <p:tav tm="100000">
                                          <p:val>
                                            <p:strVal val="#ppt_y"/>
                                          </p:val>
                                        </p:tav>
                                      </p:tavLst>
                                    </p:anim>
                                  </p:childTnLst>
                                </p:cTn>
                              </p:par>
                              <p:par>
                                <p:cTn id="36" presetID="10" presetClass="entr" presetSubtype="0" fill="hold" nodeType="withEffect">
                                  <p:stCondLst>
                                    <p:cond delay="99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p:tgtEl>
                                          <p:spTgt spid="13"/>
                                        </p:tgtEl>
                                      </p:cBhvr>
                                    </p:animEffect>
                                    <p:anim calcmode="lin" valueType="num">
                                      <p:cBhvr additive="base">
                                        <p:cTn id="35" dur="600" fill="hold"/>
                                        <p:tgtEl>
                                          <p:spTgt spid="13"/>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mc:Ignorable="p14 p159">
  <p:cSld name="Slide 8">
    <p:bg>
      <p:bgPr>
        <a:solidFill>
          <a:srgbClr val="FCFBF7"/>
        </a:solidFill>
      </p:bgPr>
    </p:bg>
    <p:spTree>
      <p:nvGrpSpPr>
        <p:cNvPr id="1" name=""/>
        <p:cNvGrpSpPr/>
        <p:nvPr/>
      </p:nvGrpSpPr>
      <p:grpSpPr>
        <a:xfrm>
          <a:off x="0" y="0"/>
          <a:ext cx="0" cy="0"/>
          <a:chOff x="0" y="0"/>
          <a:chExt cx="0" cy="0"/>
        </a:xfrm>
      </p:grpSpPr>
      <p:pic>
        <p:nvPicPr>
          <p:cNvPr id="2" name="!!blobOrange" descr="preencoded.png">    </p:cNvPr>
          <p:cNvPicPr>
            <a:picLocks noChangeAspect="1"/>
          </p:cNvPicPr>
          <p:nvPr/>
        </p:nvPicPr>
        <p:blipFill>
          <a:blip r:embed="rId1"/>
          <a:stretch>
            <a:fillRect/>
          </a:stretch>
        </p:blipFill>
        <p:spPr>
          <a:xfrm>
            <a:off x="8412480" y="3474720"/>
            <a:ext cx="5943600" cy="5943600"/>
          </a:xfrm>
          <a:prstGeom prst="rect">
            <a:avLst/>
          </a:prstGeom>
        </p:spPr>
      </p:pic>
      <p:pic>
        <p:nvPicPr>
          <p:cNvPr id="3" name="!!blobGreen" descr="preencoded.png">    </p:cNvPr>
          <p:cNvPicPr>
            <a:picLocks noChangeAspect="1"/>
          </p:cNvPicPr>
          <p:nvPr/>
        </p:nvPicPr>
        <p:blipFill>
          <a:blip r:embed="rId2"/>
          <a:stretch>
            <a:fillRect/>
          </a:stretch>
        </p:blipFill>
        <p:spPr>
          <a:xfrm>
            <a:off x="-2011680" y="-2377440"/>
            <a:ext cx="5486400" cy="5486400"/>
          </a:xfrm>
          <a:prstGeom prst="rect">
            <a:avLst/>
          </a:prstGeom>
        </p:spPr>
      </p:pic>
      <p:sp>
        <p:nvSpPr>
          <p:cNvPr id="4" name="!!kicker"/>
          <p:cNvSpPr txBox="1"/>
          <p:nvPr/>
        </p:nvSpPr>
        <p:spPr>
          <a:xfrm>
            <a:off x="640080" y="228600"/>
            <a:ext cx="7315200" cy="274320"/>
          </a:xfrm>
          <a:prstGeom prst="rect">
            <a:avLst/>
          </a:prstGeom>
          <a:noFill/>
          <a:ln/>
        </p:spPr>
        <p:txBody>
          <a:bodyPr wrap="square" lIns="0" tIns="0" rIns="0" bIns="0" rtlCol="0" anchor="ctr"/>
          <a:lstStyle/>
          <a:p>
            <a:pPr indent="0" marL="0">
              <a:buNone/>
            </a:pPr>
            <a:r>
              <a:rPr lang="en-US" sz="1100" b="1" spc="300" kern="0" dirty="0">
                <a:solidFill>
                  <a:srgbClr val="BF5320"/>
                </a:solidFill>
                <a:latin typeface="Calibri" pitchFamily="34" charset="0"/>
                <a:ea typeface="Calibri" pitchFamily="34" charset="-122"/>
                <a:cs typeface="Calibri" pitchFamily="34" charset="-120"/>
              </a:rPr>
              <a:t>AI + ORACLE CLOUD INFRASTRUCTURE</a:t>
            </a:r>
            <a:endParaRPr lang="en-US" sz="1100" dirty="0"/>
          </a:p>
        </p:txBody>
      </p:sp>
      <p:sp>
        <p:nvSpPr>
          <p:cNvPr id="5" name="!!title"/>
          <p:cNvSpPr txBox="1"/>
          <p:nvPr/>
        </p:nvSpPr>
        <p:spPr>
          <a:xfrm>
            <a:off x="640080" y="502920"/>
            <a:ext cx="10881360" cy="914400"/>
          </a:xfrm>
          <a:prstGeom prst="rect">
            <a:avLst/>
          </a:prstGeom>
          <a:noFill/>
          <a:ln/>
        </p:spPr>
        <p:txBody>
          <a:bodyPr wrap="square" lIns="0" tIns="0" rIns="0" bIns="0" rtlCol="0" anchor="ctr"/>
          <a:lstStyle/>
          <a:p>
            <a:pPr indent="0" marL="0">
              <a:buNone/>
            </a:pPr>
            <a:r>
              <a:rPr lang="en-US" sz="3600" b="1" dirty="0">
                <a:solidFill>
                  <a:srgbClr val="1C1712"/>
                </a:solidFill>
                <a:latin typeface="Cambria" pitchFamily="34" charset="0"/>
                <a:ea typeface="Cambria" pitchFamily="34" charset="-122"/>
                <a:cs typeface="Cambria" pitchFamily="34" charset="-120"/>
              </a:rPr>
              <a:t>AI drafts. People decide.</a:t>
            </a:r>
            <a:pPr indent="0" marL="0">
              <a:buNone/>
            </a:pPr>
            <a:r>
              <a:rPr lang="en-US" sz="3600" b="1" dirty="0">
                <a:solidFill>
                  <a:srgbClr val="F0703D"/>
                </a:solidFill>
                <a:latin typeface="Cambria" pitchFamily="34" charset="0"/>
                <a:ea typeface="Cambria" pitchFamily="34" charset="-122"/>
                <a:cs typeface="Cambria" pitchFamily="34" charset="-120"/>
              </a:rPr>
              <a:t> OCI runs it.</a:t>
            </a:r>
            <a:endParaRPr lang="en-US" sz="3600" dirty="0"/>
          </a:p>
        </p:txBody>
      </p:sp>
      <p:sp>
        <p:nvSpPr>
          <p:cNvPr id="6" name="anim1_app"/>
          <p:cNvSpPr/>
          <p:nvPr/>
        </p:nvSpPr>
        <p:spPr>
          <a:xfrm>
            <a:off x="640080" y="1828800"/>
            <a:ext cx="3108960" cy="4069080"/>
          </a:xfrm>
          <a:prstGeom prst="roundRect">
            <a:avLst>
              <a:gd name="adj" fmla="val 5294"/>
            </a:avLst>
          </a:prstGeom>
          <a:solidFill>
            <a:srgbClr val="165840"/>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7" name="anim1_appIconBg"/>
          <p:cNvSpPr/>
          <p:nvPr/>
        </p:nvSpPr>
        <p:spPr>
          <a:xfrm>
            <a:off x="914400" y="2103120"/>
            <a:ext cx="777240" cy="777240"/>
          </a:xfrm>
          <a:prstGeom prst="ellipse">
            <a:avLst/>
          </a:prstGeom>
          <a:solidFill>
            <a:srgbClr val="FFFFFF"/>
          </a:solidFill>
          <a:ln w="12700">
            <a:solidFill>
              <a:srgbClr val="FFFFFF"/>
            </a:solidFill>
            <a:prstDash val="solid"/>
          </a:ln>
        </p:spPr>
      </p:sp>
      <p:pic>
        <p:nvPicPr>
          <p:cNvPr id="8" name="anim1_appIcon" descr="preencoded.png">    </p:cNvPr>
          <p:cNvPicPr>
            <a:picLocks noChangeAspect="1"/>
          </p:cNvPicPr>
          <p:nvPr/>
        </p:nvPicPr>
        <p:blipFill>
          <a:blip r:embed="rId3"/>
          <a:stretch>
            <a:fillRect/>
          </a:stretch>
        </p:blipFill>
        <p:spPr>
          <a:xfrm>
            <a:off x="1100938" y="2289658"/>
            <a:ext cx="404165" cy="404165"/>
          </a:xfrm>
          <a:prstGeom prst="rect">
            <a:avLst/>
          </a:prstGeom>
        </p:spPr>
      </p:pic>
      <p:sp>
        <p:nvSpPr>
          <p:cNvPr id="9" name="anim1_appText"/>
          <p:cNvSpPr txBox="1"/>
          <p:nvPr/>
        </p:nvSpPr>
        <p:spPr>
          <a:xfrm>
            <a:off x="914400" y="3017520"/>
            <a:ext cx="2606040" cy="265176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Not Wasted app</a:t>
            </a:r>
            <a:endParaRPr lang="en-US" sz="1800" dirty="0"/>
          </a:p>
          <a:p>
            <a:pPr indent="0" marL="0">
              <a:buNone/>
            </a:pPr>
            <a:r>
              <a:rPr lang="en-US" sz="1300" dirty="0">
                <a:solidFill>
                  <a:srgbClr val="D9E6DC"/>
                </a:solidFill>
                <a:latin typeface="Calibri" pitchFamily="34" charset="0"/>
                <a:ea typeface="Calibri" pitchFamily="34" charset="-122"/>
                <a:cs typeface="Calibri" pitchFamily="34" charset="-120"/>
              </a:rPr>
              <a:t>Next.js on an OCI Compute VM, HTTPS via Caddy. The VM pulls its image from Object Storage with an instance principal — no stored keys.</a:t>
            </a:r>
            <a:endParaRPr lang="en-US" sz="1800" dirty="0"/>
          </a:p>
        </p:txBody>
      </p:sp>
      <p:sp>
        <p:nvSpPr>
          <p:cNvPr id="10" name="anim2_label"/>
          <p:cNvSpPr txBox="1"/>
          <p:nvPr/>
        </p:nvSpPr>
        <p:spPr>
          <a:xfrm>
            <a:off x="4023360" y="1783080"/>
            <a:ext cx="4114800" cy="274320"/>
          </a:xfrm>
          <a:prstGeom prst="rect">
            <a:avLst/>
          </a:prstGeom>
          <a:noFill/>
          <a:ln/>
        </p:spPr>
        <p:txBody>
          <a:bodyPr wrap="square" lIns="0" tIns="0" rIns="0" bIns="0" rtlCol="0" anchor="ctr"/>
          <a:lstStyle/>
          <a:p>
            <a:pPr indent="0" marL="0">
              <a:buNone/>
            </a:pPr>
            <a:r>
              <a:rPr lang="en-US" sz="1100" b="1" spc="200" kern="0" dirty="0">
                <a:solidFill>
                  <a:srgbClr val="BF5320"/>
                </a:solidFill>
                <a:latin typeface="Calibri" pitchFamily="34" charset="0"/>
                <a:ea typeface="Calibri" pitchFamily="34" charset="-122"/>
                <a:cs typeface="Calibri" pitchFamily="34" charset="-120"/>
              </a:rPr>
              <a:t>OCI GENERATIVE AI</a:t>
            </a:r>
            <a:endParaRPr lang="en-US" sz="1100" dirty="0"/>
          </a:p>
        </p:txBody>
      </p:sp>
      <p:sp>
        <p:nvSpPr>
          <p:cNvPr id="11" name="anim2_m"/>
          <p:cNvSpPr/>
          <p:nvPr/>
        </p:nvSpPr>
        <p:spPr>
          <a:xfrm>
            <a:off x="4023360" y="2148840"/>
            <a:ext cx="4114800" cy="1115568"/>
          </a:xfrm>
          <a:prstGeom prst="roundRect">
            <a:avLst>
              <a:gd name="adj" fmla="val 14754"/>
            </a:avLst>
          </a:prstGeom>
          <a:solidFill>
            <a:srgbClr val="FFFFF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12" name="anim2_miBg"/>
          <p:cNvSpPr/>
          <p:nvPr/>
        </p:nvSpPr>
        <p:spPr>
          <a:xfrm>
            <a:off x="4206240" y="2350008"/>
            <a:ext cx="685800" cy="685800"/>
          </a:xfrm>
          <a:prstGeom prst="ellipse">
            <a:avLst/>
          </a:prstGeom>
          <a:solidFill>
            <a:srgbClr val="FDE6D4"/>
          </a:solidFill>
          <a:ln w="12700">
            <a:solidFill>
              <a:srgbClr val="FDE6D4"/>
            </a:solidFill>
            <a:prstDash val="solid"/>
          </a:ln>
        </p:spPr>
      </p:sp>
      <p:pic>
        <p:nvPicPr>
          <p:cNvPr id="13" name="anim2_mi" descr="preencoded.png">    </p:cNvPr>
          <p:cNvPicPr>
            <a:picLocks noChangeAspect="1"/>
          </p:cNvPicPr>
          <p:nvPr/>
        </p:nvPicPr>
        <p:blipFill>
          <a:blip r:embed="rId4"/>
          <a:stretch>
            <a:fillRect/>
          </a:stretch>
        </p:blipFill>
        <p:spPr>
          <a:xfrm>
            <a:off x="4370832" y="2514600"/>
            <a:ext cx="356616" cy="356616"/>
          </a:xfrm>
          <a:prstGeom prst="rect">
            <a:avLst/>
          </a:prstGeom>
        </p:spPr>
      </p:pic>
      <p:sp>
        <p:nvSpPr>
          <p:cNvPr id="14" name="anim2_mt"/>
          <p:cNvSpPr txBox="1"/>
          <p:nvPr/>
        </p:nvSpPr>
        <p:spPr>
          <a:xfrm>
            <a:off x="5029200" y="2221992"/>
            <a:ext cx="2971800" cy="969264"/>
          </a:xfrm>
          <a:prstGeom prst="rect">
            <a:avLst/>
          </a:prstGeom>
          <a:noFill/>
          <a:ln/>
        </p:spPr>
        <p:txBody>
          <a:bodyPr wrap="square" lIns="0" tIns="0" rIns="0" bIns="0" rtlCol="0" anchor="ctr"/>
          <a:lstStyle/>
          <a:p>
            <a:pPr indent="0" marL="0">
              <a:buNone/>
            </a:pPr>
            <a:r>
              <a:rPr lang="en-US" sz="1400" b="1" dirty="0">
                <a:solidFill>
                  <a:srgbClr val="1C1712"/>
                </a:solidFill>
                <a:latin typeface="Calibri" pitchFamily="34" charset="0"/>
                <a:ea typeface="Calibri" pitchFamily="34" charset="-122"/>
                <a:cs typeface="Calibri" pitchFamily="34" charset="-120"/>
              </a:rPr>
              <a:t>Llama 4 Maverick (vision)</a:t>
            </a:r>
            <a:endParaRPr lang="en-US" sz="1400" dirty="0"/>
          </a:p>
          <a:p>
            <a:pPr indent="0" marL="0">
              <a:buNone/>
            </a:pPr>
            <a:r>
              <a:rPr lang="en-US" sz="1200" dirty="0">
                <a:solidFill>
                  <a:srgbClr val="5B5148"/>
                </a:solidFill>
                <a:latin typeface="Calibri" pitchFamily="34" charset="0"/>
                <a:ea typeface="Calibri" pitchFamily="34" charset="-122"/>
                <a:cs typeface="Calibri" pitchFamily="34" charset="-120"/>
              </a:rPr>
              <a:t>Photo → items, quality, allergens; reads event screenshots (only what’s visible)</a:t>
            </a:r>
            <a:endParaRPr lang="en-US" sz="1400" dirty="0"/>
          </a:p>
        </p:txBody>
      </p:sp>
      <p:sp>
        <p:nvSpPr>
          <p:cNvPr id="15" name="anim3_m"/>
          <p:cNvSpPr/>
          <p:nvPr/>
        </p:nvSpPr>
        <p:spPr>
          <a:xfrm>
            <a:off x="4023360" y="3410712"/>
            <a:ext cx="4114800" cy="1115568"/>
          </a:xfrm>
          <a:prstGeom prst="roundRect">
            <a:avLst>
              <a:gd name="adj" fmla="val 14754"/>
            </a:avLst>
          </a:prstGeom>
          <a:solidFill>
            <a:srgbClr val="FFFFF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16" name="anim3_miBg"/>
          <p:cNvSpPr/>
          <p:nvPr/>
        </p:nvSpPr>
        <p:spPr>
          <a:xfrm>
            <a:off x="4206240" y="3611880"/>
            <a:ext cx="685800" cy="685800"/>
          </a:xfrm>
          <a:prstGeom prst="ellipse">
            <a:avLst/>
          </a:prstGeom>
          <a:solidFill>
            <a:srgbClr val="FDE6D4"/>
          </a:solidFill>
          <a:ln w="12700">
            <a:solidFill>
              <a:srgbClr val="FDE6D4"/>
            </a:solidFill>
            <a:prstDash val="solid"/>
          </a:ln>
        </p:spPr>
      </p:sp>
      <p:pic>
        <p:nvPicPr>
          <p:cNvPr id="17" name="anim3_mi" descr="preencoded.png">    </p:cNvPr>
          <p:cNvPicPr>
            <a:picLocks noChangeAspect="1"/>
          </p:cNvPicPr>
          <p:nvPr/>
        </p:nvPicPr>
        <p:blipFill>
          <a:blip r:embed="rId5"/>
          <a:stretch>
            <a:fillRect/>
          </a:stretch>
        </p:blipFill>
        <p:spPr>
          <a:xfrm>
            <a:off x="4370832" y="3776472"/>
            <a:ext cx="356616" cy="356616"/>
          </a:xfrm>
          <a:prstGeom prst="rect">
            <a:avLst/>
          </a:prstGeom>
        </p:spPr>
      </p:pic>
      <p:sp>
        <p:nvSpPr>
          <p:cNvPr id="18" name="anim3_mt"/>
          <p:cNvSpPr txBox="1"/>
          <p:nvPr/>
        </p:nvSpPr>
        <p:spPr>
          <a:xfrm>
            <a:off x="5029200" y="3483864"/>
            <a:ext cx="2971800" cy="969264"/>
          </a:xfrm>
          <a:prstGeom prst="rect">
            <a:avLst/>
          </a:prstGeom>
          <a:noFill/>
          <a:ln/>
        </p:spPr>
        <p:txBody>
          <a:bodyPr wrap="square" lIns="0" tIns="0" rIns="0" bIns="0" rtlCol="0" anchor="ctr"/>
          <a:lstStyle/>
          <a:p>
            <a:pPr indent="0" marL="0">
              <a:buNone/>
            </a:pPr>
            <a:r>
              <a:rPr lang="en-US" sz="1400" b="1" dirty="0">
                <a:solidFill>
                  <a:srgbClr val="1C1712"/>
                </a:solidFill>
                <a:latin typeface="Calibri" pitchFamily="34" charset="0"/>
                <a:ea typeface="Calibri" pitchFamily="34" charset="-122"/>
                <a:cs typeface="Calibri" pitchFamily="34" charset="-120"/>
              </a:rPr>
              <a:t>Llama 3.3 70B (text)</a:t>
            </a:r>
            <a:endParaRPr lang="en-US" sz="1400" dirty="0"/>
          </a:p>
          <a:p>
            <a:pPr indent="0" marL="0">
              <a:buNone/>
            </a:pPr>
            <a:r>
              <a:rPr lang="en-US" sz="1200" dirty="0">
                <a:solidFill>
                  <a:srgbClr val="5B5148"/>
                </a:solidFill>
                <a:latin typeface="Calibri" pitchFamily="34" charset="0"/>
                <a:ea typeface="Calibri" pitchFamily="34" charset="-122"/>
                <a:cs typeface="Calibri" pitchFamily="34" charset="-120"/>
              </a:rPr>
              <a:t>Food-bank chat, outreach emails, reports, agent write-ups</a:t>
            </a:r>
            <a:endParaRPr lang="en-US" sz="1400" dirty="0"/>
          </a:p>
        </p:txBody>
      </p:sp>
      <p:sp>
        <p:nvSpPr>
          <p:cNvPr id="19" name="anim4_m"/>
          <p:cNvSpPr/>
          <p:nvPr/>
        </p:nvSpPr>
        <p:spPr>
          <a:xfrm>
            <a:off x="4023360" y="4672584"/>
            <a:ext cx="4114800" cy="1115568"/>
          </a:xfrm>
          <a:prstGeom prst="roundRect">
            <a:avLst>
              <a:gd name="adj" fmla="val 14754"/>
            </a:avLst>
          </a:prstGeom>
          <a:solidFill>
            <a:srgbClr val="FFFFF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20" name="anim4_miBg"/>
          <p:cNvSpPr/>
          <p:nvPr/>
        </p:nvSpPr>
        <p:spPr>
          <a:xfrm>
            <a:off x="4206240" y="4873752"/>
            <a:ext cx="685800" cy="685800"/>
          </a:xfrm>
          <a:prstGeom prst="ellipse">
            <a:avLst/>
          </a:prstGeom>
          <a:solidFill>
            <a:srgbClr val="FDE6D4"/>
          </a:solidFill>
          <a:ln w="12700">
            <a:solidFill>
              <a:srgbClr val="FDE6D4"/>
            </a:solidFill>
            <a:prstDash val="solid"/>
          </a:ln>
        </p:spPr>
      </p:sp>
      <p:pic>
        <p:nvPicPr>
          <p:cNvPr id="21" name="anim4_mi" descr="preencoded.png">    </p:cNvPr>
          <p:cNvPicPr>
            <a:picLocks noChangeAspect="1"/>
          </p:cNvPicPr>
          <p:nvPr/>
        </p:nvPicPr>
        <p:blipFill>
          <a:blip r:embed="rId6"/>
          <a:stretch>
            <a:fillRect/>
          </a:stretch>
        </p:blipFill>
        <p:spPr>
          <a:xfrm>
            <a:off x="4370832" y="5038344"/>
            <a:ext cx="356616" cy="356616"/>
          </a:xfrm>
          <a:prstGeom prst="rect">
            <a:avLst/>
          </a:prstGeom>
        </p:spPr>
      </p:pic>
      <p:sp>
        <p:nvSpPr>
          <p:cNvPr id="22" name="anim4_mt"/>
          <p:cNvSpPr txBox="1"/>
          <p:nvPr/>
        </p:nvSpPr>
        <p:spPr>
          <a:xfrm>
            <a:off x="5029200" y="4745736"/>
            <a:ext cx="2971800" cy="969264"/>
          </a:xfrm>
          <a:prstGeom prst="rect">
            <a:avLst/>
          </a:prstGeom>
          <a:noFill/>
          <a:ln/>
        </p:spPr>
        <p:txBody>
          <a:bodyPr wrap="square" lIns="0" tIns="0" rIns="0" bIns="0" rtlCol="0" anchor="ctr"/>
          <a:lstStyle/>
          <a:p>
            <a:pPr indent="0" marL="0">
              <a:buNone/>
            </a:pPr>
            <a:r>
              <a:rPr lang="en-US" sz="1400" b="1" dirty="0">
                <a:solidFill>
                  <a:srgbClr val="1C1712"/>
                </a:solidFill>
                <a:latin typeface="Calibri" pitchFamily="34" charset="0"/>
                <a:ea typeface="Calibri" pitchFamily="34" charset="-122"/>
                <a:cs typeface="Calibri" pitchFamily="34" charset="-120"/>
              </a:rPr>
              <a:t>Cohere Embed v4</a:t>
            </a:r>
            <a:endParaRPr lang="en-US" sz="1400" dirty="0"/>
          </a:p>
          <a:p>
            <a:pPr indent="0" marL="0">
              <a:buNone/>
            </a:pPr>
            <a:r>
              <a:rPr lang="en-US" sz="1200" dirty="0">
                <a:solidFill>
                  <a:srgbClr val="5B5148"/>
                </a:solidFill>
                <a:latin typeface="Calibri" pitchFamily="34" charset="0"/>
                <a:ea typeface="Calibri" pitchFamily="34" charset="-122"/>
                <a:cs typeface="Calibri" pitchFamily="34" charset="-120"/>
              </a:rPr>
              <a:t>Semantic match between donations and each food bank’s needs</a:t>
            </a:r>
            <a:endParaRPr lang="en-US" sz="1400" dirty="0"/>
          </a:p>
        </p:txBody>
      </p:sp>
      <p:sp>
        <p:nvSpPr>
          <p:cNvPr id="23" name="anim5_data"/>
          <p:cNvSpPr/>
          <p:nvPr/>
        </p:nvSpPr>
        <p:spPr>
          <a:xfrm>
            <a:off x="8412480" y="1828800"/>
            <a:ext cx="3063240" cy="4069080"/>
          </a:xfrm>
          <a:prstGeom prst="roundRect">
            <a:avLst>
              <a:gd name="adj" fmla="val 5373"/>
            </a:avLst>
          </a:prstGeom>
          <a:solidFill>
            <a:srgbClr val="E3EED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24" name="anim5_dataText"/>
          <p:cNvSpPr txBox="1"/>
          <p:nvPr/>
        </p:nvSpPr>
        <p:spPr>
          <a:xfrm>
            <a:off x="8641080" y="2011680"/>
            <a:ext cx="2697480" cy="3749040"/>
          </a:xfrm>
          <a:prstGeom prst="rect">
            <a:avLst/>
          </a:prstGeom>
          <a:noFill/>
          <a:ln/>
        </p:spPr>
        <p:txBody>
          <a:bodyPr wrap="square" lIns="0" tIns="0" rIns="0" bIns="0" rtlCol="0" anchor="t"/>
          <a:lstStyle/>
          <a:p>
            <a:pPr indent="0" marL="0">
              <a:spcAft>
                <a:spcPts val="400"/>
              </a:spcAft>
              <a:buNone/>
            </a:pPr>
            <a:r>
              <a:rPr lang="en-US" sz="1700" b="1" dirty="0">
                <a:solidFill>
                  <a:srgbClr val="1C1712"/>
                </a:solidFill>
                <a:latin typeface="Calibri" pitchFamily="34" charset="0"/>
                <a:ea typeface="Calibri" pitchFamily="34" charset="-122"/>
                <a:cs typeface="Calibri" pitchFamily="34" charset="-120"/>
              </a:rPr>
              <a:t>7 public datasets</a:t>
            </a:r>
            <a:endParaRPr lang="en-US" sz="1700" dirty="0"/>
          </a:p>
          <a:p>
            <a:pPr marL="342900" indent="-342900">
              <a:spcAft>
                <a:spcPts val="400"/>
              </a:spcAft>
              <a:buSzPct val="100000"/>
              <a:buChar char="•"/>
            </a:pPr>
            <a:r>
              <a:rPr lang="en-US" sz="1300" dirty="0">
                <a:solidFill>
                  <a:srgbClr val="165840"/>
                </a:solidFill>
                <a:latin typeface="Calibri" pitchFamily="34" charset="0"/>
                <a:ea typeface="Calibri" pitchFamily="34" charset="-122"/>
                <a:cs typeface="Calibri" pitchFamily="34" charset="-120"/>
              </a:rPr>
              <a:t>EPA Excess Food Map</a:t>
            </a:r>
            <a:endParaRPr lang="en-US" sz="1700" dirty="0"/>
          </a:p>
          <a:p>
            <a:pPr marL="342900" indent="-342900">
              <a:spcAft>
                <a:spcPts val="400"/>
              </a:spcAft>
              <a:buSzPct val="100000"/>
              <a:buChar char="•"/>
            </a:pPr>
            <a:r>
              <a:rPr lang="en-US" sz="1300" dirty="0">
                <a:solidFill>
                  <a:srgbClr val="165840"/>
                </a:solidFill>
                <a:latin typeface="Calibri" pitchFamily="34" charset="0"/>
                <a:ea typeface="Calibri" pitchFamily="34" charset="-122"/>
                <a:cs typeface="Calibri" pitchFamily="34" charset="-120"/>
              </a:rPr>
              <a:t>USDA Food Access Atlas</a:t>
            </a:r>
            <a:endParaRPr lang="en-US" sz="1700" dirty="0"/>
          </a:p>
          <a:p>
            <a:pPr marL="342900" indent="-342900">
              <a:spcAft>
                <a:spcPts val="400"/>
              </a:spcAft>
              <a:buSzPct val="100000"/>
              <a:buChar char="•"/>
            </a:pPr>
            <a:r>
              <a:rPr lang="en-US" sz="1300" dirty="0">
                <a:solidFill>
                  <a:srgbClr val="165840"/>
                </a:solidFill>
                <a:latin typeface="Calibri" pitchFamily="34" charset="0"/>
                <a:ea typeface="Calibri" pitchFamily="34" charset="-122"/>
                <a:cs typeface="Calibri" pitchFamily="34" charset="-120"/>
              </a:rPr>
              <a:t>U.S. Census Geocoder</a:t>
            </a:r>
            <a:endParaRPr lang="en-US" sz="1700" dirty="0"/>
          </a:p>
          <a:p>
            <a:pPr marL="342900" indent="-342900">
              <a:spcAft>
                <a:spcPts val="400"/>
              </a:spcAft>
              <a:buSzPct val="100000"/>
              <a:buChar char="•"/>
            </a:pPr>
            <a:r>
              <a:rPr lang="en-US" sz="1300" dirty="0">
                <a:solidFill>
                  <a:srgbClr val="165840"/>
                </a:solidFill>
                <a:latin typeface="Calibri" pitchFamily="34" charset="0"/>
                <a:ea typeface="Calibri" pitchFamily="34" charset="-122"/>
                <a:cs typeface="Calibri" pitchFamily="34" charset="-120"/>
              </a:rPr>
              <a:t>Open-Meteo weather</a:t>
            </a:r>
            <a:endParaRPr lang="en-US" sz="1700" dirty="0"/>
          </a:p>
          <a:p>
            <a:pPr marL="342900" indent="-342900">
              <a:spcAft>
                <a:spcPts val="400"/>
              </a:spcAft>
              <a:buSzPct val="100000"/>
              <a:buChar char="•"/>
            </a:pPr>
            <a:r>
              <a:rPr lang="en-US" sz="1300" dirty="0">
                <a:solidFill>
                  <a:srgbClr val="165840"/>
                </a:solidFill>
                <a:latin typeface="Calibri" pitchFamily="34" charset="0"/>
                <a:ea typeface="Calibri" pitchFamily="34" charset="-122"/>
                <a:cs typeface="Calibri" pitchFamily="34" charset="-120"/>
              </a:rPr>
              <a:t>Open Food Facts</a:t>
            </a:r>
            <a:endParaRPr lang="en-US" sz="1700" dirty="0"/>
          </a:p>
          <a:p>
            <a:pPr marL="342900" indent="-342900">
              <a:spcAft>
                <a:spcPts val="400"/>
              </a:spcAft>
              <a:buSzPct val="100000"/>
              <a:buChar char="•"/>
            </a:pPr>
            <a:r>
              <a:rPr lang="en-US" sz="1300" dirty="0">
                <a:solidFill>
                  <a:srgbClr val="165840"/>
                </a:solidFill>
                <a:latin typeface="Calibri" pitchFamily="34" charset="0"/>
                <a:ea typeface="Calibri" pitchFamily="34" charset="-122"/>
                <a:cs typeface="Calibri" pitchFamily="34" charset="-120"/>
              </a:rPr>
              <a:t>USDA FoodData Central</a:t>
            </a:r>
            <a:endParaRPr lang="en-US" sz="1700" dirty="0"/>
          </a:p>
          <a:p>
            <a:pPr marL="342900" indent="-342900">
              <a:spcAft>
                <a:spcPts val="400"/>
              </a:spcAft>
              <a:buSzPct val="100000"/>
              <a:buChar char="•"/>
            </a:pPr>
            <a:r>
              <a:rPr lang="en-US" sz="1300" dirty="0">
                <a:solidFill>
                  <a:srgbClr val="165840"/>
                </a:solidFill>
                <a:latin typeface="Calibri" pitchFamily="34" charset="0"/>
                <a:ea typeface="Calibri" pitchFamily="34" charset="-122"/>
                <a:cs typeface="Calibri" pitchFamily="34" charset="-120"/>
              </a:rPr>
              <a:t>IRS nonprofit data (ProPublica)</a:t>
            </a:r>
            <a:endParaRPr lang="en-US" sz="1700" dirty="0"/>
          </a:p>
        </p:txBody>
      </p:sp>
      <p:sp>
        <p:nvSpPr>
          <p:cNvPr id="25" name="anim6_note"/>
          <p:cNvSpPr txBox="1"/>
          <p:nvPr/>
        </p:nvSpPr>
        <p:spPr>
          <a:xfrm>
            <a:off x="640080" y="5961888"/>
            <a:ext cx="10835640" cy="274320"/>
          </a:xfrm>
          <a:prstGeom prst="rect">
            <a:avLst/>
          </a:prstGeom>
          <a:noFill/>
          <a:ln/>
        </p:spPr>
        <p:txBody>
          <a:bodyPr wrap="square" lIns="0" tIns="0" rIns="0" bIns="0" rtlCol="0" anchor="ctr"/>
          <a:lstStyle/>
          <a:p>
            <a:pPr indent="0" marL="0">
              <a:buNone/>
            </a:pPr>
            <a:r>
              <a:rPr lang="en-US" sz="1200" i="1" dirty="0">
                <a:solidFill>
                  <a:srgbClr val="5B5148"/>
                </a:solidFill>
                <a:latin typeface="Calibri" pitchFamily="34" charset="0"/>
                <a:ea typeface="Calibri" pitchFamily="34" charset="-122"/>
                <a:cs typeface="Calibri" pitchFamily="34" charset="-120"/>
              </a:rPr>
              <a:t>Every AI field is reviewed by a person before anything is posted, and nothing is sent without approval.</a:t>
            </a:r>
            <a:endParaRPr lang="en-US" sz="1200" dirty="0"/>
          </a:p>
        </p:txBody>
      </p:sp>
      <p:pic>
        <p:nvPicPr>
          <p:cNvPr id="26" name="footLogoL" descr="preencoded.png">    </p:cNvPr>
          <p:cNvPicPr>
            <a:picLocks noChangeAspect="1"/>
          </p:cNvPicPr>
          <p:nvPr/>
        </p:nvPicPr>
        <p:blipFill>
          <a:blip r:embed="rId7"/>
          <a:stretch>
            <a:fillRect/>
          </a:stretch>
        </p:blipFill>
        <p:spPr>
          <a:xfrm>
            <a:off x="640080" y="6355080"/>
            <a:ext cx="384048" cy="252476"/>
          </a:xfrm>
          <a:prstGeom prst="rect">
            <a:avLst/>
          </a:prstGeom>
        </p:spPr>
      </p:pic>
      <p:pic>
        <p:nvPicPr>
          <p:cNvPr id="27" name="footLogoR" descr="preencoded.png">    </p:cNvPr>
          <p:cNvPicPr>
            <a:picLocks noChangeAspect="1"/>
          </p:cNvPicPr>
          <p:nvPr/>
        </p:nvPicPr>
        <p:blipFill>
          <a:blip r:embed="rId8"/>
          <a:stretch>
            <a:fillRect/>
          </a:stretch>
        </p:blipFill>
        <p:spPr>
          <a:xfrm>
            <a:off x="640080" y="6355080"/>
            <a:ext cx="384048" cy="252476"/>
          </a:xfrm>
          <a:prstGeom prst="rect">
            <a:avLst/>
          </a:prstGeom>
        </p:spPr>
      </p:pic>
      <p:pic>
        <p:nvPicPr>
          <p:cNvPr id="28" name="footLogoS" descr="preencoded.png">    </p:cNvPr>
          <p:cNvPicPr>
            <a:picLocks noChangeAspect="1"/>
          </p:cNvPicPr>
          <p:nvPr/>
        </p:nvPicPr>
        <p:blipFill>
          <a:blip r:embed="rId9"/>
          <a:stretch>
            <a:fillRect/>
          </a:stretch>
        </p:blipFill>
        <p:spPr>
          <a:xfrm>
            <a:off x="640080" y="6355080"/>
            <a:ext cx="384048" cy="252476"/>
          </a:xfrm>
          <a:prstGeom prst="rect">
            <a:avLst/>
          </a:prstGeom>
        </p:spPr>
      </p:pic>
      <p:sp>
        <p:nvSpPr>
          <p:cNvPr id="29" name="Text 18"/>
          <p:cNvSpPr txBox="1"/>
          <p:nvPr/>
        </p:nvSpPr>
        <p:spPr>
          <a:xfrm>
            <a:off x="1097280" y="6327648"/>
            <a:ext cx="3657600" cy="292608"/>
          </a:xfrm>
          <a:prstGeom prst="rect">
            <a:avLst/>
          </a:prstGeom>
          <a:noFill/>
          <a:ln/>
        </p:spPr>
        <p:txBody>
          <a:bodyPr wrap="square" lIns="0" tIns="0" rIns="0" bIns="0" rtlCol="0" anchor="ctr"/>
          <a:lstStyle/>
          <a:p>
            <a:pPr indent="0" marL="0">
              <a:buNone/>
            </a:pPr>
            <a:r>
              <a:rPr lang="en-US" sz="1000" dirty="0">
                <a:solidFill>
                  <a:srgbClr val="5B5148"/>
                </a:solidFill>
                <a:latin typeface="Calibri" pitchFamily="34" charset="0"/>
                <a:ea typeface="Calibri" pitchFamily="34" charset="-122"/>
                <a:cs typeface="Calibri" pitchFamily="34" charset="-120"/>
              </a:rPr>
              <a:t>Not Wasted · Surplus saved</a:t>
            </a:r>
            <a:endParaRPr lang="en-US" sz="1000" dirty="0"/>
          </a:p>
        </p:txBody>
      </p:sp>
      <p:sp>
        <p:nvSpPr>
          <p:cNvPr id="30" name="Text 19"/>
          <p:cNvSpPr txBox="1"/>
          <p:nvPr/>
        </p:nvSpPr>
        <p:spPr>
          <a:xfrm>
            <a:off x="10607040" y="6327648"/>
            <a:ext cx="914400" cy="292608"/>
          </a:xfrm>
          <a:prstGeom prst="rect">
            <a:avLst/>
          </a:prstGeom>
          <a:noFill/>
          <a:ln/>
        </p:spPr>
        <p:txBody>
          <a:bodyPr wrap="square" lIns="0" tIns="0" rIns="0" bIns="0" rtlCol="0" anchor="ctr"/>
          <a:lstStyle/>
          <a:p>
            <a:pPr algn="r" indent="0" marL="0">
              <a:buNone/>
            </a:pPr>
            <a:r>
              <a:rPr lang="en-US" sz="1000" dirty="0">
                <a:solidFill>
                  <a:srgbClr val="5B5148"/>
                </a:solidFill>
                <a:latin typeface="Calibri" pitchFamily="34" charset="0"/>
                <a:ea typeface="Calibri" pitchFamily="34" charset="-122"/>
                <a:cs typeface="Calibri" pitchFamily="34" charset="-120"/>
              </a:rPr>
              <a:t>08 / 12</a:t>
            </a:r>
            <a:endParaRPr lang="en-US" sz="1000" dirty="0"/>
          </a:p>
        </p:txBody>
      </p:sp>
    </p:spTree>
  </p:cSld>
  <p:clrMapOvr>
    <a:masterClrMapping/>
  </p:clrMapOvr>
  <mc:AlternateContent>
    <mc:Choice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10" presetClass="entr" presetSubtype="0" fill="hold"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600"/>
                                        <p:tgtEl>
                                          <p:spTgt spid="6"/>
                                        </p:tgtEl>
                                      </p:cBhvr>
                                    </p:animEffect>
                                    <p:anim calcmode="lin" valueType="num">
                                      <p:cBhvr additive="base">
                                        <p:cTn id="7" dur="600" fill="hold"/>
                                        <p:tgtEl>
                                          <p:spTgt spid="6"/>
                                        </p:tgtEl>
                                        <p:attrNameLst>
                                          <p:attrName>ppt_y</p:attrName>
                                        </p:attrNameLst>
                                      </p:cBhvr>
                                      <p:tavLst>
                                        <p:tav tm="0">
                                          <p:val>
                                            <p:strVal val="#ppt_y+0.04"/>
                                          </p:val>
                                        </p:tav>
                                        <p:tav tm="100000">
                                          <p:val>
                                            <p:strVal val="#ppt_y"/>
                                          </p:val>
                                        </p:tav>
                                      </p:tavLst>
                                    </p:anim>
                                  </p:childTnLst>
                                </p:cTn>
                              </p:par>
                              <p:par>
                                <p:cTn id="12" presetID="10" presetClass="entr" presetSubtype="0" fill="hold" nodeType="withEffect">
                                  <p:stCondLst>
                                    <p:cond delay="15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600"/>
                                        <p:tgtEl>
                                          <p:spTgt spid="7"/>
                                        </p:tgtEl>
                                      </p:cBhvr>
                                    </p:animEffect>
                                    <p:anim calcmode="lin" valueType="num">
                                      <p:cBhvr additive="base">
                                        <p:cTn id="11" dur="600" fill="hold"/>
                                        <p:tgtEl>
                                          <p:spTgt spid="7"/>
                                        </p:tgtEl>
                                        <p:attrNameLst>
                                          <p:attrName>ppt_y</p:attrName>
                                        </p:attrNameLst>
                                      </p:cBhvr>
                                      <p:tavLst>
                                        <p:tav tm="0">
                                          <p:val>
                                            <p:strVal val="#ppt_y+0.04"/>
                                          </p:val>
                                        </p:tav>
                                        <p:tav tm="100000">
                                          <p:val>
                                            <p:strVal val="#ppt_y"/>
                                          </p:val>
                                        </p:tav>
                                      </p:tavLst>
                                    </p:anim>
                                  </p:childTnLst>
                                </p:cTn>
                              </p:par>
                              <p:par>
                                <p:cTn id="16" presetID="10" presetClass="entr" presetSubtype="0" fill="hold" nodeType="withEffect">
                                  <p:stCondLst>
                                    <p:cond delay="15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600"/>
                                        <p:tgtEl>
                                          <p:spTgt spid="8"/>
                                        </p:tgtEl>
                                      </p:cBhvr>
                                    </p:animEffect>
                                    <p:anim calcmode="lin" valueType="num">
                                      <p:cBhvr additive="base">
                                        <p:cTn id="15" dur="600" fill="hold"/>
                                        <p:tgtEl>
                                          <p:spTgt spid="8"/>
                                        </p:tgtEl>
                                        <p:attrNameLst>
                                          <p:attrName>ppt_y</p:attrName>
                                        </p:attrNameLst>
                                      </p:cBhvr>
                                      <p:tavLst>
                                        <p:tav tm="0">
                                          <p:val>
                                            <p:strVal val="#ppt_y+0.04"/>
                                          </p:val>
                                        </p:tav>
                                        <p:tav tm="100000">
                                          <p:val>
                                            <p:strVal val="#ppt_y"/>
                                          </p:val>
                                        </p:tav>
                                      </p:tavLst>
                                    </p:anim>
                                  </p:childTnLst>
                                </p:cTn>
                              </p:par>
                              <p:par>
                                <p:cTn id="20" presetID="10" presetClass="entr" presetSubtype="0" fill="hold" nodeType="withEffect">
                                  <p:stCondLst>
                                    <p:cond delay="15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600"/>
                                        <p:tgtEl>
                                          <p:spTgt spid="9"/>
                                        </p:tgtEl>
                                      </p:cBhvr>
                                    </p:animEffect>
                                    <p:anim calcmode="lin" valueType="num">
                                      <p:cBhvr additive="base">
                                        <p:cTn id="19" dur="600" fill="hold"/>
                                        <p:tgtEl>
                                          <p:spTgt spid="9"/>
                                        </p:tgtEl>
                                        <p:attrNameLst>
                                          <p:attrName>ppt_y</p:attrName>
                                        </p:attrNameLst>
                                      </p:cBhvr>
                                      <p:tavLst>
                                        <p:tav tm="0">
                                          <p:val>
                                            <p:strVal val="#ppt_y+0.04"/>
                                          </p:val>
                                        </p:tav>
                                        <p:tav tm="100000">
                                          <p:val>
                                            <p:strVal val="#ppt_y"/>
                                          </p:val>
                                        </p:tav>
                                      </p:tavLst>
                                    </p:anim>
                                  </p:childTnLst>
                                </p:cTn>
                              </p:par>
                              <p:par>
                                <p:cTn id="24" presetID="10" presetClass="entr" presetSubtype="0" fill="hold" nodeType="withEffect">
                                  <p:stCondLst>
                                    <p:cond delay="43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600"/>
                                        <p:tgtEl>
                                          <p:spTgt spid="10"/>
                                        </p:tgtEl>
                                      </p:cBhvr>
                                    </p:animEffect>
                                    <p:anim calcmode="lin" valueType="num">
                                      <p:cBhvr additive="base">
                                        <p:cTn id="23" dur="600" fill="hold"/>
                                        <p:tgtEl>
                                          <p:spTgt spid="10"/>
                                        </p:tgtEl>
                                        <p:attrNameLst>
                                          <p:attrName>ppt_y</p:attrName>
                                        </p:attrNameLst>
                                      </p:cBhvr>
                                      <p:tavLst>
                                        <p:tav tm="0">
                                          <p:val>
                                            <p:strVal val="#ppt_y+0.04"/>
                                          </p:val>
                                        </p:tav>
                                        <p:tav tm="100000">
                                          <p:val>
                                            <p:strVal val="#ppt_y"/>
                                          </p:val>
                                        </p:tav>
                                      </p:tavLst>
                                    </p:anim>
                                  </p:childTnLst>
                                </p:cTn>
                              </p:par>
                              <p:par>
                                <p:cTn id="28" presetID="10" presetClass="entr" presetSubtype="0" fill="hold" nodeType="withEffect">
                                  <p:stCondLst>
                                    <p:cond delay="43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600"/>
                                        <p:tgtEl>
                                          <p:spTgt spid="11"/>
                                        </p:tgtEl>
                                      </p:cBhvr>
                                    </p:animEffect>
                                    <p:anim calcmode="lin" valueType="num">
                                      <p:cBhvr additive="base">
                                        <p:cTn id="27" dur="600" fill="hold"/>
                                        <p:tgtEl>
                                          <p:spTgt spid="11"/>
                                        </p:tgtEl>
                                        <p:attrNameLst>
                                          <p:attrName>ppt_y</p:attrName>
                                        </p:attrNameLst>
                                      </p:cBhvr>
                                      <p:tavLst>
                                        <p:tav tm="0">
                                          <p:val>
                                            <p:strVal val="#ppt_y+0.04"/>
                                          </p:val>
                                        </p:tav>
                                        <p:tav tm="100000">
                                          <p:val>
                                            <p:strVal val="#ppt_y"/>
                                          </p:val>
                                        </p:tav>
                                      </p:tavLst>
                                    </p:anim>
                                  </p:childTnLst>
                                </p:cTn>
                              </p:par>
                              <p:par>
                                <p:cTn id="32" presetID="10" presetClass="entr" presetSubtype="0" fill="hold" nodeType="withEffect">
                                  <p:stCondLst>
                                    <p:cond delay="43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600"/>
                                        <p:tgtEl>
                                          <p:spTgt spid="12"/>
                                        </p:tgtEl>
                                      </p:cBhvr>
                                    </p:animEffect>
                                    <p:anim calcmode="lin" valueType="num">
                                      <p:cBhvr additive="base">
                                        <p:cTn id="31" dur="600" fill="hold"/>
                                        <p:tgtEl>
                                          <p:spTgt spid="12"/>
                                        </p:tgtEl>
                                        <p:attrNameLst>
                                          <p:attrName>ppt_y</p:attrName>
                                        </p:attrNameLst>
                                      </p:cBhvr>
                                      <p:tavLst>
                                        <p:tav tm="0">
                                          <p:val>
                                            <p:strVal val="#ppt_y+0.04"/>
                                          </p:val>
                                        </p:tav>
                                        <p:tav tm="100000">
                                          <p:val>
                                            <p:strVal val="#ppt_y"/>
                                          </p:val>
                                        </p:tav>
                                      </p:tavLst>
                                    </p:anim>
                                  </p:childTnLst>
                                </p:cTn>
                              </p:par>
                              <p:par>
                                <p:cTn id="36" presetID="10" presetClass="entr" presetSubtype="0" fill="hold" nodeType="withEffect">
                                  <p:stCondLst>
                                    <p:cond delay="43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p:tgtEl>
                                          <p:spTgt spid="13"/>
                                        </p:tgtEl>
                                      </p:cBhvr>
                                    </p:animEffect>
                                    <p:anim calcmode="lin" valueType="num">
                                      <p:cBhvr additive="base">
                                        <p:cTn id="35" dur="600" fill="hold"/>
                                        <p:tgtEl>
                                          <p:spTgt spid="13"/>
                                        </p:tgtEl>
                                        <p:attrNameLst>
                                          <p:attrName>ppt_y</p:attrName>
                                        </p:attrNameLst>
                                      </p:cBhvr>
                                      <p:tavLst>
                                        <p:tav tm="0">
                                          <p:val>
                                            <p:strVal val="#ppt_y+0.04"/>
                                          </p:val>
                                        </p:tav>
                                        <p:tav tm="100000">
                                          <p:val>
                                            <p:strVal val="#ppt_y"/>
                                          </p:val>
                                        </p:tav>
                                      </p:tavLst>
                                    </p:anim>
                                  </p:childTnLst>
                                </p:cTn>
                              </p:par>
                              <p:par>
                                <p:cTn id="40" presetID="10" presetClass="entr" presetSubtype="0" fill="hold" nodeType="withEffect">
                                  <p:stCondLst>
                                    <p:cond delay="43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600"/>
                                        <p:tgtEl>
                                          <p:spTgt spid="14"/>
                                        </p:tgtEl>
                                      </p:cBhvr>
                                    </p:animEffect>
                                    <p:anim calcmode="lin" valueType="num">
                                      <p:cBhvr additive="base">
                                        <p:cTn id="39" dur="600" fill="hold"/>
                                        <p:tgtEl>
                                          <p:spTgt spid="14"/>
                                        </p:tgtEl>
                                        <p:attrNameLst>
                                          <p:attrName>ppt_y</p:attrName>
                                        </p:attrNameLst>
                                      </p:cBhvr>
                                      <p:tavLst>
                                        <p:tav tm="0">
                                          <p:val>
                                            <p:strVal val="#ppt_y+0.04"/>
                                          </p:val>
                                        </p:tav>
                                        <p:tav tm="100000">
                                          <p:val>
                                            <p:strVal val="#ppt_y"/>
                                          </p:val>
                                        </p:tav>
                                      </p:tavLst>
                                    </p:anim>
                                  </p:childTnLst>
                                </p:cTn>
                              </p:par>
                              <p:par>
                                <p:cTn id="44" presetID="10" presetClass="entr" presetSubtype="0" fill="hold" nodeType="withEffect">
                                  <p:stCondLst>
                                    <p:cond delay="71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anim calcmode="lin" valueType="num">
                                      <p:cBhvr additive="base">
                                        <p:cTn id="43" dur="600" fill="hold"/>
                                        <p:tgtEl>
                                          <p:spTgt spid="15"/>
                                        </p:tgtEl>
                                        <p:attrNameLst>
                                          <p:attrName>ppt_y</p:attrName>
                                        </p:attrNameLst>
                                      </p:cBhvr>
                                      <p:tavLst>
                                        <p:tav tm="0">
                                          <p:val>
                                            <p:strVal val="#ppt_y+0.04"/>
                                          </p:val>
                                        </p:tav>
                                        <p:tav tm="100000">
                                          <p:val>
                                            <p:strVal val="#ppt_y"/>
                                          </p:val>
                                        </p:tav>
                                      </p:tavLst>
                                    </p:anim>
                                  </p:childTnLst>
                                </p:cTn>
                              </p:par>
                              <p:par>
                                <p:cTn id="48" presetID="10" presetClass="entr" presetSubtype="0" fill="hold" nodeType="withEffect">
                                  <p:stCondLst>
                                    <p:cond delay="71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600"/>
                                        <p:tgtEl>
                                          <p:spTgt spid="16"/>
                                        </p:tgtEl>
                                      </p:cBhvr>
                                    </p:animEffect>
                                    <p:anim calcmode="lin" valueType="num">
                                      <p:cBhvr additive="base">
                                        <p:cTn id="47" dur="600" fill="hold"/>
                                        <p:tgtEl>
                                          <p:spTgt spid="16"/>
                                        </p:tgtEl>
                                        <p:attrNameLst>
                                          <p:attrName>ppt_y</p:attrName>
                                        </p:attrNameLst>
                                      </p:cBhvr>
                                      <p:tavLst>
                                        <p:tav tm="0">
                                          <p:val>
                                            <p:strVal val="#ppt_y+0.04"/>
                                          </p:val>
                                        </p:tav>
                                        <p:tav tm="100000">
                                          <p:val>
                                            <p:strVal val="#ppt_y"/>
                                          </p:val>
                                        </p:tav>
                                      </p:tavLst>
                                    </p:anim>
                                  </p:childTnLst>
                                </p:cTn>
                              </p:par>
                              <p:par>
                                <p:cTn id="52" presetID="10" presetClass="entr" presetSubtype="0" fill="hold" nodeType="withEffect">
                                  <p:stCondLst>
                                    <p:cond delay="71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600"/>
                                        <p:tgtEl>
                                          <p:spTgt spid="17"/>
                                        </p:tgtEl>
                                      </p:cBhvr>
                                    </p:animEffect>
                                    <p:anim calcmode="lin" valueType="num">
                                      <p:cBhvr additive="base">
                                        <p:cTn id="51" dur="600" fill="hold"/>
                                        <p:tgtEl>
                                          <p:spTgt spid="17"/>
                                        </p:tgtEl>
                                        <p:attrNameLst>
                                          <p:attrName>ppt_y</p:attrName>
                                        </p:attrNameLst>
                                      </p:cBhvr>
                                      <p:tavLst>
                                        <p:tav tm="0">
                                          <p:val>
                                            <p:strVal val="#ppt_y+0.04"/>
                                          </p:val>
                                        </p:tav>
                                        <p:tav tm="100000">
                                          <p:val>
                                            <p:strVal val="#ppt_y"/>
                                          </p:val>
                                        </p:tav>
                                      </p:tavLst>
                                    </p:anim>
                                  </p:childTnLst>
                                </p:cTn>
                              </p:par>
                              <p:par>
                                <p:cTn id="56" presetID="10" presetClass="entr" presetSubtype="0" fill="hold" nodeType="withEffect">
                                  <p:stCondLst>
                                    <p:cond delay="71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600"/>
                                        <p:tgtEl>
                                          <p:spTgt spid="18"/>
                                        </p:tgtEl>
                                      </p:cBhvr>
                                    </p:animEffect>
                                    <p:anim calcmode="lin" valueType="num">
                                      <p:cBhvr additive="base">
                                        <p:cTn id="55" dur="600" fill="hold"/>
                                        <p:tgtEl>
                                          <p:spTgt spid="18"/>
                                        </p:tgtEl>
                                        <p:attrNameLst>
                                          <p:attrName>ppt_y</p:attrName>
                                        </p:attrNameLst>
                                      </p:cBhvr>
                                      <p:tavLst>
                                        <p:tav tm="0">
                                          <p:val>
                                            <p:strVal val="#ppt_y+0.04"/>
                                          </p:val>
                                        </p:tav>
                                        <p:tav tm="100000">
                                          <p:val>
                                            <p:strVal val="#ppt_y"/>
                                          </p:val>
                                        </p:tav>
                                      </p:tavLst>
                                    </p:anim>
                                  </p:childTnLst>
                                </p:cTn>
                              </p:par>
                              <p:par>
                                <p:cTn id="60" presetID="10" presetClass="entr" presetSubtype="0" fill="hold" nodeType="withEffect">
                                  <p:stCondLst>
                                    <p:cond delay="99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600"/>
                                        <p:tgtEl>
                                          <p:spTgt spid="19"/>
                                        </p:tgtEl>
                                      </p:cBhvr>
                                    </p:animEffect>
                                    <p:anim calcmode="lin" valueType="num">
                                      <p:cBhvr additive="base">
                                        <p:cTn id="59" dur="600" fill="hold"/>
                                        <p:tgtEl>
                                          <p:spTgt spid="19"/>
                                        </p:tgtEl>
                                        <p:attrNameLst>
                                          <p:attrName>ppt_y</p:attrName>
                                        </p:attrNameLst>
                                      </p:cBhvr>
                                      <p:tavLst>
                                        <p:tav tm="0">
                                          <p:val>
                                            <p:strVal val="#ppt_y+0.04"/>
                                          </p:val>
                                        </p:tav>
                                        <p:tav tm="100000">
                                          <p:val>
                                            <p:strVal val="#ppt_y"/>
                                          </p:val>
                                        </p:tav>
                                      </p:tavLst>
                                    </p:anim>
                                  </p:childTnLst>
                                </p:cTn>
                              </p:par>
                              <p:par>
                                <p:cTn id="64" presetID="10" presetClass="entr" presetSubtype="0" fill="hold" nodeType="withEffect">
                                  <p:stCondLst>
                                    <p:cond delay="99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600"/>
                                        <p:tgtEl>
                                          <p:spTgt spid="20"/>
                                        </p:tgtEl>
                                      </p:cBhvr>
                                    </p:animEffect>
                                    <p:anim calcmode="lin" valueType="num">
                                      <p:cBhvr additive="base">
                                        <p:cTn id="63" dur="600" fill="hold"/>
                                        <p:tgtEl>
                                          <p:spTgt spid="20"/>
                                        </p:tgtEl>
                                        <p:attrNameLst>
                                          <p:attrName>ppt_y</p:attrName>
                                        </p:attrNameLst>
                                      </p:cBhvr>
                                      <p:tavLst>
                                        <p:tav tm="0">
                                          <p:val>
                                            <p:strVal val="#ppt_y+0.04"/>
                                          </p:val>
                                        </p:tav>
                                        <p:tav tm="100000">
                                          <p:val>
                                            <p:strVal val="#ppt_y"/>
                                          </p:val>
                                        </p:tav>
                                      </p:tavLst>
                                    </p:anim>
                                  </p:childTnLst>
                                </p:cTn>
                              </p:par>
                              <p:par>
                                <p:cTn id="68" presetID="10" presetClass="entr" presetSubtype="0" fill="hold" nodeType="withEffect">
                                  <p:stCondLst>
                                    <p:cond delay="99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600"/>
                                        <p:tgtEl>
                                          <p:spTgt spid="21"/>
                                        </p:tgtEl>
                                      </p:cBhvr>
                                    </p:animEffect>
                                    <p:anim calcmode="lin" valueType="num">
                                      <p:cBhvr additive="base">
                                        <p:cTn id="67" dur="600" fill="hold"/>
                                        <p:tgtEl>
                                          <p:spTgt spid="21"/>
                                        </p:tgtEl>
                                        <p:attrNameLst>
                                          <p:attrName>ppt_y</p:attrName>
                                        </p:attrNameLst>
                                      </p:cBhvr>
                                      <p:tavLst>
                                        <p:tav tm="0">
                                          <p:val>
                                            <p:strVal val="#ppt_y+0.04"/>
                                          </p:val>
                                        </p:tav>
                                        <p:tav tm="100000">
                                          <p:val>
                                            <p:strVal val="#ppt_y"/>
                                          </p:val>
                                        </p:tav>
                                      </p:tavLst>
                                    </p:anim>
                                  </p:childTnLst>
                                </p:cTn>
                              </p:par>
                              <p:par>
                                <p:cTn id="72" presetID="10" presetClass="entr" presetSubtype="0" fill="hold" nodeType="withEffect">
                                  <p:stCondLst>
                                    <p:cond delay="99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600"/>
                                        <p:tgtEl>
                                          <p:spTgt spid="22"/>
                                        </p:tgtEl>
                                      </p:cBhvr>
                                    </p:animEffect>
                                    <p:anim calcmode="lin" valueType="num">
                                      <p:cBhvr additive="base">
                                        <p:cTn id="71" dur="600" fill="hold"/>
                                        <p:tgtEl>
                                          <p:spTgt spid="22"/>
                                        </p:tgtEl>
                                        <p:attrNameLst>
                                          <p:attrName>ppt_y</p:attrName>
                                        </p:attrNameLst>
                                      </p:cBhvr>
                                      <p:tavLst>
                                        <p:tav tm="0">
                                          <p:val>
                                            <p:strVal val="#ppt_y+0.04"/>
                                          </p:val>
                                        </p:tav>
                                        <p:tav tm="100000">
                                          <p:val>
                                            <p:strVal val="#ppt_y"/>
                                          </p:val>
                                        </p:tav>
                                      </p:tavLst>
                                    </p:anim>
                                  </p:childTnLst>
                                </p:cTn>
                              </p:par>
                              <p:par>
                                <p:cTn id="76" presetID="10" presetClass="entr" presetSubtype="0" fill="hold" nodeType="withEffect">
                                  <p:stCondLst>
                                    <p:cond delay="127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600"/>
                                        <p:tgtEl>
                                          <p:spTgt spid="23"/>
                                        </p:tgtEl>
                                      </p:cBhvr>
                                    </p:animEffect>
                                    <p:anim calcmode="lin" valueType="num">
                                      <p:cBhvr additive="base">
                                        <p:cTn id="75" dur="600" fill="hold"/>
                                        <p:tgtEl>
                                          <p:spTgt spid="23"/>
                                        </p:tgtEl>
                                        <p:attrNameLst>
                                          <p:attrName>ppt_y</p:attrName>
                                        </p:attrNameLst>
                                      </p:cBhvr>
                                      <p:tavLst>
                                        <p:tav tm="0">
                                          <p:val>
                                            <p:strVal val="#ppt_y+0.04"/>
                                          </p:val>
                                        </p:tav>
                                        <p:tav tm="100000">
                                          <p:val>
                                            <p:strVal val="#ppt_y"/>
                                          </p:val>
                                        </p:tav>
                                      </p:tavLst>
                                    </p:anim>
                                  </p:childTnLst>
                                </p:cTn>
                              </p:par>
                              <p:par>
                                <p:cTn id="80" presetID="10" presetClass="entr" presetSubtype="0" fill="hold" nodeType="withEffect">
                                  <p:stCondLst>
                                    <p:cond delay="1270"/>
                                  </p:stCondLst>
                                  <p:childTnLst>
                                    <p:set>
                                      <p:cBhvr>
                                        <p:cTn id="77" dur="1" fill="hold">
                                          <p:stCondLst>
                                            <p:cond delay="0"/>
                                          </p:stCondLst>
                                        </p:cTn>
                                        <p:tgtEl>
                                          <p:spTgt spid="24"/>
                                        </p:tgtEl>
                                        <p:attrNameLst>
                                          <p:attrName>style.visibility</p:attrName>
                                        </p:attrNameLst>
                                      </p:cBhvr>
                                      <p:to>
                                        <p:strVal val="visible"/>
                                      </p:to>
                                    </p:set>
                                    <p:animEffect transition="in" filter="fade">
                                      <p:cBhvr>
                                        <p:cTn id="78" dur="600"/>
                                        <p:tgtEl>
                                          <p:spTgt spid="24"/>
                                        </p:tgtEl>
                                      </p:cBhvr>
                                    </p:animEffect>
                                    <p:anim calcmode="lin" valueType="num">
                                      <p:cBhvr additive="base">
                                        <p:cTn id="79" dur="600" fill="hold"/>
                                        <p:tgtEl>
                                          <p:spTgt spid="24"/>
                                        </p:tgtEl>
                                        <p:attrNameLst>
                                          <p:attrName>ppt_y</p:attrName>
                                        </p:attrNameLst>
                                      </p:cBhvr>
                                      <p:tavLst>
                                        <p:tav tm="0">
                                          <p:val>
                                            <p:strVal val="#ppt_y+0.04"/>
                                          </p:val>
                                        </p:tav>
                                        <p:tav tm="100000">
                                          <p:val>
                                            <p:strVal val="#ppt_y"/>
                                          </p:val>
                                        </p:tav>
                                      </p:tavLst>
                                    </p:anim>
                                  </p:childTnLst>
                                </p:cTn>
                              </p:par>
                              <p:par>
                                <p:cTn id="84" presetID="10" presetClass="entr" presetSubtype="0" fill="hold" nodeType="withEffect">
                                  <p:stCondLst>
                                    <p:cond delay="1550"/>
                                  </p:stCondLst>
                                  <p:childTnLst>
                                    <p:set>
                                      <p:cBhvr>
                                        <p:cTn id="81" dur="1" fill="hold">
                                          <p:stCondLst>
                                            <p:cond delay="0"/>
                                          </p:stCondLst>
                                        </p:cTn>
                                        <p:tgtEl>
                                          <p:spTgt spid="25"/>
                                        </p:tgtEl>
                                        <p:attrNameLst>
                                          <p:attrName>style.visibility</p:attrName>
                                        </p:attrNameLst>
                                      </p:cBhvr>
                                      <p:to>
                                        <p:strVal val="visible"/>
                                      </p:to>
                                    </p:set>
                                    <p:animEffect transition="in" filter="fade">
                                      <p:cBhvr>
                                        <p:cTn id="82" dur="600"/>
                                        <p:tgtEl>
                                          <p:spTgt spid="25"/>
                                        </p:tgtEl>
                                      </p:cBhvr>
                                    </p:animEffect>
                                    <p:anim calcmode="lin" valueType="num">
                                      <p:cBhvr additive="base">
                                        <p:cTn id="83" dur="600" fill="hold"/>
                                        <p:tgtEl>
                                          <p:spTgt spid="25"/>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mc:Ignorable="p14 p159">
  <p:cSld name="Slide 9">
    <p:bg>
      <p:bgPr>
        <a:solidFill>
          <a:srgbClr val="FCFBF7"/>
        </a:solidFill>
      </p:bgPr>
    </p:bg>
    <p:spTree>
      <p:nvGrpSpPr>
        <p:cNvPr id="1" name=""/>
        <p:cNvGrpSpPr/>
        <p:nvPr/>
      </p:nvGrpSpPr>
      <p:grpSpPr>
        <a:xfrm>
          <a:off x="0" y="0"/>
          <a:ext cx="0" cy="0"/>
          <a:chOff x="0" y="0"/>
          <a:chExt cx="0" cy="0"/>
        </a:xfrm>
      </p:grpSpPr>
      <p:pic>
        <p:nvPicPr>
          <p:cNvPr id="2" name="!!blobOrange" descr="preencoded.png">    </p:cNvPr>
          <p:cNvPicPr>
            <a:picLocks noChangeAspect="1"/>
          </p:cNvPicPr>
          <p:nvPr/>
        </p:nvPicPr>
        <p:blipFill>
          <a:blip r:embed="rId1"/>
          <a:stretch>
            <a:fillRect/>
          </a:stretch>
        </p:blipFill>
        <p:spPr>
          <a:xfrm>
            <a:off x="-2377440" y="-2194560"/>
            <a:ext cx="5943600" cy="5943600"/>
          </a:xfrm>
          <a:prstGeom prst="rect">
            <a:avLst/>
          </a:prstGeom>
        </p:spPr>
      </p:pic>
      <p:pic>
        <p:nvPicPr>
          <p:cNvPr id="3" name="!!blobGreen" descr="preencoded.png">    </p:cNvPr>
          <p:cNvPicPr>
            <a:picLocks noChangeAspect="1"/>
          </p:cNvPicPr>
          <p:nvPr/>
        </p:nvPicPr>
        <p:blipFill>
          <a:blip r:embed="rId2"/>
          <a:stretch>
            <a:fillRect/>
          </a:stretch>
        </p:blipFill>
        <p:spPr>
          <a:xfrm>
            <a:off x="8229600" y="3291840"/>
            <a:ext cx="5943600" cy="5943600"/>
          </a:xfrm>
          <a:prstGeom prst="rect">
            <a:avLst/>
          </a:prstGeom>
        </p:spPr>
      </p:pic>
      <p:sp>
        <p:nvSpPr>
          <p:cNvPr id="4" name="!!kicker"/>
          <p:cNvSpPr txBox="1"/>
          <p:nvPr/>
        </p:nvSpPr>
        <p:spPr>
          <a:xfrm>
            <a:off x="640080" y="228600"/>
            <a:ext cx="7315200" cy="274320"/>
          </a:xfrm>
          <a:prstGeom prst="rect">
            <a:avLst/>
          </a:prstGeom>
          <a:noFill/>
          <a:ln/>
        </p:spPr>
        <p:txBody>
          <a:bodyPr wrap="square" lIns="0" tIns="0" rIns="0" bIns="0" rtlCol="0" anchor="ctr"/>
          <a:lstStyle/>
          <a:p>
            <a:pPr indent="0" marL="0">
              <a:buNone/>
            </a:pPr>
            <a:r>
              <a:rPr lang="en-US" sz="1100" b="1" spc="300" kern="0" dirty="0">
                <a:solidFill>
                  <a:srgbClr val="BF5320"/>
                </a:solidFill>
                <a:latin typeface="Calibri" pitchFamily="34" charset="0"/>
                <a:ea typeface="Calibri" pitchFamily="34" charset="-122"/>
                <a:cs typeface="Calibri" pitchFamily="34" charset="-120"/>
              </a:rPr>
              <a:t>AGENTIC WORKFLOWS</a:t>
            </a:r>
            <a:endParaRPr lang="en-US" sz="1100" dirty="0"/>
          </a:p>
        </p:txBody>
      </p:sp>
      <p:sp>
        <p:nvSpPr>
          <p:cNvPr id="5" name="!!title"/>
          <p:cNvSpPr txBox="1"/>
          <p:nvPr/>
        </p:nvSpPr>
        <p:spPr>
          <a:xfrm>
            <a:off x="640080" y="502920"/>
            <a:ext cx="10881360" cy="914400"/>
          </a:xfrm>
          <a:prstGeom prst="rect">
            <a:avLst/>
          </a:prstGeom>
          <a:noFill/>
          <a:ln/>
        </p:spPr>
        <p:txBody>
          <a:bodyPr wrap="square" lIns="0" tIns="0" rIns="0" bIns="0" rtlCol="0" anchor="ctr"/>
          <a:lstStyle/>
          <a:p>
            <a:pPr indent="0" marL="0">
              <a:buNone/>
            </a:pPr>
            <a:r>
              <a:rPr lang="en-US" sz="3600" b="1" dirty="0">
                <a:solidFill>
                  <a:srgbClr val="1C1712"/>
                </a:solidFill>
                <a:latin typeface="Cambria" pitchFamily="34" charset="0"/>
                <a:ea typeface="Cambria" pitchFamily="34" charset="-122"/>
                <a:cs typeface="Cambria" pitchFamily="34" charset="-120"/>
              </a:rPr>
              <a:t>Seven agents that keep</a:t>
            </a:r>
            <a:pPr indent="0" marL="0">
              <a:buNone/>
            </a:pPr>
            <a:r>
              <a:rPr lang="en-US" sz="3600" b="1" dirty="0">
                <a:solidFill>
                  <a:srgbClr val="F0703D"/>
                </a:solidFill>
                <a:latin typeface="Cambria" pitchFamily="34" charset="0"/>
                <a:ea typeface="Cambria" pitchFamily="34" charset="-122"/>
                <a:cs typeface="Cambria" pitchFamily="34" charset="-120"/>
              </a:rPr>
              <a:t> surplus moving</a:t>
            </a:r>
            <a:endParaRPr lang="en-US" sz="3600" dirty="0"/>
          </a:p>
        </p:txBody>
      </p:sp>
      <p:sp>
        <p:nvSpPr>
          <p:cNvPr id="6" name="anim1_c"/>
          <p:cNvSpPr/>
          <p:nvPr/>
        </p:nvSpPr>
        <p:spPr>
          <a:xfrm>
            <a:off x="640080" y="1783080"/>
            <a:ext cx="2560320" cy="1828800"/>
          </a:xfrm>
          <a:prstGeom prst="roundRect">
            <a:avLst>
              <a:gd name="adj" fmla="val 9000"/>
            </a:avLst>
          </a:prstGeom>
          <a:solidFill>
            <a:srgbClr val="FFFFF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7" name="anim1_iBg"/>
          <p:cNvSpPr/>
          <p:nvPr/>
        </p:nvSpPr>
        <p:spPr>
          <a:xfrm>
            <a:off x="868680" y="2011680"/>
            <a:ext cx="640080" cy="640080"/>
          </a:xfrm>
          <a:prstGeom prst="ellipse">
            <a:avLst/>
          </a:prstGeom>
          <a:solidFill>
            <a:srgbClr val="F0703D"/>
          </a:solidFill>
          <a:ln w="12700">
            <a:solidFill>
              <a:srgbClr val="F0703D"/>
            </a:solidFill>
            <a:prstDash val="solid"/>
          </a:ln>
        </p:spPr>
      </p:sp>
      <p:pic>
        <p:nvPicPr>
          <p:cNvPr id="8" name="anim1_i" descr="preencoded.png">    </p:cNvPr>
          <p:cNvPicPr>
            <a:picLocks noChangeAspect="1"/>
          </p:cNvPicPr>
          <p:nvPr/>
        </p:nvPicPr>
        <p:blipFill>
          <a:blip r:embed="rId3"/>
          <a:stretch>
            <a:fillRect/>
          </a:stretch>
        </p:blipFill>
        <p:spPr>
          <a:xfrm>
            <a:off x="1022299" y="2165299"/>
            <a:ext cx="332842" cy="332842"/>
          </a:xfrm>
          <a:prstGeom prst="rect">
            <a:avLst/>
          </a:prstGeom>
        </p:spPr>
      </p:pic>
      <p:sp>
        <p:nvSpPr>
          <p:cNvPr id="9" name="anim1_h"/>
          <p:cNvSpPr txBox="1"/>
          <p:nvPr/>
        </p:nvSpPr>
        <p:spPr>
          <a:xfrm>
            <a:off x="1600200" y="2057400"/>
            <a:ext cx="1463040" cy="548640"/>
          </a:xfrm>
          <a:prstGeom prst="rect">
            <a:avLst/>
          </a:prstGeom>
          <a:noFill/>
          <a:ln/>
        </p:spPr>
        <p:txBody>
          <a:bodyPr wrap="square" lIns="0" tIns="0" rIns="0" bIns="0" rtlCol="0" anchor="ctr"/>
          <a:lstStyle/>
          <a:p>
            <a:pPr indent="0" marL="0">
              <a:buNone/>
            </a:pPr>
            <a:r>
              <a:rPr lang="en-US" sz="1500" b="1" dirty="0">
                <a:solidFill>
                  <a:srgbClr val="1C1712"/>
                </a:solidFill>
                <a:latin typeface="Calibri" pitchFamily="34" charset="0"/>
                <a:ea typeface="Calibri" pitchFamily="34" charset="-122"/>
                <a:cs typeface="Calibri" pitchFamily="34" charset="-120"/>
              </a:rPr>
              <a:t>Pickup rescue</a:t>
            </a:r>
            <a:endParaRPr lang="en-US" sz="1500" dirty="0"/>
          </a:p>
        </p:txBody>
      </p:sp>
      <p:sp>
        <p:nvSpPr>
          <p:cNvPr id="10" name="anim1_b"/>
          <p:cNvSpPr txBox="1"/>
          <p:nvPr/>
        </p:nvSpPr>
        <p:spPr>
          <a:xfrm>
            <a:off x="868680" y="2743200"/>
            <a:ext cx="2148840" cy="777240"/>
          </a:xfrm>
          <a:prstGeom prst="rect">
            <a:avLst/>
          </a:prstGeom>
          <a:noFill/>
          <a:ln/>
        </p:spPr>
        <p:txBody>
          <a:bodyPr wrap="square" lIns="0" tIns="0" rIns="0" bIns="0" rtlCol="0" anchor="t"/>
          <a:lstStyle/>
          <a:p>
            <a:pPr indent="0" marL="0">
              <a:buNone/>
            </a:pPr>
            <a:r>
              <a:rPr lang="en-US" sz="1200" dirty="0">
                <a:solidFill>
                  <a:srgbClr val="5B5148"/>
                </a:solidFill>
                <a:latin typeface="Calibri" pitchFamily="34" charset="0"/>
                <a:ea typeface="Calibri" pitchFamily="34" charset="-122"/>
                <a:cs typeface="Calibri" pitchFamily="34" charset="-120"/>
              </a:rPr>
              <a:t>Pickup about to fail? Offers it to the waitlist or the next-best food bank.</a:t>
            </a:r>
            <a:endParaRPr lang="en-US" sz="1200" dirty="0"/>
          </a:p>
        </p:txBody>
      </p:sp>
      <p:sp>
        <p:nvSpPr>
          <p:cNvPr id="11" name="anim2_c"/>
          <p:cNvSpPr/>
          <p:nvPr/>
        </p:nvSpPr>
        <p:spPr>
          <a:xfrm>
            <a:off x="3401568" y="1783080"/>
            <a:ext cx="2560320" cy="1828800"/>
          </a:xfrm>
          <a:prstGeom prst="roundRect">
            <a:avLst>
              <a:gd name="adj" fmla="val 9000"/>
            </a:avLst>
          </a:prstGeom>
          <a:solidFill>
            <a:srgbClr val="FFFFF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12" name="anim2_iBg"/>
          <p:cNvSpPr/>
          <p:nvPr/>
        </p:nvSpPr>
        <p:spPr>
          <a:xfrm>
            <a:off x="3630168" y="2011680"/>
            <a:ext cx="640080" cy="640080"/>
          </a:xfrm>
          <a:prstGeom prst="ellipse">
            <a:avLst/>
          </a:prstGeom>
          <a:solidFill>
            <a:srgbClr val="165840"/>
          </a:solidFill>
          <a:ln w="12700">
            <a:solidFill>
              <a:srgbClr val="165840"/>
            </a:solidFill>
            <a:prstDash val="solid"/>
          </a:ln>
        </p:spPr>
      </p:sp>
      <p:pic>
        <p:nvPicPr>
          <p:cNvPr id="13" name="anim2_i" descr="preencoded.png">    </p:cNvPr>
          <p:cNvPicPr>
            <a:picLocks noChangeAspect="1"/>
          </p:cNvPicPr>
          <p:nvPr/>
        </p:nvPicPr>
        <p:blipFill>
          <a:blip r:embed="rId4"/>
          <a:stretch>
            <a:fillRect/>
          </a:stretch>
        </p:blipFill>
        <p:spPr>
          <a:xfrm>
            <a:off x="3783787" y="2165299"/>
            <a:ext cx="332842" cy="332842"/>
          </a:xfrm>
          <a:prstGeom prst="rect">
            <a:avLst/>
          </a:prstGeom>
        </p:spPr>
      </p:pic>
      <p:sp>
        <p:nvSpPr>
          <p:cNvPr id="14" name="anim2_h"/>
          <p:cNvSpPr txBox="1"/>
          <p:nvPr/>
        </p:nvSpPr>
        <p:spPr>
          <a:xfrm>
            <a:off x="4361688" y="2057400"/>
            <a:ext cx="1463040" cy="548640"/>
          </a:xfrm>
          <a:prstGeom prst="rect">
            <a:avLst/>
          </a:prstGeom>
          <a:noFill/>
          <a:ln/>
        </p:spPr>
        <p:txBody>
          <a:bodyPr wrap="square" lIns="0" tIns="0" rIns="0" bIns="0" rtlCol="0" anchor="ctr"/>
          <a:lstStyle/>
          <a:p>
            <a:pPr indent="0" marL="0">
              <a:buNone/>
            </a:pPr>
            <a:r>
              <a:rPr lang="en-US" sz="1500" b="1" dirty="0">
                <a:solidFill>
                  <a:srgbClr val="1C1712"/>
                </a:solidFill>
                <a:latin typeface="Calibri" pitchFamily="34" charset="0"/>
                <a:ea typeface="Calibri" pitchFamily="34" charset="-122"/>
                <a:cs typeface="Calibri" pitchFamily="34" charset="-120"/>
              </a:rPr>
              <a:t>Donor intake</a:t>
            </a:r>
            <a:endParaRPr lang="en-US" sz="1500" dirty="0"/>
          </a:p>
        </p:txBody>
      </p:sp>
      <p:sp>
        <p:nvSpPr>
          <p:cNvPr id="15" name="anim2_b"/>
          <p:cNvSpPr txBox="1"/>
          <p:nvPr/>
        </p:nvSpPr>
        <p:spPr>
          <a:xfrm>
            <a:off x="3630168" y="2743200"/>
            <a:ext cx="2148840" cy="777240"/>
          </a:xfrm>
          <a:prstGeom prst="rect">
            <a:avLst/>
          </a:prstGeom>
          <a:noFill/>
          <a:ln/>
        </p:spPr>
        <p:txBody>
          <a:bodyPr wrap="square" lIns="0" tIns="0" rIns="0" bIns="0" rtlCol="0" anchor="t"/>
          <a:lstStyle/>
          <a:p>
            <a:pPr indent="0" marL="0">
              <a:buNone/>
            </a:pPr>
            <a:r>
              <a:rPr lang="en-US" sz="1200" dirty="0">
                <a:solidFill>
                  <a:srgbClr val="5B5148"/>
                </a:solidFill>
                <a:latin typeface="Calibri" pitchFamily="34" charset="0"/>
                <a:ea typeface="Calibri" pitchFamily="34" charset="-122"/>
                <a:cs typeface="Calibri" pitchFamily="34" charset="-120"/>
              </a:rPr>
              <a:t>“80 sandwiches in Rand, gone by 3pm” becomes a posted donation.</a:t>
            </a:r>
            <a:endParaRPr lang="en-US" sz="1200" dirty="0"/>
          </a:p>
        </p:txBody>
      </p:sp>
      <p:sp>
        <p:nvSpPr>
          <p:cNvPr id="16" name="anim3_c"/>
          <p:cNvSpPr/>
          <p:nvPr/>
        </p:nvSpPr>
        <p:spPr>
          <a:xfrm>
            <a:off x="6163056" y="1783080"/>
            <a:ext cx="2560320" cy="1828800"/>
          </a:xfrm>
          <a:prstGeom prst="roundRect">
            <a:avLst>
              <a:gd name="adj" fmla="val 9000"/>
            </a:avLst>
          </a:prstGeom>
          <a:solidFill>
            <a:srgbClr val="FFFFF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17" name="anim3_iBg"/>
          <p:cNvSpPr/>
          <p:nvPr/>
        </p:nvSpPr>
        <p:spPr>
          <a:xfrm>
            <a:off x="6391656" y="2011680"/>
            <a:ext cx="640080" cy="640080"/>
          </a:xfrm>
          <a:prstGeom prst="ellipse">
            <a:avLst/>
          </a:prstGeom>
          <a:solidFill>
            <a:srgbClr val="F0703D"/>
          </a:solidFill>
          <a:ln w="12700">
            <a:solidFill>
              <a:srgbClr val="F0703D"/>
            </a:solidFill>
            <a:prstDash val="solid"/>
          </a:ln>
        </p:spPr>
      </p:sp>
      <p:pic>
        <p:nvPicPr>
          <p:cNvPr id="18" name="anim3_i" descr="preencoded.png">    </p:cNvPr>
          <p:cNvPicPr>
            <a:picLocks noChangeAspect="1"/>
          </p:cNvPicPr>
          <p:nvPr/>
        </p:nvPicPr>
        <p:blipFill>
          <a:blip r:embed="rId5"/>
          <a:stretch>
            <a:fillRect/>
          </a:stretch>
        </p:blipFill>
        <p:spPr>
          <a:xfrm>
            <a:off x="6545275" y="2165299"/>
            <a:ext cx="332842" cy="332842"/>
          </a:xfrm>
          <a:prstGeom prst="rect">
            <a:avLst/>
          </a:prstGeom>
        </p:spPr>
      </p:pic>
      <p:sp>
        <p:nvSpPr>
          <p:cNvPr id="19" name="anim3_h"/>
          <p:cNvSpPr txBox="1"/>
          <p:nvPr/>
        </p:nvSpPr>
        <p:spPr>
          <a:xfrm>
            <a:off x="7123176" y="2057400"/>
            <a:ext cx="1463040" cy="548640"/>
          </a:xfrm>
          <a:prstGeom prst="rect">
            <a:avLst/>
          </a:prstGeom>
          <a:noFill/>
          <a:ln/>
        </p:spPr>
        <p:txBody>
          <a:bodyPr wrap="square" lIns="0" tIns="0" rIns="0" bIns="0" rtlCol="0" anchor="ctr"/>
          <a:lstStyle/>
          <a:p>
            <a:pPr indent="0" marL="0">
              <a:buNone/>
            </a:pPr>
            <a:r>
              <a:rPr lang="en-US" sz="1500" b="1" dirty="0">
                <a:solidFill>
                  <a:srgbClr val="1C1712"/>
                </a:solidFill>
                <a:latin typeface="Calibri" pitchFamily="34" charset="0"/>
                <a:ea typeface="Calibri" pitchFamily="34" charset="-122"/>
                <a:cs typeface="Calibri" pitchFamily="34" charset="-120"/>
              </a:rPr>
              <a:t>Capacity splitter</a:t>
            </a:r>
            <a:endParaRPr lang="en-US" sz="1500" dirty="0"/>
          </a:p>
        </p:txBody>
      </p:sp>
      <p:sp>
        <p:nvSpPr>
          <p:cNvPr id="20" name="anim3_b"/>
          <p:cNvSpPr txBox="1"/>
          <p:nvPr/>
        </p:nvSpPr>
        <p:spPr>
          <a:xfrm>
            <a:off x="6391656" y="2743200"/>
            <a:ext cx="2148840" cy="777240"/>
          </a:xfrm>
          <a:prstGeom prst="rect">
            <a:avLst/>
          </a:prstGeom>
          <a:noFill/>
          <a:ln/>
        </p:spPr>
        <p:txBody>
          <a:bodyPr wrap="square" lIns="0" tIns="0" rIns="0" bIns="0" rtlCol="0" anchor="t"/>
          <a:lstStyle/>
          <a:p>
            <a:pPr indent="0" marL="0">
              <a:buNone/>
            </a:pPr>
            <a:r>
              <a:rPr lang="en-US" sz="1200" dirty="0">
                <a:solidFill>
                  <a:srgbClr val="5B5148"/>
                </a:solidFill>
                <a:latin typeface="Calibri" pitchFamily="34" charset="0"/>
                <a:ea typeface="Calibri" pitchFamily="34" charset="-122"/>
                <a:cs typeface="Calibri" pitchFamily="34" charset="-120"/>
              </a:rPr>
              <a:t>Too much for one food bank? Splits it by capacity and fit.</a:t>
            </a:r>
            <a:endParaRPr lang="en-US" sz="1200" dirty="0"/>
          </a:p>
        </p:txBody>
      </p:sp>
      <p:sp>
        <p:nvSpPr>
          <p:cNvPr id="21" name="anim4_c"/>
          <p:cNvSpPr/>
          <p:nvPr/>
        </p:nvSpPr>
        <p:spPr>
          <a:xfrm>
            <a:off x="8924544" y="1783080"/>
            <a:ext cx="2560320" cy="1828800"/>
          </a:xfrm>
          <a:prstGeom prst="roundRect">
            <a:avLst>
              <a:gd name="adj" fmla="val 9000"/>
            </a:avLst>
          </a:prstGeom>
          <a:solidFill>
            <a:srgbClr val="FFFFF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22" name="anim4_iBg"/>
          <p:cNvSpPr/>
          <p:nvPr/>
        </p:nvSpPr>
        <p:spPr>
          <a:xfrm>
            <a:off x="9153144" y="2011680"/>
            <a:ext cx="640080" cy="640080"/>
          </a:xfrm>
          <a:prstGeom prst="ellipse">
            <a:avLst/>
          </a:prstGeom>
          <a:solidFill>
            <a:srgbClr val="165840"/>
          </a:solidFill>
          <a:ln w="12700">
            <a:solidFill>
              <a:srgbClr val="165840"/>
            </a:solidFill>
            <a:prstDash val="solid"/>
          </a:ln>
        </p:spPr>
      </p:sp>
      <p:pic>
        <p:nvPicPr>
          <p:cNvPr id="23" name="anim4_i" descr="preencoded.png">    </p:cNvPr>
          <p:cNvPicPr>
            <a:picLocks noChangeAspect="1"/>
          </p:cNvPicPr>
          <p:nvPr/>
        </p:nvPicPr>
        <p:blipFill>
          <a:blip r:embed="rId6"/>
          <a:stretch>
            <a:fillRect/>
          </a:stretch>
        </p:blipFill>
        <p:spPr>
          <a:xfrm>
            <a:off x="9306763" y="2165299"/>
            <a:ext cx="332842" cy="332842"/>
          </a:xfrm>
          <a:prstGeom prst="rect">
            <a:avLst/>
          </a:prstGeom>
        </p:spPr>
      </p:pic>
      <p:sp>
        <p:nvSpPr>
          <p:cNvPr id="24" name="anim4_h"/>
          <p:cNvSpPr txBox="1"/>
          <p:nvPr/>
        </p:nvSpPr>
        <p:spPr>
          <a:xfrm>
            <a:off x="9884664" y="2057400"/>
            <a:ext cx="1463040" cy="548640"/>
          </a:xfrm>
          <a:prstGeom prst="rect">
            <a:avLst/>
          </a:prstGeom>
          <a:noFill/>
          <a:ln/>
        </p:spPr>
        <p:txBody>
          <a:bodyPr wrap="square" lIns="0" tIns="0" rIns="0" bIns="0" rtlCol="0" anchor="ctr"/>
          <a:lstStyle/>
          <a:p>
            <a:pPr indent="0" marL="0">
              <a:buNone/>
            </a:pPr>
            <a:r>
              <a:rPr lang="en-US" sz="1500" b="1" dirty="0">
                <a:solidFill>
                  <a:srgbClr val="1C1712"/>
                </a:solidFill>
                <a:latin typeface="Calibri" pitchFamily="34" charset="0"/>
                <a:ea typeface="Calibri" pitchFamily="34" charset="-122"/>
                <a:cs typeface="Calibri" pitchFamily="34" charset="-120"/>
              </a:rPr>
              <a:t>Route planner</a:t>
            </a:r>
            <a:endParaRPr lang="en-US" sz="1500" dirty="0"/>
          </a:p>
        </p:txBody>
      </p:sp>
      <p:sp>
        <p:nvSpPr>
          <p:cNvPr id="25" name="anim4_b"/>
          <p:cNvSpPr txBox="1"/>
          <p:nvPr/>
        </p:nvSpPr>
        <p:spPr>
          <a:xfrm>
            <a:off x="9153144" y="2743200"/>
            <a:ext cx="2148840" cy="777240"/>
          </a:xfrm>
          <a:prstGeom prst="rect">
            <a:avLst/>
          </a:prstGeom>
          <a:noFill/>
          <a:ln/>
        </p:spPr>
        <p:txBody>
          <a:bodyPr wrap="square" lIns="0" tIns="0" rIns="0" bIns="0" rtlCol="0" anchor="t"/>
          <a:lstStyle/>
          <a:p>
            <a:pPr indent="0" marL="0">
              <a:buNone/>
            </a:pPr>
            <a:r>
              <a:rPr lang="en-US" sz="1200" dirty="0">
                <a:solidFill>
                  <a:srgbClr val="5B5148"/>
                </a:solidFill>
                <a:latin typeface="Calibri" pitchFamily="34" charset="0"/>
                <a:ea typeface="Calibri" pitchFamily="34" charset="-122"/>
                <a:cs typeface="Calibri" pitchFamily="34" charset="-120"/>
              </a:rPr>
              <a:t>Orders a pickup run by deadline and distance, with a driver checklist.</a:t>
            </a:r>
            <a:endParaRPr lang="en-US" sz="1200" dirty="0"/>
          </a:p>
        </p:txBody>
      </p:sp>
      <p:sp>
        <p:nvSpPr>
          <p:cNvPr id="26" name="anim5_c"/>
          <p:cNvSpPr/>
          <p:nvPr/>
        </p:nvSpPr>
        <p:spPr>
          <a:xfrm>
            <a:off x="2020824" y="3794760"/>
            <a:ext cx="2560320" cy="1828800"/>
          </a:xfrm>
          <a:prstGeom prst="roundRect">
            <a:avLst>
              <a:gd name="adj" fmla="val 9000"/>
            </a:avLst>
          </a:prstGeom>
          <a:solidFill>
            <a:srgbClr val="FFFFF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27" name="anim5_iBg"/>
          <p:cNvSpPr/>
          <p:nvPr/>
        </p:nvSpPr>
        <p:spPr>
          <a:xfrm>
            <a:off x="2249424" y="4023360"/>
            <a:ext cx="640080" cy="640080"/>
          </a:xfrm>
          <a:prstGeom prst="ellipse">
            <a:avLst/>
          </a:prstGeom>
          <a:solidFill>
            <a:srgbClr val="F0703D"/>
          </a:solidFill>
          <a:ln w="12700">
            <a:solidFill>
              <a:srgbClr val="F0703D"/>
            </a:solidFill>
            <a:prstDash val="solid"/>
          </a:ln>
        </p:spPr>
      </p:sp>
      <p:pic>
        <p:nvPicPr>
          <p:cNvPr id="28" name="anim5_i" descr="preencoded.png">    </p:cNvPr>
          <p:cNvPicPr>
            <a:picLocks noChangeAspect="1"/>
          </p:cNvPicPr>
          <p:nvPr/>
        </p:nvPicPr>
        <p:blipFill>
          <a:blip r:embed="rId7"/>
          <a:stretch>
            <a:fillRect/>
          </a:stretch>
        </p:blipFill>
        <p:spPr>
          <a:xfrm>
            <a:off x="2403043" y="4176979"/>
            <a:ext cx="332842" cy="332842"/>
          </a:xfrm>
          <a:prstGeom prst="rect">
            <a:avLst/>
          </a:prstGeom>
        </p:spPr>
      </p:pic>
      <p:sp>
        <p:nvSpPr>
          <p:cNvPr id="29" name="anim5_h"/>
          <p:cNvSpPr txBox="1"/>
          <p:nvPr/>
        </p:nvSpPr>
        <p:spPr>
          <a:xfrm>
            <a:off x="2980944" y="4069080"/>
            <a:ext cx="1463040" cy="548640"/>
          </a:xfrm>
          <a:prstGeom prst="rect">
            <a:avLst/>
          </a:prstGeom>
          <a:noFill/>
          <a:ln/>
        </p:spPr>
        <p:txBody>
          <a:bodyPr wrap="square" lIns="0" tIns="0" rIns="0" bIns="0" rtlCol="0" anchor="ctr"/>
          <a:lstStyle/>
          <a:p>
            <a:pPr indent="0" marL="0">
              <a:buNone/>
            </a:pPr>
            <a:r>
              <a:rPr lang="en-US" sz="1500" b="1" dirty="0">
                <a:solidFill>
                  <a:srgbClr val="1C1712"/>
                </a:solidFill>
                <a:latin typeface="Calibri" pitchFamily="34" charset="0"/>
                <a:ea typeface="Calibri" pitchFamily="34" charset="-122"/>
                <a:cs typeface="Calibri" pitchFamily="34" charset="-120"/>
              </a:rPr>
              <a:t>Event forecaster</a:t>
            </a:r>
            <a:endParaRPr lang="en-US" sz="1500" dirty="0"/>
          </a:p>
        </p:txBody>
      </p:sp>
      <p:sp>
        <p:nvSpPr>
          <p:cNvPr id="30" name="anim5_b"/>
          <p:cNvSpPr txBox="1"/>
          <p:nvPr/>
        </p:nvSpPr>
        <p:spPr>
          <a:xfrm>
            <a:off x="2249424" y="4754880"/>
            <a:ext cx="2148840" cy="777240"/>
          </a:xfrm>
          <a:prstGeom prst="rect">
            <a:avLst/>
          </a:prstGeom>
          <a:noFill/>
          <a:ln/>
        </p:spPr>
        <p:txBody>
          <a:bodyPr wrap="square" lIns="0" tIns="0" rIns="0" bIns="0" rtlCol="0" anchor="t"/>
          <a:lstStyle/>
          <a:p>
            <a:pPr indent="0" marL="0">
              <a:buNone/>
            </a:pPr>
            <a:r>
              <a:rPr lang="en-US" sz="1200" dirty="0">
                <a:solidFill>
                  <a:srgbClr val="5B5148"/>
                </a:solidFill>
                <a:latin typeface="Calibri" pitchFamily="34" charset="0"/>
                <a:ea typeface="Calibri" pitchFamily="34" charset="-122"/>
                <a:cs typeface="Calibri" pitchFamily="34" charset="-120"/>
              </a:rPr>
              <a:t>Learns no-show rates and suggests ordering less catering.</a:t>
            </a:r>
            <a:endParaRPr lang="en-US" sz="1200" dirty="0"/>
          </a:p>
        </p:txBody>
      </p:sp>
      <p:sp>
        <p:nvSpPr>
          <p:cNvPr id="31" name="anim6_c"/>
          <p:cNvSpPr/>
          <p:nvPr/>
        </p:nvSpPr>
        <p:spPr>
          <a:xfrm>
            <a:off x="4782312" y="3794760"/>
            <a:ext cx="2560320" cy="1828800"/>
          </a:xfrm>
          <a:prstGeom prst="roundRect">
            <a:avLst>
              <a:gd name="adj" fmla="val 9000"/>
            </a:avLst>
          </a:prstGeom>
          <a:solidFill>
            <a:srgbClr val="FFFFF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32" name="anim6_iBg"/>
          <p:cNvSpPr/>
          <p:nvPr/>
        </p:nvSpPr>
        <p:spPr>
          <a:xfrm>
            <a:off x="5010912" y="4023360"/>
            <a:ext cx="640080" cy="640080"/>
          </a:xfrm>
          <a:prstGeom prst="ellipse">
            <a:avLst/>
          </a:prstGeom>
          <a:solidFill>
            <a:srgbClr val="165840"/>
          </a:solidFill>
          <a:ln w="12700">
            <a:solidFill>
              <a:srgbClr val="165840"/>
            </a:solidFill>
            <a:prstDash val="solid"/>
          </a:ln>
        </p:spPr>
      </p:sp>
      <p:pic>
        <p:nvPicPr>
          <p:cNvPr id="33" name="anim6_i" descr="preencoded.png">    </p:cNvPr>
          <p:cNvPicPr>
            <a:picLocks noChangeAspect="1"/>
          </p:cNvPicPr>
          <p:nvPr/>
        </p:nvPicPr>
        <p:blipFill>
          <a:blip r:embed="rId8"/>
          <a:stretch>
            <a:fillRect/>
          </a:stretch>
        </p:blipFill>
        <p:spPr>
          <a:xfrm>
            <a:off x="5164531" y="4176979"/>
            <a:ext cx="332842" cy="332842"/>
          </a:xfrm>
          <a:prstGeom prst="rect">
            <a:avLst/>
          </a:prstGeom>
        </p:spPr>
      </p:pic>
      <p:sp>
        <p:nvSpPr>
          <p:cNvPr id="34" name="anim6_h"/>
          <p:cNvSpPr txBox="1"/>
          <p:nvPr/>
        </p:nvSpPr>
        <p:spPr>
          <a:xfrm>
            <a:off x="5742432" y="4069080"/>
            <a:ext cx="1463040" cy="548640"/>
          </a:xfrm>
          <a:prstGeom prst="rect">
            <a:avLst/>
          </a:prstGeom>
          <a:noFill/>
          <a:ln/>
        </p:spPr>
        <p:txBody>
          <a:bodyPr wrap="square" lIns="0" tIns="0" rIns="0" bIns="0" rtlCol="0" anchor="ctr"/>
          <a:lstStyle/>
          <a:p>
            <a:pPr indent="0" marL="0">
              <a:buNone/>
            </a:pPr>
            <a:r>
              <a:rPr lang="en-US" sz="1500" b="1" dirty="0">
                <a:solidFill>
                  <a:srgbClr val="1C1712"/>
                </a:solidFill>
                <a:latin typeface="Calibri" pitchFamily="34" charset="0"/>
                <a:ea typeface="Calibri" pitchFamily="34" charset="-122"/>
                <a:cs typeface="Calibri" pitchFamily="34" charset="-120"/>
              </a:rPr>
              <a:t>Weekly impact report</a:t>
            </a:r>
            <a:endParaRPr lang="en-US" sz="1500" dirty="0"/>
          </a:p>
        </p:txBody>
      </p:sp>
      <p:sp>
        <p:nvSpPr>
          <p:cNvPr id="35" name="anim6_b"/>
          <p:cNvSpPr txBox="1"/>
          <p:nvPr/>
        </p:nvSpPr>
        <p:spPr>
          <a:xfrm>
            <a:off x="5010912" y="4754880"/>
            <a:ext cx="2148840" cy="777240"/>
          </a:xfrm>
          <a:prstGeom prst="rect">
            <a:avLst/>
          </a:prstGeom>
          <a:noFill/>
          <a:ln/>
        </p:spPr>
        <p:txBody>
          <a:bodyPr wrap="square" lIns="0" tIns="0" rIns="0" bIns="0" rtlCol="0" anchor="t"/>
          <a:lstStyle/>
          <a:p>
            <a:pPr indent="0" marL="0">
              <a:buNone/>
            </a:pPr>
            <a:r>
              <a:rPr lang="en-US" sz="1200" dirty="0">
                <a:solidFill>
                  <a:srgbClr val="5B5148"/>
                </a:solidFill>
                <a:latin typeface="Calibri" pitchFamily="34" charset="0"/>
                <a:ea typeface="Calibri" pitchFamily="34" charset="-122"/>
                <a:cs typeface="Calibri" pitchFamily="34" charset="-120"/>
              </a:rPr>
              <a:t>Network summary plus a tax-acknowledgment letter per donor.</a:t>
            </a:r>
            <a:endParaRPr lang="en-US" sz="1200" dirty="0"/>
          </a:p>
        </p:txBody>
      </p:sp>
      <p:sp>
        <p:nvSpPr>
          <p:cNvPr id="36" name="anim7_c"/>
          <p:cNvSpPr/>
          <p:nvPr/>
        </p:nvSpPr>
        <p:spPr>
          <a:xfrm>
            <a:off x="7543800" y="3794760"/>
            <a:ext cx="2560320" cy="1828800"/>
          </a:xfrm>
          <a:prstGeom prst="roundRect">
            <a:avLst>
              <a:gd name="adj" fmla="val 9000"/>
            </a:avLst>
          </a:prstGeom>
          <a:solidFill>
            <a:srgbClr val="FFFFF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37" name="anim7_iBg"/>
          <p:cNvSpPr/>
          <p:nvPr/>
        </p:nvSpPr>
        <p:spPr>
          <a:xfrm>
            <a:off x="7772400" y="4023360"/>
            <a:ext cx="640080" cy="640080"/>
          </a:xfrm>
          <a:prstGeom prst="ellipse">
            <a:avLst/>
          </a:prstGeom>
          <a:solidFill>
            <a:srgbClr val="F0703D"/>
          </a:solidFill>
          <a:ln w="12700">
            <a:solidFill>
              <a:srgbClr val="F0703D"/>
            </a:solidFill>
            <a:prstDash val="solid"/>
          </a:ln>
        </p:spPr>
      </p:sp>
      <p:pic>
        <p:nvPicPr>
          <p:cNvPr id="38" name="anim7_i" descr="preencoded.png">    </p:cNvPr>
          <p:cNvPicPr>
            <a:picLocks noChangeAspect="1"/>
          </p:cNvPicPr>
          <p:nvPr/>
        </p:nvPicPr>
        <p:blipFill>
          <a:blip r:embed="rId9"/>
          <a:stretch>
            <a:fillRect/>
          </a:stretch>
        </p:blipFill>
        <p:spPr>
          <a:xfrm>
            <a:off x="7926019" y="4176979"/>
            <a:ext cx="332842" cy="332842"/>
          </a:xfrm>
          <a:prstGeom prst="rect">
            <a:avLst/>
          </a:prstGeom>
        </p:spPr>
      </p:pic>
      <p:sp>
        <p:nvSpPr>
          <p:cNvPr id="39" name="anim7_h"/>
          <p:cNvSpPr txBox="1"/>
          <p:nvPr/>
        </p:nvSpPr>
        <p:spPr>
          <a:xfrm>
            <a:off x="8503920" y="4069080"/>
            <a:ext cx="1463040" cy="548640"/>
          </a:xfrm>
          <a:prstGeom prst="rect">
            <a:avLst/>
          </a:prstGeom>
          <a:noFill/>
          <a:ln/>
        </p:spPr>
        <p:txBody>
          <a:bodyPr wrap="square" lIns="0" tIns="0" rIns="0" bIns="0" rtlCol="0" anchor="ctr"/>
          <a:lstStyle/>
          <a:p>
            <a:pPr indent="0" marL="0">
              <a:buNone/>
            </a:pPr>
            <a:r>
              <a:rPr lang="en-US" sz="1500" b="1" dirty="0">
                <a:solidFill>
                  <a:srgbClr val="1C1712"/>
                </a:solidFill>
                <a:latin typeface="Calibri" pitchFamily="34" charset="0"/>
                <a:ea typeface="Calibri" pitchFamily="34" charset="-122"/>
                <a:cs typeface="Calibri" pitchFamily="34" charset="-120"/>
              </a:rPr>
              <a:t>Event outreach</a:t>
            </a:r>
            <a:endParaRPr lang="en-US" sz="1500" dirty="0"/>
          </a:p>
        </p:txBody>
      </p:sp>
      <p:sp>
        <p:nvSpPr>
          <p:cNvPr id="40" name="anim7_b"/>
          <p:cNvSpPr txBox="1"/>
          <p:nvPr/>
        </p:nvSpPr>
        <p:spPr>
          <a:xfrm>
            <a:off x="7772400" y="4754880"/>
            <a:ext cx="2148840" cy="777240"/>
          </a:xfrm>
          <a:prstGeom prst="rect">
            <a:avLst/>
          </a:prstGeom>
          <a:noFill/>
          <a:ln/>
        </p:spPr>
        <p:txBody>
          <a:bodyPr wrap="square" lIns="0" tIns="0" rIns="0" bIns="0" rtlCol="0" anchor="t"/>
          <a:lstStyle/>
          <a:p>
            <a:pPr indent="0" marL="0">
              <a:buNone/>
            </a:pPr>
            <a:r>
              <a:rPr lang="en-US" sz="1200" dirty="0">
                <a:solidFill>
                  <a:srgbClr val="5B5148"/>
                </a:solidFill>
                <a:latin typeface="Calibri" pitchFamily="34" charset="0"/>
                <a:ea typeface="Calibri" pitchFamily="34" charset="-122"/>
                <a:cs typeface="Calibri" pitchFamily="34" charset="-120"/>
              </a:rPr>
              <a:t>Finds upcoming catered events and drafts emails to organizers.</a:t>
            </a:r>
            <a:endParaRPr lang="en-US" sz="1200" dirty="0"/>
          </a:p>
        </p:txBody>
      </p:sp>
      <p:sp>
        <p:nvSpPr>
          <p:cNvPr id="41" name="anim8_note"/>
          <p:cNvSpPr txBox="1"/>
          <p:nvPr/>
        </p:nvSpPr>
        <p:spPr>
          <a:xfrm>
            <a:off x="640080" y="5852160"/>
            <a:ext cx="10835640" cy="320040"/>
          </a:xfrm>
          <a:prstGeom prst="rect">
            <a:avLst/>
          </a:prstGeom>
          <a:noFill/>
          <a:ln/>
        </p:spPr>
        <p:txBody>
          <a:bodyPr wrap="square" lIns="0" tIns="0" rIns="0" bIns="0" rtlCol="0" anchor="ctr"/>
          <a:lstStyle/>
          <a:p>
            <a:pPr indent="0" marL="0">
              <a:buNone/>
            </a:pPr>
            <a:r>
              <a:rPr lang="en-US" sz="1300" i="1" dirty="0">
                <a:solidFill>
                  <a:srgbClr val="165840"/>
                </a:solidFill>
                <a:latin typeface="Calibri" pitchFamily="34" charset="0"/>
                <a:ea typeface="Calibri" pitchFamily="34" charset="-122"/>
                <a:cs typeface="Calibri" pitchFamily="34" charset="-120"/>
              </a:rPr>
              <a:t>Each agent shows its reasoning step by step, waits for a human to approve, and is callable as a JSON endpoint (/api/agents).</a:t>
            </a:r>
            <a:endParaRPr lang="en-US" sz="1300" dirty="0"/>
          </a:p>
        </p:txBody>
      </p:sp>
      <p:pic>
        <p:nvPicPr>
          <p:cNvPr id="42" name="footLogoL" descr="preencoded.png">    </p:cNvPr>
          <p:cNvPicPr>
            <a:picLocks noChangeAspect="1"/>
          </p:cNvPicPr>
          <p:nvPr/>
        </p:nvPicPr>
        <p:blipFill>
          <a:blip r:embed="rId10"/>
          <a:stretch>
            <a:fillRect/>
          </a:stretch>
        </p:blipFill>
        <p:spPr>
          <a:xfrm>
            <a:off x="640080" y="6355080"/>
            <a:ext cx="384048" cy="252476"/>
          </a:xfrm>
          <a:prstGeom prst="rect">
            <a:avLst/>
          </a:prstGeom>
        </p:spPr>
      </p:pic>
      <p:pic>
        <p:nvPicPr>
          <p:cNvPr id="43" name="footLogoR" descr="preencoded.png">    </p:cNvPr>
          <p:cNvPicPr>
            <a:picLocks noChangeAspect="1"/>
          </p:cNvPicPr>
          <p:nvPr/>
        </p:nvPicPr>
        <p:blipFill>
          <a:blip r:embed="rId11"/>
          <a:stretch>
            <a:fillRect/>
          </a:stretch>
        </p:blipFill>
        <p:spPr>
          <a:xfrm>
            <a:off x="640080" y="6355080"/>
            <a:ext cx="384048" cy="252476"/>
          </a:xfrm>
          <a:prstGeom prst="rect">
            <a:avLst/>
          </a:prstGeom>
        </p:spPr>
      </p:pic>
      <p:pic>
        <p:nvPicPr>
          <p:cNvPr id="44" name="footLogoS" descr="preencoded.png">    </p:cNvPr>
          <p:cNvPicPr>
            <a:picLocks noChangeAspect="1"/>
          </p:cNvPicPr>
          <p:nvPr/>
        </p:nvPicPr>
        <p:blipFill>
          <a:blip r:embed="rId12"/>
          <a:stretch>
            <a:fillRect/>
          </a:stretch>
        </p:blipFill>
        <p:spPr>
          <a:xfrm>
            <a:off x="640080" y="6355080"/>
            <a:ext cx="384048" cy="252476"/>
          </a:xfrm>
          <a:prstGeom prst="rect">
            <a:avLst/>
          </a:prstGeom>
        </p:spPr>
      </p:pic>
      <p:sp>
        <p:nvSpPr>
          <p:cNvPr id="45" name="Text 31"/>
          <p:cNvSpPr txBox="1"/>
          <p:nvPr/>
        </p:nvSpPr>
        <p:spPr>
          <a:xfrm>
            <a:off x="1097280" y="6327648"/>
            <a:ext cx="3657600" cy="292608"/>
          </a:xfrm>
          <a:prstGeom prst="rect">
            <a:avLst/>
          </a:prstGeom>
          <a:noFill/>
          <a:ln/>
        </p:spPr>
        <p:txBody>
          <a:bodyPr wrap="square" lIns="0" tIns="0" rIns="0" bIns="0" rtlCol="0" anchor="ctr"/>
          <a:lstStyle/>
          <a:p>
            <a:pPr indent="0" marL="0">
              <a:buNone/>
            </a:pPr>
            <a:r>
              <a:rPr lang="en-US" sz="1000" dirty="0">
                <a:solidFill>
                  <a:srgbClr val="5B5148"/>
                </a:solidFill>
                <a:latin typeface="Calibri" pitchFamily="34" charset="0"/>
                <a:ea typeface="Calibri" pitchFamily="34" charset="-122"/>
                <a:cs typeface="Calibri" pitchFamily="34" charset="-120"/>
              </a:rPr>
              <a:t>Not Wasted · Surplus saved</a:t>
            </a:r>
            <a:endParaRPr lang="en-US" sz="1000" dirty="0"/>
          </a:p>
        </p:txBody>
      </p:sp>
      <p:sp>
        <p:nvSpPr>
          <p:cNvPr id="46" name="Text 32"/>
          <p:cNvSpPr txBox="1"/>
          <p:nvPr/>
        </p:nvSpPr>
        <p:spPr>
          <a:xfrm>
            <a:off x="10607040" y="6327648"/>
            <a:ext cx="914400" cy="292608"/>
          </a:xfrm>
          <a:prstGeom prst="rect">
            <a:avLst/>
          </a:prstGeom>
          <a:noFill/>
          <a:ln/>
        </p:spPr>
        <p:txBody>
          <a:bodyPr wrap="square" lIns="0" tIns="0" rIns="0" bIns="0" rtlCol="0" anchor="ctr"/>
          <a:lstStyle/>
          <a:p>
            <a:pPr algn="r" indent="0" marL="0">
              <a:buNone/>
            </a:pPr>
            <a:r>
              <a:rPr lang="en-US" sz="1000" dirty="0">
                <a:solidFill>
                  <a:srgbClr val="5B5148"/>
                </a:solidFill>
                <a:latin typeface="Calibri" pitchFamily="34" charset="0"/>
                <a:ea typeface="Calibri" pitchFamily="34" charset="-122"/>
                <a:cs typeface="Calibri" pitchFamily="34" charset="-120"/>
              </a:rPr>
              <a:t>09 / 12</a:t>
            </a:r>
            <a:endParaRPr lang="en-US" sz="1000" dirty="0"/>
          </a:p>
        </p:txBody>
      </p:sp>
    </p:spTree>
  </p:cSld>
  <p:clrMapOvr>
    <a:masterClrMapping/>
  </p:clrMapOvr>
  <mc:AlternateContent>
    <mc:Choice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10" presetClass="entr" presetSubtype="0" fill="hold"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600"/>
                                        <p:tgtEl>
                                          <p:spTgt spid="6"/>
                                        </p:tgtEl>
                                      </p:cBhvr>
                                    </p:animEffect>
                                    <p:anim calcmode="lin" valueType="num">
                                      <p:cBhvr additive="base">
                                        <p:cTn id="7" dur="600" fill="hold"/>
                                        <p:tgtEl>
                                          <p:spTgt spid="6"/>
                                        </p:tgtEl>
                                        <p:attrNameLst>
                                          <p:attrName>ppt_y</p:attrName>
                                        </p:attrNameLst>
                                      </p:cBhvr>
                                      <p:tavLst>
                                        <p:tav tm="0">
                                          <p:val>
                                            <p:strVal val="#ppt_y+0.04"/>
                                          </p:val>
                                        </p:tav>
                                        <p:tav tm="100000">
                                          <p:val>
                                            <p:strVal val="#ppt_y"/>
                                          </p:val>
                                        </p:tav>
                                      </p:tavLst>
                                    </p:anim>
                                  </p:childTnLst>
                                </p:cTn>
                              </p:par>
                              <p:par>
                                <p:cTn id="12" presetID="10" presetClass="entr" presetSubtype="0" fill="hold" nodeType="withEffect">
                                  <p:stCondLst>
                                    <p:cond delay="15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600"/>
                                        <p:tgtEl>
                                          <p:spTgt spid="7"/>
                                        </p:tgtEl>
                                      </p:cBhvr>
                                    </p:animEffect>
                                    <p:anim calcmode="lin" valueType="num">
                                      <p:cBhvr additive="base">
                                        <p:cTn id="11" dur="600" fill="hold"/>
                                        <p:tgtEl>
                                          <p:spTgt spid="7"/>
                                        </p:tgtEl>
                                        <p:attrNameLst>
                                          <p:attrName>ppt_y</p:attrName>
                                        </p:attrNameLst>
                                      </p:cBhvr>
                                      <p:tavLst>
                                        <p:tav tm="0">
                                          <p:val>
                                            <p:strVal val="#ppt_y+0.04"/>
                                          </p:val>
                                        </p:tav>
                                        <p:tav tm="100000">
                                          <p:val>
                                            <p:strVal val="#ppt_y"/>
                                          </p:val>
                                        </p:tav>
                                      </p:tavLst>
                                    </p:anim>
                                  </p:childTnLst>
                                </p:cTn>
                              </p:par>
                              <p:par>
                                <p:cTn id="16" presetID="10" presetClass="entr" presetSubtype="0" fill="hold" nodeType="withEffect">
                                  <p:stCondLst>
                                    <p:cond delay="15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600"/>
                                        <p:tgtEl>
                                          <p:spTgt spid="8"/>
                                        </p:tgtEl>
                                      </p:cBhvr>
                                    </p:animEffect>
                                    <p:anim calcmode="lin" valueType="num">
                                      <p:cBhvr additive="base">
                                        <p:cTn id="15" dur="600" fill="hold"/>
                                        <p:tgtEl>
                                          <p:spTgt spid="8"/>
                                        </p:tgtEl>
                                        <p:attrNameLst>
                                          <p:attrName>ppt_y</p:attrName>
                                        </p:attrNameLst>
                                      </p:cBhvr>
                                      <p:tavLst>
                                        <p:tav tm="0">
                                          <p:val>
                                            <p:strVal val="#ppt_y+0.04"/>
                                          </p:val>
                                        </p:tav>
                                        <p:tav tm="100000">
                                          <p:val>
                                            <p:strVal val="#ppt_y"/>
                                          </p:val>
                                        </p:tav>
                                      </p:tavLst>
                                    </p:anim>
                                  </p:childTnLst>
                                </p:cTn>
                              </p:par>
                              <p:par>
                                <p:cTn id="20" presetID="10" presetClass="entr" presetSubtype="0" fill="hold" nodeType="withEffect">
                                  <p:stCondLst>
                                    <p:cond delay="15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600"/>
                                        <p:tgtEl>
                                          <p:spTgt spid="9"/>
                                        </p:tgtEl>
                                      </p:cBhvr>
                                    </p:animEffect>
                                    <p:anim calcmode="lin" valueType="num">
                                      <p:cBhvr additive="base">
                                        <p:cTn id="19" dur="600" fill="hold"/>
                                        <p:tgtEl>
                                          <p:spTgt spid="9"/>
                                        </p:tgtEl>
                                        <p:attrNameLst>
                                          <p:attrName>ppt_y</p:attrName>
                                        </p:attrNameLst>
                                      </p:cBhvr>
                                      <p:tavLst>
                                        <p:tav tm="0">
                                          <p:val>
                                            <p:strVal val="#ppt_y+0.04"/>
                                          </p:val>
                                        </p:tav>
                                        <p:tav tm="100000">
                                          <p:val>
                                            <p:strVal val="#ppt_y"/>
                                          </p:val>
                                        </p:tav>
                                      </p:tavLst>
                                    </p:anim>
                                  </p:childTnLst>
                                </p:cTn>
                              </p:par>
                              <p:par>
                                <p:cTn id="24" presetID="10" presetClass="entr" presetSubtype="0" fill="hold" nodeType="withEffect">
                                  <p:stCondLst>
                                    <p:cond delay="15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600"/>
                                        <p:tgtEl>
                                          <p:spTgt spid="10"/>
                                        </p:tgtEl>
                                      </p:cBhvr>
                                    </p:animEffect>
                                    <p:anim calcmode="lin" valueType="num">
                                      <p:cBhvr additive="base">
                                        <p:cTn id="23" dur="600" fill="hold"/>
                                        <p:tgtEl>
                                          <p:spTgt spid="10"/>
                                        </p:tgtEl>
                                        <p:attrNameLst>
                                          <p:attrName>ppt_y</p:attrName>
                                        </p:attrNameLst>
                                      </p:cBhvr>
                                      <p:tavLst>
                                        <p:tav tm="0">
                                          <p:val>
                                            <p:strVal val="#ppt_y+0.04"/>
                                          </p:val>
                                        </p:tav>
                                        <p:tav tm="100000">
                                          <p:val>
                                            <p:strVal val="#ppt_y"/>
                                          </p:val>
                                        </p:tav>
                                      </p:tavLst>
                                    </p:anim>
                                  </p:childTnLst>
                                </p:cTn>
                              </p:par>
                              <p:par>
                                <p:cTn id="28" presetID="10" presetClass="entr" presetSubtype="0" fill="hold" nodeType="withEffect">
                                  <p:stCondLst>
                                    <p:cond delay="43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600"/>
                                        <p:tgtEl>
                                          <p:spTgt spid="11"/>
                                        </p:tgtEl>
                                      </p:cBhvr>
                                    </p:animEffect>
                                    <p:anim calcmode="lin" valueType="num">
                                      <p:cBhvr additive="base">
                                        <p:cTn id="27" dur="600" fill="hold"/>
                                        <p:tgtEl>
                                          <p:spTgt spid="11"/>
                                        </p:tgtEl>
                                        <p:attrNameLst>
                                          <p:attrName>ppt_y</p:attrName>
                                        </p:attrNameLst>
                                      </p:cBhvr>
                                      <p:tavLst>
                                        <p:tav tm="0">
                                          <p:val>
                                            <p:strVal val="#ppt_y+0.04"/>
                                          </p:val>
                                        </p:tav>
                                        <p:tav tm="100000">
                                          <p:val>
                                            <p:strVal val="#ppt_y"/>
                                          </p:val>
                                        </p:tav>
                                      </p:tavLst>
                                    </p:anim>
                                  </p:childTnLst>
                                </p:cTn>
                              </p:par>
                              <p:par>
                                <p:cTn id="32" presetID="10" presetClass="entr" presetSubtype="0" fill="hold" nodeType="withEffect">
                                  <p:stCondLst>
                                    <p:cond delay="43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600"/>
                                        <p:tgtEl>
                                          <p:spTgt spid="12"/>
                                        </p:tgtEl>
                                      </p:cBhvr>
                                    </p:animEffect>
                                    <p:anim calcmode="lin" valueType="num">
                                      <p:cBhvr additive="base">
                                        <p:cTn id="31" dur="600" fill="hold"/>
                                        <p:tgtEl>
                                          <p:spTgt spid="12"/>
                                        </p:tgtEl>
                                        <p:attrNameLst>
                                          <p:attrName>ppt_y</p:attrName>
                                        </p:attrNameLst>
                                      </p:cBhvr>
                                      <p:tavLst>
                                        <p:tav tm="0">
                                          <p:val>
                                            <p:strVal val="#ppt_y+0.04"/>
                                          </p:val>
                                        </p:tav>
                                        <p:tav tm="100000">
                                          <p:val>
                                            <p:strVal val="#ppt_y"/>
                                          </p:val>
                                        </p:tav>
                                      </p:tavLst>
                                    </p:anim>
                                  </p:childTnLst>
                                </p:cTn>
                              </p:par>
                              <p:par>
                                <p:cTn id="36" presetID="10" presetClass="entr" presetSubtype="0" fill="hold" nodeType="withEffect">
                                  <p:stCondLst>
                                    <p:cond delay="43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p:tgtEl>
                                          <p:spTgt spid="13"/>
                                        </p:tgtEl>
                                      </p:cBhvr>
                                    </p:animEffect>
                                    <p:anim calcmode="lin" valueType="num">
                                      <p:cBhvr additive="base">
                                        <p:cTn id="35" dur="600" fill="hold"/>
                                        <p:tgtEl>
                                          <p:spTgt spid="13"/>
                                        </p:tgtEl>
                                        <p:attrNameLst>
                                          <p:attrName>ppt_y</p:attrName>
                                        </p:attrNameLst>
                                      </p:cBhvr>
                                      <p:tavLst>
                                        <p:tav tm="0">
                                          <p:val>
                                            <p:strVal val="#ppt_y+0.04"/>
                                          </p:val>
                                        </p:tav>
                                        <p:tav tm="100000">
                                          <p:val>
                                            <p:strVal val="#ppt_y"/>
                                          </p:val>
                                        </p:tav>
                                      </p:tavLst>
                                    </p:anim>
                                  </p:childTnLst>
                                </p:cTn>
                              </p:par>
                              <p:par>
                                <p:cTn id="40" presetID="10" presetClass="entr" presetSubtype="0" fill="hold" nodeType="withEffect">
                                  <p:stCondLst>
                                    <p:cond delay="43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600"/>
                                        <p:tgtEl>
                                          <p:spTgt spid="14"/>
                                        </p:tgtEl>
                                      </p:cBhvr>
                                    </p:animEffect>
                                    <p:anim calcmode="lin" valueType="num">
                                      <p:cBhvr additive="base">
                                        <p:cTn id="39" dur="600" fill="hold"/>
                                        <p:tgtEl>
                                          <p:spTgt spid="14"/>
                                        </p:tgtEl>
                                        <p:attrNameLst>
                                          <p:attrName>ppt_y</p:attrName>
                                        </p:attrNameLst>
                                      </p:cBhvr>
                                      <p:tavLst>
                                        <p:tav tm="0">
                                          <p:val>
                                            <p:strVal val="#ppt_y+0.04"/>
                                          </p:val>
                                        </p:tav>
                                        <p:tav tm="100000">
                                          <p:val>
                                            <p:strVal val="#ppt_y"/>
                                          </p:val>
                                        </p:tav>
                                      </p:tavLst>
                                    </p:anim>
                                  </p:childTnLst>
                                </p:cTn>
                              </p:par>
                              <p:par>
                                <p:cTn id="44" presetID="10" presetClass="entr" presetSubtype="0" fill="hold" nodeType="withEffect">
                                  <p:stCondLst>
                                    <p:cond delay="43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anim calcmode="lin" valueType="num">
                                      <p:cBhvr additive="base">
                                        <p:cTn id="43" dur="600" fill="hold"/>
                                        <p:tgtEl>
                                          <p:spTgt spid="15"/>
                                        </p:tgtEl>
                                        <p:attrNameLst>
                                          <p:attrName>ppt_y</p:attrName>
                                        </p:attrNameLst>
                                      </p:cBhvr>
                                      <p:tavLst>
                                        <p:tav tm="0">
                                          <p:val>
                                            <p:strVal val="#ppt_y+0.04"/>
                                          </p:val>
                                        </p:tav>
                                        <p:tav tm="100000">
                                          <p:val>
                                            <p:strVal val="#ppt_y"/>
                                          </p:val>
                                        </p:tav>
                                      </p:tavLst>
                                    </p:anim>
                                  </p:childTnLst>
                                </p:cTn>
                              </p:par>
                              <p:par>
                                <p:cTn id="48" presetID="10" presetClass="entr" presetSubtype="0" fill="hold" nodeType="withEffect">
                                  <p:stCondLst>
                                    <p:cond delay="71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600"/>
                                        <p:tgtEl>
                                          <p:spTgt spid="16"/>
                                        </p:tgtEl>
                                      </p:cBhvr>
                                    </p:animEffect>
                                    <p:anim calcmode="lin" valueType="num">
                                      <p:cBhvr additive="base">
                                        <p:cTn id="47" dur="600" fill="hold"/>
                                        <p:tgtEl>
                                          <p:spTgt spid="16"/>
                                        </p:tgtEl>
                                        <p:attrNameLst>
                                          <p:attrName>ppt_y</p:attrName>
                                        </p:attrNameLst>
                                      </p:cBhvr>
                                      <p:tavLst>
                                        <p:tav tm="0">
                                          <p:val>
                                            <p:strVal val="#ppt_y+0.04"/>
                                          </p:val>
                                        </p:tav>
                                        <p:tav tm="100000">
                                          <p:val>
                                            <p:strVal val="#ppt_y"/>
                                          </p:val>
                                        </p:tav>
                                      </p:tavLst>
                                    </p:anim>
                                  </p:childTnLst>
                                </p:cTn>
                              </p:par>
                              <p:par>
                                <p:cTn id="52" presetID="10" presetClass="entr" presetSubtype="0" fill="hold" nodeType="withEffect">
                                  <p:stCondLst>
                                    <p:cond delay="71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600"/>
                                        <p:tgtEl>
                                          <p:spTgt spid="17"/>
                                        </p:tgtEl>
                                      </p:cBhvr>
                                    </p:animEffect>
                                    <p:anim calcmode="lin" valueType="num">
                                      <p:cBhvr additive="base">
                                        <p:cTn id="51" dur="600" fill="hold"/>
                                        <p:tgtEl>
                                          <p:spTgt spid="17"/>
                                        </p:tgtEl>
                                        <p:attrNameLst>
                                          <p:attrName>ppt_y</p:attrName>
                                        </p:attrNameLst>
                                      </p:cBhvr>
                                      <p:tavLst>
                                        <p:tav tm="0">
                                          <p:val>
                                            <p:strVal val="#ppt_y+0.04"/>
                                          </p:val>
                                        </p:tav>
                                        <p:tav tm="100000">
                                          <p:val>
                                            <p:strVal val="#ppt_y"/>
                                          </p:val>
                                        </p:tav>
                                      </p:tavLst>
                                    </p:anim>
                                  </p:childTnLst>
                                </p:cTn>
                              </p:par>
                              <p:par>
                                <p:cTn id="56" presetID="10" presetClass="entr" presetSubtype="0" fill="hold" nodeType="withEffect">
                                  <p:stCondLst>
                                    <p:cond delay="71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600"/>
                                        <p:tgtEl>
                                          <p:spTgt spid="18"/>
                                        </p:tgtEl>
                                      </p:cBhvr>
                                    </p:animEffect>
                                    <p:anim calcmode="lin" valueType="num">
                                      <p:cBhvr additive="base">
                                        <p:cTn id="55" dur="600" fill="hold"/>
                                        <p:tgtEl>
                                          <p:spTgt spid="18"/>
                                        </p:tgtEl>
                                        <p:attrNameLst>
                                          <p:attrName>ppt_y</p:attrName>
                                        </p:attrNameLst>
                                      </p:cBhvr>
                                      <p:tavLst>
                                        <p:tav tm="0">
                                          <p:val>
                                            <p:strVal val="#ppt_y+0.04"/>
                                          </p:val>
                                        </p:tav>
                                        <p:tav tm="100000">
                                          <p:val>
                                            <p:strVal val="#ppt_y"/>
                                          </p:val>
                                        </p:tav>
                                      </p:tavLst>
                                    </p:anim>
                                  </p:childTnLst>
                                </p:cTn>
                              </p:par>
                              <p:par>
                                <p:cTn id="60" presetID="10" presetClass="entr" presetSubtype="0" fill="hold" nodeType="withEffect">
                                  <p:stCondLst>
                                    <p:cond delay="71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600"/>
                                        <p:tgtEl>
                                          <p:spTgt spid="19"/>
                                        </p:tgtEl>
                                      </p:cBhvr>
                                    </p:animEffect>
                                    <p:anim calcmode="lin" valueType="num">
                                      <p:cBhvr additive="base">
                                        <p:cTn id="59" dur="600" fill="hold"/>
                                        <p:tgtEl>
                                          <p:spTgt spid="19"/>
                                        </p:tgtEl>
                                        <p:attrNameLst>
                                          <p:attrName>ppt_y</p:attrName>
                                        </p:attrNameLst>
                                      </p:cBhvr>
                                      <p:tavLst>
                                        <p:tav tm="0">
                                          <p:val>
                                            <p:strVal val="#ppt_y+0.04"/>
                                          </p:val>
                                        </p:tav>
                                        <p:tav tm="100000">
                                          <p:val>
                                            <p:strVal val="#ppt_y"/>
                                          </p:val>
                                        </p:tav>
                                      </p:tavLst>
                                    </p:anim>
                                  </p:childTnLst>
                                </p:cTn>
                              </p:par>
                              <p:par>
                                <p:cTn id="64" presetID="10" presetClass="entr" presetSubtype="0" fill="hold" nodeType="withEffect">
                                  <p:stCondLst>
                                    <p:cond delay="71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600"/>
                                        <p:tgtEl>
                                          <p:spTgt spid="20"/>
                                        </p:tgtEl>
                                      </p:cBhvr>
                                    </p:animEffect>
                                    <p:anim calcmode="lin" valueType="num">
                                      <p:cBhvr additive="base">
                                        <p:cTn id="63" dur="600" fill="hold"/>
                                        <p:tgtEl>
                                          <p:spTgt spid="20"/>
                                        </p:tgtEl>
                                        <p:attrNameLst>
                                          <p:attrName>ppt_y</p:attrName>
                                        </p:attrNameLst>
                                      </p:cBhvr>
                                      <p:tavLst>
                                        <p:tav tm="0">
                                          <p:val>
                                            <p:strVal val="#ppt_y+0.04"/>
                                          </p:val>
                                        </p:tav>
                                        <p:tav tm="100000">
                                          <p:val>
                                            <p:strVal val="#ppt_y"/>
                                          </p:val>
                                        </p:tav>
                                      </p:tavLst>
                                    </p:anim>
                                  </p:childTnLst>
                                </p:cTn>
                              </p:par>
                              <p:par>
                                <p:cTn id="68" presetID="10" presetClass="entr" presetSubtype="0" fill="hold" nodeType="withEffect">
                                  <p:stCondLst>
                                    <p:cond delay="99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600"/>
                                        <p:tgtEl>
                                          <p:spTgt spid="21"/>
                                        </p:tgtEl>
                                      </p:cBhvr>
                                    </p:animEffect>
                                    <p:anim calcmode="lin" valueType="num">
                                      <p:cBhvr additive="base">
                                        <p:cTn id="67" dur="600" fill="hold"/>
                                        <p:tgtEl>
                                          <p:spTgt spid="21"/>
                                        </p:tgtEl>
                                        <p:attrNameLst>
                                          <p:attrName>ppt_y</p:attrName>
                                        </p:attrNameLst>
                                      </p:cBhvr>
                                      <p:tavLst>
                                        <p:tav tm="0">
                                          <p:val>
                                            <p:strVal val="#ppt_y+0.04"/>
                                          </p:val>
                                        </p:tav>
                                        <p:tav tm="100000">
                                          <p:val>
                                            <p:strVal val="#ppt_y"/>
                                          </p:val>
                                        </p:tav>
                                      </p:tavLst>
                                    </p:anim>
                                  </p:childTnLst>
                                </p:cTn>
                              </p:par>
                              <p:par>
                                <p:cTn id="72" presetID="10" presetClass="entr" presetSubtype="0" fill="hold" nodeType="withEffect">
                                  <p:stCondLst>
                                    <p:cond delay="99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600"/>
                                        <p:tgtEl>
                                          <p:spTgt spid="22"/>
                                        </p:tgtEl>
                                      </p:cBhvr>
                                    </p:animEffect>
                                    <p:anim calcmode="lin" valueType="num">
                                      <p:cBhvr additive="base">
                                        <p:cTn id="71" dur="600" fill="hold"/>
                                        <p:tgtEl>
                                          <p:spTgt spid="22"/>
                                        </p:tgtEl>
                                        <p:attrNameLst>
                                          <p:attrName>ppt_y</p:attrName>
                                        </p:attrNameLst>
                                      </p:cBhvr>
                                      <p:tavLst>
                                        <p:tav tm="0">
                                          <p:val>
                                            <p:strVal val="#ppt_y+0.04"/>
                                          </p:val>
                                        </p:tav>
                                        <p:tav tm="100000">
                                          <p:val>
                                            <p:strVal val="#ppt_y"/>
                                          </p:val>
                                        </p:tav>
                                      </p:tavLst>
                                    </p:anim>
                                  </p:childTnLst>
                                </p:cTn>
                              </p:par>
                              <p:par>
                                <p:cTn id="76" presetID="10" presetClass="entr" presetSubtype="0" fill="hold" nodeType="withEffect">
                                  <p:stCondLst>
                                    <p:cond delay="99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600"/>
                                        <p:tgtEl>
                                          <p:spTgt spid="23"/>
                                        </p:tgtEl>
                                      </p:cBhvr>
                                    </p:animEffect>
                                    <p:anim calcmode="lin" valueType="num">
                                      <p:cBhvr additive="base">
                                        <p:cTn id="75" dur="600" fill="hold"/>
                                        <p:tgtEl>
                                          <p:spTgt spid="23"/>
                                        </p:tgtEl>
                                        <p:attrNameLst>
                                          <p:attrName>ppt_y</p:attrName>
                                        </p:attrNameLst>
                                      </p:cBhvr>
                                      <p:tavLst>
                                        <p:tav tm="0">
                                          <p:val>
                                            <p:strVal val="#ppt_y+0.04"/>
                                          </p:val>
                                        </p:tav>
                                        <p:tav tm="100000">
                                          <p:val>
                                            <p:strVal val="#ppt_y"/>
                                          </p:val>
                                        </p:tav>
                                      </p:tavLst>
                                    </p:anim>
                                  </p:childTnLst>
                                </p:cTn>
                              </p:par>
                              <p:par>
                                <p:cTn id="80" presetID="10" presetClass="entr" presetSubtype="0" fill="hold" nodeType="withEffect">
                                  <p:stCondLst>
                                    <p:cond delay="990"/>
                                  </p:stCondLst>
                                  <p:childTnLst>
                                    <p:set>
                                      <p:cBhvr>
                                        <p:cTn id="77" dur="1" fill="hold">
                                          <p:stCondLst>
                                            <p:cond delay="0"/>
                                          </p:stCondLst>
                                        </p:cTn>
                                        <p:tgtEl>
                                          <p:spTgt spid="24"/>
                                        </p:tgtEl>
                                        <p:attrNameLst>
                                          <p:attrName>style.visibility</p:attrName>
                                        </p:attrNameLst>
                                      </p:cBhvr>
                                      <p:to>
                                        <p:strVal val="visible"/>
                                      </p:to>
                                    </p:set>
                                    <p:animEffect transition="in" filter="fade">
                                      <p:cBhvr>
                                        <p:cTn id="78" dur="600"/>
                                        <p:tgtEl>
                                          <p:spTgt spid="24"/>
                                        </p:tgtEl>
                                      </p:cBhvr>
                                    </p:animEffect>
                                    <p:anim calcmode="lin" valueType="num">
                                      <p:cBhvr additive="base">
                                        <p:cTn id="79" dur="600" fill="hold"/>
                                        <p:tgtEl>
                                          <p:spTgt spid="24"/>
                                        </p:tgtEl>
                                        <p:attrNameLst>
                                          <p:attrName>ppt_y</p:attrName>
                                        </p:attrNameLst>
                                      </p:cBhvr>
                                      <p:tavLst>
                                        <p:tav tm="0">
                                          <p:val>
                                            <p:strVal val="#ppt_y+0.04"/>
                                          </p:val>
                                        </p:tav>
                                        <p:tav tm="100000">
                                          <p:val>
                                            <p:strVal val="#ppt_y"/>
                                          </p:val>
                                        </p:tav>
                                      </p:tavLst>
                                    </p:anim>
                                  </p:childTnLst>
                                </p:cTn>
                              </p:par>
                              <p:par>
                                <p:cTn id="84" presetID="10" presetClass="entr" presetSubtype="0" fill="hold" nodeType="withEffect">
                                  <p:stCondLst>
                                    <p:cond delay="990"/>
                                  </p:stCondLst>
                                  <p:childTnLst>
                                    <p:set>
                                      <p:cBhvr>
                                        <p:cTn id="81" dur="1" fill="hold">
                                          <p:stCondLst>
                                            <p:cond delay="0"/>
                                          </p:stCondLst>
                                        </p:cTn>
                                        <p:tgtEl>
                                          <p:spTgt spid="25"/>
                                        </p:tgtEl>
                                        <p:attrNameLst>
                                          <p:attrName>style.visibility</p:attrName>
                                        </p:attrNameLst>
                                      </p:cBhvr>
                                      <p:to>
                                        <p:strVal val="visible"/>
                                      </p:to>
                                    </p:set>
                                    <p:animEffect transition="in" filter="fade">
                                      <p:cBhvr>
                                        <p:cTn id="82" dur="600"/>
                                        <p:tgtEl>
                                          <p:spTgt spid="25"/>
                                        </p:tgtEl>
                                      </p:cBhvr>
                                    </p:animEffect>
                                    <p:anim calcmode="lin" valueType="num">
                                      <p:cBhvr additive="base">
                                        <p:cTn id="83" dur="600" fill="hold"/>
                                        <p:tgtEl>
                                          <p:spTgt spid="25"/>
                                        </p:tgtEl>
                                        <p:attrNameLst>
                                          <p:attrName>ppt_y</p:attrName>
                                        </p:attrNameLst>
                                      </p:cBhvr>
                                      <p:tavLst>
                                        <p:tav tm="0">
                                          <p:val>
                                            <p:strVal val="#ppt_y+0.04"/>
                                          </p:val>
                                        </p:tav>
                                        <p:tav tm="100000">
                                          <p:val>
                                            <p:strVal val="#ppt_y"/>
                                          </p:val>
                                        </p:tav>
                                      </p:tavLst>
                                    </p:anim>
                                  </p:childTnLst>
                                </p:cTn>
                              </p:par>
                              <p:par>
                                <p:cTn id="88" presetID="10" presetClass="entr" presetSubtype="0" fill="hold" nodeType="withEffect">
                                  <p:stCondLst>
                                    <p:cond delay="1270"/>
                                  </p:stCondLst>
                                  <p:childTnLst>
                                    <p:set>
                                      <p:cBhvr>
                                        <p:cTn id="85" dur="1" fill="hold">
                                          <p:stCondLst>
                                            <p:cond delay="0"/>
                                          </p:stCondLst>
                                        </p:cTn>
                                        <p:tgtEl>
                                          <p:spTgt spid="26"/>
                                        </p:tgtEl>
                                        <p:attrNameLst>
                                          <p:attrName>style.visibility</p:attrName>
                                        </p:attrNameLst>
                                      </p:cBhvr>
                                      <p:to>
                                        <p:strVal val="visible"/>
                                      </p:to>
                                    </p:set>
                                    <p:animEffect transition="in" filter="fade">
                                      <p:cBhvr>
                                        <p:cTn id="86" dur="600"/>
                                        <p:tgtEl>
                                          <p:spTgt spid="26"/>
                                        </p:tgtEl>
                                      </p:cBhvr>
                                    </p:animEffect>
                                    <p:anim calcmode="lin" valueType="num">
                                      <p:cBhvr additive="base">
                                        <p:cTn id="87" dur="600" fill="hold"/>
                                        <p:tgtEl>
                                          <p:spTgt spid="26"/>
                                        </p:tgtEl>
                                        <p:attrNameLst>
                                          <p:attrName>ppt_y</p:attrName>
                                        </p:attrNameLst>
                                      </p:cBhvr>
                                      <p:tavLst>
                                        <p:tav tm="0">
                                          <p:val>
                                            <p:strVal val="#ppt_y+0.04"/>
                                          </p:val>
                                        </p:tav>
                                        <p:tav tm="100000">
                                          <p:val>
                                            <p:strVal val="#ppt_y"/>
                                          </p:val>
                                        </p:tav>
                                      </p:tavLst>
                                    </p:anim>
                                  </p:childTnLst>
                                </p:cTn>
                              </p:par>
                              <p:par>
                                <p:cTn id="92" presetID="10" presetClass="entr" presetSubtype="0" fill="hold" nodeType="withEffect">
                                  <p:stCondLst>
                                    <p:cond delay="1270"/>
                                  </p:stCondLst>
                                  <p:childTnLst>
                                    <p:set>
                                      <p:cBhvr>
                                        <p:cTn id="89" dur="1" fill="hold">
                                          <p:stCondLst>
                                            <p:cond delay="0"/>
                                          </p:stCondLst>
                                        </p:cTn>
                                        <p:tgtEl>
                                          <p:spTgt spid="27"/>
                                        </p:tgtEl>
                                        <p:attrNameLst>
                                          <p:attrName>style.visibility</p:attrName>
                                        </p:attrNameLst>
                                      </p:cBhvr>
                                      <p:to>
                                        <p:strVal val="visible"/>
                                      </p:to>
                                    </p:set>
                                    <p:animEffect transition="in" filter="fade">
                                      <p:cBhvr>
                                        <p:cTn id="90" dur="600"/>
                                        <p:tgtEl>
                                          <p:spTgt spid="27"/>
                                        </p:tgtEl>
                                      </p:cBhvr>
                                    </p:animEffect>
                                    <p:anim calcmode="lin" valueType="num">
                                      <p:cBhvr additive="base">
                                        <p:cTn id="91" dur="600" fill="hold"/>
                                        <p:tgtEl>
                                          <p:spTgt spid="27"/>
                                        </p:tgtEl>
                                        <p:attrNameLst>
                                          <p:attrName>ppt_y</p:attrName>
                                        </p:attrNameLst>
                                      </p:cBhvr>
                                      <p:tavLst>
                                        <p:tav tm="0">
                                          <p:val>
                                            <p:strVal val="#ppt_y+0.04"/>
                                          </p:val>
                                        </p:tav>
                                        <p:tav tm="100000">
                                          <p:val>
                                            <p:strVal val="#ppt_y"/>
                                          </p:val>
                                        </p:tav>
                                      </p:tavLst>
                                    </p:anim>
                                  </p:childTnLst>
                                </p:cTn>
                              </p:par>
                              <p:par>
                                <p:cTn id="96" presetID="10" presetClass="entr" presetSubtype="0" fill="hold" nodeType="withEffect">
                                  <p:stCondLst>
                                    <p:cond delay="1270"/>
                                  </p:stCondLst>
                                  <p:childTnLst>
                                    <p:set>
                                      <p:cBhvr>
                                        <p:cTn id="93" dur="1" fill="hold">
                                          <p:stCondLst>
                                            <p:cond delay="0"/>
                                          </p:stCondLst>
                                        </p:cTn>
                                        <p:tgtEl>
                                          <p:spTgt spid="28"/>
                                        </p:tgtEl>
                                        <p:attrNameLst>
                                          <p:attrName>style.visibility</p:attrName>
                                        </p:attrNameLst>
                                      </p:cBhvr>
                                      <p:to>
                                        <p:strVal val="visible"/>
                                      </p:to>
                                    </p:set>
                                    <p:animEffect transition="in" filter="fade">
                                      <p:cBhvr>
                                        <p:cTn id="94" dur="600"/>
                                        <p:tgtEl>
                                          <p:spTgt spid="28"/>
                                        </p:tgtEl>
                                      </p:cBhvr>
                                    </p:animEffect>
                                    <p:anim calcmode="lin" valueType="num">
                                      <p:cBhvr additive="base">
                                        <p:cTn id="95" dur="600" fill="hold"/>
                                        <p:tgtEl>
                                          <p:spTgt spid="28"/>
                                        </p:tgtEl>
                                        <p:attrNameLst>
                                          <p:attrName>ppt_y</p:attrName>
                                        </p:attrNameLst>
                                      </p:cBhvr>
                                      <p:tavLst>
                                        <p:tav tm="0">
                                          <p:val>
                                            <p:strVal val="#ppt_y+0.04"/>
                                          </p:val>
                                        </p:tav>
                                        <p:tav tm="100000">
                                          <p:val>
                                            <p:strVal val="#ppt_y"/>
                                          </p:val>
                                        </p:tav>
                                      </p:tavLst>
                                    </p:anim>
                                  </p:childTnLst>
                                </p:cTn>
                              </p:par>
                              <p:par>
                                <p:cTn id="100" presetID="10" presetClass="entr" presetSubtype="0" fill="hold" nodeType="withEffect">
                                  <p:stCondLst>
                                    <p:cond delay="1270"/>
                                  </p:stCondLst>
                                  <p:childTnLst>
                                    <p:set>
                                      <p:cBhvr>
                                        <p:cTn id="97" dur="1" fill="hold">
                                          <p:stCondLst>
                                            <p:cond delay="0"/>
                                          </p:stCondLst>
                                        </p:cTn>
                                        <p:tgtEl>
                                          <p:spTgt spid="29"/>
                                        </p:tgtEl>
                                        <p:attrNameLst>
                                          <p:attrName>style.visibility</p:attrName>
                                        </p:attrNameLst>
                                      </p:cBhvr>
                                      <p:to>
                                        <p:strVal val="visible"/>
                                      </p:to>
                                    </p:set>
                                    <p:animEffect transition="in" filter="fade">
                                      <p:cBhvr>
                                        <p:cTn id="98" dur="600"/>
                                        <p:tgtEl>
                                          <p:spTgt spid="29"/>
                                        </p:tgtEl>
                                      </p:cBhvr>
                                    </p:animEffect>
                                    <p:anim calcmode="lin" valueType="num">
                                      <p:cBhvr additive="base">
                                        <p:cTn id="99" dur="600" fill="hold"/>
                                        <p:tgtEl>
                                          <p:spTgt spid="29"/>
                                        </p:tgtEl>
                                        <p:attrNameLst>
                                          <p:attrName>ppt_y</p:attrName>
                                        </p:attrNameLst>
                                      </p:cBhvr>
                                      <p:tavLst>
                                        <p:tav tm="0">
                                          <p:val>
                                            <p:strVal val="#ppt_y+0.04"/>
                                          </p:val>
                                        </p:tav>
                                        <p:tav tm="100000">
                                          <p:val>
                                            <p:strVal val="#ppt_y"/>
                                          </p:val>
                                        </p:tav>
                                      </p:tavLst>
                                    </p:anim>
                                  </p:childTnLst>
                                </p:cTn>
                              </p:par>
                              <p:par>
                                <p:cTn id="104" presetID="10" presetClass="entr" presetSubtype="0" fill="hold" nodeType="withEffect">
                                  <p:stCondLst>
                                    <p:cond delay="1270"/>
                                  </p:stCondLst>
                                  <p:childTnLst>
                                    <p:set>
                                      <p:cBhvr>
                                        <p:cTn id="101" dur="1" fill="hold">
                                          <p:stCondLst>
                                            <p:cond delay="0"/>
                                          </p:stCondLst>
                                        </p:cTn>
                                        <p:tgtEl>
                                          <p:spTgt spid="30"/>
                                        </p:tgtEl>
                                        <p:attrNameLst>
                                          <p:attrName>style.visibility</p:attrName>
                                        </p:attrNameLst>
                                      </p:cBhvr>
                                      <p:to>
                                        <p:strVal val="visible"/>
                                      </p:to>
                                    </p:set>
                                    <p:animEffect transition="in" filter="fade">
                                      <p:cBhvr>
                                        <p:cTn id="102" dur="600"/>
                                        <p:tgtEl>
                                          <p:spTgt spid="30"/>
                                        </p:tgtEl>
                                      </p:cBhvr>
                                    </p:animEffect>
                                    <p:anim calcmode="lin" valueType="num">
                                      <p:cBhvr additive="base">
                                        <p:cTn id="103" dur="600" fill="hold"/>
                                        <p:tgtEl>
                                          <p:spTgt spid="30"/>
                                        </p:tgtEl>
                                        <p:attrNameLst>
                                          <p:attrName>ppt_y</p:attrName>
                                        </p:attrNameLst>
                                      </p:cBhvr>
                                      <p:tavLst>
                                        <p:tav tm="0">
                                          <p:val>
                                            <p:strVal val="#ppt_y+0.04"/>
                                          </p:val>
                                        </p:tav>
                                        <p:tav tm="100000">
                                          <p:val>
                                            <p:strVal val="#ppt_y"/>
                                          </p:val>
                                        </p:tav>
                                      </p:tavLst>
                                    </p:anim>
                                  </p:childTnLst>
                                </p:cTn>
                              </p:par>
                              <p:par>
                                <p:cTn id="108" presetID="10" presetClass="entr" presetSubtype="0" fill="hold" nodeType="withEffect">
                                  <p:stCondLst>
                                    <p:cond delay="1550"/>
                                  </p:stCondLst>
                                  <p:childTnLst>
                                    <p:set>
                                      <p:cBhvr>
                                        <p:cTn id="105" dur="1" fill="hold">
                                          <p:stCondLst>
                                            <p:cond delay="0"/>
                                          </p:stCondLst>
                                        </p:cTn>
                                        <p:tgtEl>
                                          <p:spTgt spid="31"/>
                                        </p:tgtEl>
                                        <p:attrNameLst>
                                          <p:attrName>style.visibility</p:attrName>
                                        </p:attrNameLst>
                                      </p:cBhvr>
                                      <p:to>
                                        <p:strVal val="visible"/>
                                      </p:to>
                                    </p:set>
                                    <p:animEffect transition="in" filter="fade">
                                      <p:cBhvr>
                                        <p:cTn id="106" dur="600"/>
                                        <p:tgtEl>
                                          <p:spTgt spid="31"/>
                                        </p:tgtEl>
                                      </p:cBhvr>
                                    </p:animEffect>
                                    <p:anim calcmode="lin" valueType="num">
                                      <p:cBhvr additive="base">
                                        <p:cTn id="107" dur="600" fill="hold"/>
                                        <p:tgtEl>
                                          <p:spTgt spid="31"/>
                                        </p:tgtEl>
                                        <p:attrNameLst>
                                          <p:attrName>ppt_y</p:attrName>
                                        </p:attrNameLst>
                                      </p:cBhvr>
                                      <p:tavLst>
                                        <p:tav tm="0">
                                          <p:val>
                                            <p:strVal val="#ppt_y+0.04"/>
                                          </p:val>
                                        </p:tav>
                                        <p:tav tm="100000">
                                          <p:val>
                                            <p:strVal val="#ppt_y"/>
                                          </p:val>
                                        </p:tav>
                                      </p:tavLst>
                                    </p:anim>
                                  </p:childTnLst>
                                </p:cTn>
                              </p:par>
                              <p:par>
                                <p:cTn id="112" presetID="10" presetClass="entr" presetSubtype="0" fill="hold" nodeType="withEffect">
                                  <p:stCondLst>
                                    <p:cond delay="1550"/>
                                  </p:stCondLst>
                                  <p:childTnLst>
                                    <p:set>
                                      <p:cBhvr>
                                        <p:cTn id="109" dur="1" fill="hold">
                                          <p:stCondLst>
                                            <p:cond delay="0"/>
                                          </p:stCondLst>
                                        </p:cTn>
                                        <p:tgtEl>
                                          <p:spTgt spid="32"/>
                                        </p:tgtEl>
                                        <p:attrNameLst>
                                          <p:attrName>style.visibility</p:attrName>
                                        </p:attrNameLst>
                                      </p:cBhvr>
                                      <p:to>
                                        <p:strVal val="visible"/>
                                      </p:to>
                                    </p:set>
                                    <p:animEffect transition="in" filter="fade">
                                      <p:cBhvr>
                                        <p:cTn id="110" dur="600"/>
                                        <p:tgtEl>
                                          <p:spTgt spid="32"/>
                                        </p:tgtEl>
                                      </p:cBhvr>
                                    </p:animEffect>
                                    <p:anim calcmode="lin" valueType="num">
                                      <p:cBhvr additive="base">
                                        <p:cTn id="111" dur="600" fill="hold"/>
                                        <p:tgtEl>
                                          <p:spTgt spid="32"/>
                                        </p:tgtEl>
                                        <p:attrNameLst>
                                          <p:attrName>ppt_y</p:attrName>
                                        </p:attrNameLst>
                                      </p:cBhvr>
                                      <p:tavLst>
                                        <p:tav tm="0">
                                          <p:val>
                                            <p:strVal val="#ppt_y+0.04"/>
                                          </p:val>
                                        </p:tav>
                                        <p:tav tm="100000">
                                          <p:val>
                                            <p:strVal val="#ppt_y"/>
                                          </p:val>
                                        </p:tav>
                                      </p:tavLst>
                                    </p:anim>
                                  </p:childTnLst>
                                </p:cTn>
                              </p:par>
                              <p:par>
                                <p:cTn id="116" presetID="10" presetClass="entr" presetSubtype="0" fill="hold" nodeType="withEffect">
                                  <p:stCondLst>
                                    <p:cond delay="1550"/>
                                  </p:stCondLst>
                                  <p:childTnLst>
                                    <p:set>
                                      <p:cBhvr>
                                        <p:cTn id="113" dur="1" fill="hold">
                                          <p:stCondLst>
                                            <p:cond delay="0"/>
                                          </p:stCondLst>
                                        </p:cTn>
                                        <p:tgtEl>
                                          <p:spTgt spid="33"/>
                                        </p:tgtEl>
                                        <p:attrNameLst>
                                          <p:attrName>style.visibility</p:attrName>
                                        </p:attrNameLst>
                                      </p:cBhvr>
                                      <p:to>
                                        <p:strVal val="visible"/>
                                      </p:to>
                                    </p:set>
                                    <p:animEffect transition="in" filter="fade">
                                      <p:cBhvr>
                                        <p:cTn id="114" dur="600"/>
                                        <p:tgtEl>
                                          <p:spTgt spid="33"/>
                                        </p:tgtEl>
                                      </p:cBhvr>
                                    </p:animEffect>
                                    <p:anim calcmode="lin" valueType="num">
                                      <p:cBhvr additive="base">
                                        <p:cTn id="115" dur="600" fill="hold"/>
                                        <p:tgtEl>
                                          <p:spTgt spid="33"/>
                                        </p:tgtEl>
                                        <p:attrNameLst>
                                          <p:attrName>ppt_y</p:attrName>
                                        </p:attrNameLst>
                                      </p:cBhvr>
                                      <p:tavLst>
                                        <p:tav tm="0">
                                          <p:val>
                                            <p:strVal val="#ppt_y+0.04"/>
                                          </p:val>
                                        </p:tav>
                                        <p:tav tm="100000">
                                          <p:val>
                                            <p:strVal val="#ppt_y"/>
                                          </p:val>
                                        </p:tav>
                                      </p:tavLst>
                                    </p:anim>
                                  </p:childTnLst>
                                </p:cTn>
                              </p:par>
                              <p:par>
                                <p:cTn id="120" presetID="10" presetClass="entr" presetSubtype="0" fill="hold" nodeType="withEffect">
                                  <p:stCondLst>
                                    <p:cond delay="1550"/>
                                  </p:stCondLst>
                                  <p:childTnLst>
                                    <p:set>
                                      <p:cBhvr>
                                        <p:cTn id="117" dur="1" fill="hold">
                                          <p:stCondLst>
                                            <p:cond delay="0"/>
                                          </p:stCondLst>
                                        </p:cTn>
                                        <p:tgtEl>
                                          <p:spTgt spid="34"/>
                                        </p:tgtEl>
                                        <p:attrNameLst>
                                          <p:attrName>style.visibility</p:attrName>
                                        </p:attrNameLst>
                                      </p:cBhvr>
                                      <p:to>
                                        <p:strVal val="visible"/>
                                      </p:to>
                                    </p:set>
                                    <p:animEffect transition="in" filter="fade">
                                      <p:cBhvr>
                                        <p:cTn id="118" dur="600"/>
                                        <p:tgtEl>
                                          <p:spTgt spid="34"/>
                                        </p:tgtEl>
                                      </p:cBhvr>
                                    </p:animEffect>
                                    <p:anim calcmode="lin" valueType="num">
                                      <p:cBhvr additive="base">
                                        <p:cTn id="119" dur="600" fill="hold"/>
                                        <p:tgtEl>
                                          <p:spTgt spid="34"/>
                                        </p:tgtEl>
                                        <p:attrNameLst>
                                          <p:attrName>ppt_y</p:attrName>
                                        </p:attrNameLst>
                                      </p:cBhvr>
                                      <p:tavLst>
                                        <p:tav tm="0">
                                          <p:val>
                                            <p:strVal val="#ppt_y+0.04"/>
                                          </p:val>
                                        </p:tav>
                                        <p:tav tm="100000">
                                          <p:val>
                                            <p:strVal val="#ppt_y"/>
                                          </p:val>
                                        </p:tav>
                                      </p:tavLst>
                                    </p:anim>
                                  </p:childTnLst>
                                </p:cTn>
                              </p:par>
                              <p:par>
                                <p:cTn id="124" presetID="10" presetClass="entr" presetSubtype="0" fill="hold" nodeType="withEffect">
                                  <p:stCondLst>
                                    <p:cond delay="1550"/>
                                  </p:stCondLst>
                                  <p:childTnLst>
                                    <p:set>
                                      <p:cBhvr>
                                        <p:cTn id="121" dur="1" fill="hold">
                                          <p:stCondLst>
                                            <p:cond delay="0"/>
                                          </p:stCondLst>
                                        </p:cTn>
                                        <p:tgtEl>
                                          <p:spTgt spid="35"/>
                                        </p:tgtEl>
                                        <p:attrNameLst>
                                          <p:attrName>style.visibility</p:attrName>
                                        </p:attrNameLst>
                                      </p:cBhvr>
                                      <p:to>
                                        <p:strVal val="visible"/>
                                      </p:to>
                                    </p:set>
                                    <p:animEffect transition="in" filter="fade">
                                      <p:cBhvr>
                                        <p:cTn id="122" dur="600"/>
                                        <p:tgtEl>
                                          <p:spTgt spid="35"/>
                                        </p:tgtEl>
                                      </p:cBhvr>
                                    </p:animEffect>
                                    <p:anim calcmode="lin" valueType="num">
                                      <p:cBhvr additive="base">
                                        <p:cTn id="123" dur="600" fill="hold"/>
                                        <p:tgtEl>
                                          <p:spTgt spid="35"/>
                                        </p:tgtEl>
                                        <p:attrNameLst>
                                          <p:attrName>ppt_y</p:attrName>
                                        </p:attrNameLst>
                                      </p:cBhvr>
                                      <p:tavLst>
                                        <p:tav tm="0">
                                          <p:val>
                                            <p:strVal val="#ppt_y+0.04"/>
                                          </p:val>
                                        </p:tav>
                                        <p:tav tm="100000">
                                          <p:val>
                                            <p:strVal val="#ppt_y"/>
                                          </p:val>
                                        </p:tav>
                                      </p:tavLst>
                                    </p:anim>
                                  </p:childTnLst>
                                </p:cTn>
                              </p:par>
                              <p:par>
                                <p:cTn id="128" presetID="10" presetClass="entr" presetSubtype="0" fill="hold" nodeType="withEffect">
                                  <p:stCondLst>
                                    <p:cond delay="1830"/>
                                  </p:stCondLst>
                                  <p:childTnLst>
                                    <p:set>
                                      <p:cBhvr>
                                        <p:cTn id="125" dur="1" fill="hold">
                                          <p:stCondLst>
                                            <p:cond delay="0"/>
                                          </p:stCondLst>
                                        </p:cTn>
                                        <p:tgtEl>
                                          <p:spTgt spid="36"/>
                                        </p:tgtEl>
                                        <p:attrNameLst>
                                          <p:attrName>style.visibility</p:attrName>
                                        </p:attrNameLst>
                                      </p:cBhvr>
                                      <p:to>
                                        <p:strVal val="visible"/>
                                      </p:to>
                                    </p:set>
                                    <p:animEffect transition="in" filter="fade">
                                      <p:cBhvr>
                                        <p:cTn id="126" dur="600"/>
                                        <p:tgtEl>
                                          <p:spTgt spid="36"/>
                                        </p:tgtEl>
                                      </p:cBhvr>
                                    </p:animEffect>
                                    <p:anim calcmode="lin" valueType="num">
                                      <p:cBhvr additive="base">
                                        <p:cTn id="127" dur="600" fill="hold"/>
                                        <p:tgtEl>
                                          <p:spTgt spid="36"/>
                                        </p:tgtEl>
                                        <p:attrNameLst>
                                          <p:attrName>ppt_y</p:attrName>
                                        </p:attrNameLst>
                                      </p:cBhvr>
                                      <p:tavLst>
                                        <p:tav tm="0">
                                          <p:val>
                                            <p:strVal val="#ppt_y+0.04"/>
                                          </p:val>
                                        </p:tav>
                                        <p:tav tm="100000">
                                          <p:val>
                                            <p:strVal val="#ppt_y"/>
                                          </p:val>
                                        </p:tav>
                                      </p:tavLst>
                                    </p:anim>
                                  </p:childTnLst>
                                </p:cTn>
                              </p:par>
                              <p:par>
                                <p:cTn id="132" presetID="10" presetClass="entr" presetSubtype="0" fill="hold" nodeType="withEffect">
                                  <p:stCondLst>
                                    <p:cond delay="1830"/>
                                  </p:stCondLst>
                                  <p:childTnLst>
                                    <p:set>
                                      <p:cBhvr>
                                        <p:cTn id="129" dur="1" fill="hold">
                                          <p:stCondLst>
                                            <p:cond delay="0"/>
                                          </p:stCondLst>
                                        </p:cTn>
                                        <p:tgtEl>
                                          <p:spTgt spid="37"/>
                                        </p:tgtEl>
                                        <p:attrNameLst>
                                          <p:attrName>style.visibility</p:attrName>
                                        </p:attrNameLst>
                                      </p:cBhvr>
                                      <p:to>
                                        <p:strVal val="visible"/>
                                      </p:to>
                                    </p:set>
                                    <p:animEffect transition="in" filter="fade">
                                      <p:cBhvr>
                                        <p:cTn id="130" dur="600"/>
                                        <p:tgtEl>
                                          <p:spTgt spid="37"/>
                                        </p:tgtEl>
                                      </p:cBhvr>
                                    </p:animEffect>
                                    <p:anim calcmode="lin" valueType="num">
                                      <p:cBhvr additive="base">
                                        <p:cTn id="131" dur="600" fill="hold"/>
                                        <p:tgtEl>
                                          <p:spTgt spid="37"/>
                                        </p:tgtEl>
                                        <p:attrNameLst>
                                          <p:attrName>ppt_y</p:attrName>
                                        </p:attrNameLst>
                                      </p:cBhvr>
                                      <p:tavLst>
                                        <p:tav tm="0">
                                          <p:val>
                                            <p:strVal val="#ppt_y+0.04"/>
                                          </p:val>
                                        </p:tav>
                                        <p:tav tm="100000">
                                          <p:val>
                                            <p:strVal val="#ppt_y"/>
                                          </p:val>
                                        </p:tav>
                                      </p:tavLst>
                                    </p:anim>
                                  </p:childTnLst>
                                </p:cTn>
                              </p:par>
                              <p:par>
                                <p:cTn id="136" presetID="10" presetClass="entr" presetSubtype="0" fill="hold" nodeType="withEffect">
                                  <p:stCondLst>
                                    <p:cond delay="1830"/>
                                  </p:stCondLst>
                                  <p:childTnLst>
                                    <p:set>
                                      <p:cBhvr>
                                        <p:cTn id="133" dur="1" fill="hold">
                                          <p:stCondLst>
                                            <p:cond delay="0"/>
                                          </p:stCondLst>
                                        </p:cTn>
                                        <p:tgtEl>
                                          <p:spTgt spid="38"/>
                                        </p:tgtEl>
                                        <p:attrNameLst>
                                          <p:attrName>style.visibility</p:attrName>
                                        </p:attrNameLst>
                                      </p:cBhvr>
                                      <p:to>
                                        <p:strVal val="visible"/>
                                      </p:to>
                                    </p:set>
                                    <p:animEffect transition="in" filter="fade">
                                      <p:cBhvr>
                                        <p:cTn id="134" dur="600"/>
                                        <p:tgtEl>
                                          <p:spTgt spid="38"/>
                                        </p:tgtEl>
                                      </p:cBhvr>
                                    </p:animEffect>
                                    <p:anim calcmode="lin" valueType="num">
                                      <p:cBhvr additive="base">
                                        <p:cTn id="135" dur="600" fill="hold"/>
                                        <p:tgtEl>
                                          <p:spTgt spid="38"/>
                                        </p:tgtEl>
                                        <p:attrNameLst>
                                          <p:attrName>ppt_y</p:attrName>
                                        </p:attrNameLst>
                                      </p:cBhvr>
                                      <p:tavLst>
                                        <p:tav tm="0">
                                          <p:val>
                                            <p:strVal val="#ppt_y+0.04"/>
                                          </p:val>
                                        </p:tav>
                                        <p:tav tm="100000">
                                          <p:val>
                                            <p:strVal val="#ppt_y"/>
                                          </p:val>
                                        </p:tav>
                                      </p:tavLst>
                                    </p:anim>
                                  </p:childTnLst>
                                </p:cTn>
                              </p:par>
                              <p:par>
                                <p:cTn id="140" presetID="10" presetClass="entr" presetSubtype="0" fill="hold" nodeType="withEffect">
                                  <p:stCondLst>
                                    <p:cond delay="1830"/>
                                  </p:stCondLst>
                                  <p:childTnLst>
                                    <p:set>
                                      <p:cBhvr>
                                        <p:cTn id="137" dur="1" fill="hold">
                                          <p:stCondLst>
                                            <p:cond delay="0"/>
                                          </p:stCondLst>
                                        </p:cTn>
                                        <p:tgtEl>
                                          <p:spTgt spid="39"/>
                                        </p:tgtEl>
                                        <p:attrNameLst>
                                          <p:attrName>style.visibility</p:attrName>
                                        </p:attrNameLst>
                                      </p:cBhvr>
                                      <p:to>
                                        <p:strVal val="visible"/>
                                      </p:to>
                                    </p:set>
                                    <p:animEffect transition="in" filter="fade">
                                      <p:cBhvr>
                                        <p:cTn id="138" dur="600"/>
                                        <p:tgtEl>
                                          <p:spTgt spid="39"/>
                                        </p:tgtEl>
                                      </p:cBhvr>
                                    </p:animEffect>
                                    <p:anim calcmode="lin" valueType="num">
                                      <p:cBhvr additive="base">
                                        <p:cTn id="139" dur="600" fill="hold"/>
                                        <p:tgtEl>
                                          <p:spTgt spid="39"/>
                                        </p:tgtEl>
                                        <p:attrNameLst>
                                          <p:attrName>ppt_y</p:attrName>
                                        </p:attrNameLst>
                                      </p:cBhvr>
                                      <p:tavLst>
                                        <p:tav tm="0">
                                          <p:val>
                                            <p:strVal val="#ppt_y+0.04"/>
                                          </p:val>
                                        </p:tav>
                                        <p:tav tm="100000">
                                          <p:val>
                                            <p:strVal val="#ppt_y"/>
                                          </p:val>
                                        </p:tav>
                                      </p:tavLst>
                                    </p:anim>
                                  </p:childTnLst>
                                </p:cTn>
                              </p:par>
                              <p:par>
                                <p:cTn id="144" presetID="10" presetClass="entr" presetSubtype="0" fill="hold" nodeType="withEffect">
                                  <p:stCondLst>
                                    <p:cond delay="1830"/>
                                  </p:stCondLst>
                                  <p:childTnLst>
                                    <p:set>
                                      <p:cBhvr>
                                        <p:cTn id="141" dur="1" fill="hold">
                                          <p:stCondLst>
                                            <p:cond delay="0"/>
                                          </p:stCondLst>
                                        </p:cTn>
                                        <p:tgtEl>
                                          <p:spTgt spid="40"/>
                                        </p:tgtEl>
                                        <p:attrNameLst>
                                          <p:attrName>style.visibility</p:attrName>
                                        </p:attrNameLst>
                                      </p:cBhvr>
                                      <p:to>
                                        <p:strVal val="visible"/>
                                      </p:to>
                                    </p:set>
                                    <p:animEffect transition="in" filter="fade">
                                      <p:cBhvr>
                                        <p:cTn id="142" dur="600"/>
                                        <p:tgtEl>
                                          <p:spTgt spid="40"/>
                                        </p:tgtEl>
                                      </p:cBhvr>
                                    </p:animEffect>
                                    <p:anim calcmode="lin" valueType="num">
                                      <p:cBhvr additive="base">
                                        <p:cTn id="143" dur="600" fill="hold"/>
                                        <p:tgtEl>
                                          <p:spTgt spid="40"/>
                                        </p:tgtEl>
                                        <p:attrNameLst>
                                          <p:attrName>ppt_y</p:attrName>
                                        </p:attrNameLst>
                                      </p:cBhvr>
                                      <p:tavLst>
                                        <p:tav tm="0">
                                          <p:val>
                                            <p:strVal val="#ppt_y+0.04"/>
                                          </p:val>
                                        </p:tav>
                                        <p:tav tm="100000">
                                          <p:val>
                                            <p:strVal val="#ppt_y"/>
                                          </p:val>
                                        </p:tav>
                                      </p:tavLst>
                                    </p:anim>
                                  </p:childTnLst>
                                </p:cTn>
                              </p:par>
                              <p:par>
                                <p:cTn id="148" presetID="10" presetClass="entr" presetSubtype="0" fill="hold" nodeType="withEffect">
                                  <p:stCondLst>
                                    <p:cond delay="2110"/>
                                  </p:stCondLst>
                                  <p:childTnLst>
                                    <p:set>
                                      <p:cBhvr>
                                        <p:cTn id="145" dur="1" fill="hold">
                                          <p:stCondLst>
                                            <p:cond delay="0"/>
                                          </p:stCondLst>
                                        </p:cTn>
                                        <p:tgtEl>
                                          <p:spTgt spid="41"/>
                                        </p:tgtEl>
                                        <p:attrNameLst>
                                          <p:attrName>style.visibility</p:attrName>
                                        </p:attrNameLst>
                                      </p:cBhvr>
                                      <p:to>
                                        <p:strVal val="visible"/>
                                      </p:to>
                                    </p:set>
                                    <p:animEffect transition="in" filter="fade">
                                      <p:cBhvr>
                                        <p:cTn id="146" dur="600"/>
                                        <p:tgtEl>
                                          <p:spTgt spid="41"/>
                                        </p:tgtEl>
                                      </p:cBhvr>
                                    </p:animEffect>
                                    <p:anim calcmode="lin" valueType="num">
                                      <p:cBhvr additive="base">
                                        <p:cTn id="147" dur="600" fill="hold"/>
                                        <p:tgtEl>
                                          <p:spTgt spid="41"/>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mc:Ignorable="p14 p159">
  <p:cSld name="Slide 10">
    <p:bg>
      <p:bgPr>
        <a:solidFill>
          <a:srgbClr val="FCFBF7"/>
        </a:solidFill>
      </p:bgPr>
    </p:bg>
    <p:spTree>
      <p:nvGrpSpPr>
        <p:cNvPr id="1" name=""/>
        <p:cNvGrpSpPr/>
        <p:nvPr/>
      </p:nvGrpSpPr>
      <p:grpSpPr>
        <a:xfrm>
          <a:off x="0" y="0"/>
          <a:ext cx="0" cy="0"/>
          <a:chOff x="0" y="0"/>
          <a:chExt cx="0" cy="0"/>
        </a:xfrm>
      </p:grpSpPr>
      <p:pic>
        <p:nvPicPr>
          <p:cNvPr id="2" name="!!blobOrange" descr="preencoded.png">    </p:cNvPr>
          <p:cNvPicPr>
            <a:picLocks noChangeAspect="1"/>
          </p:cNvPicPr>
          <p:nvPr/>
        </p:nvPicPr>
        <p:blipFill>
          <a:blip r:embed="rId1"/>
          <a:stretch>
            <a:fillRect/>
          </a:stretch>
        </p:blipFill>
        <p:spPr>
          <a:xfrm>
            <a:off x="8595360" y="-2377440"/>
            <a:ext cx="5486400" cy="5486400"/>
          </a:xfrm>
          <a:prstGeom prst="rect">
            <a:avLst/>
          </a:prstGeom>
        </p:spPr>
      </p:pic>
      <p:pic>
        <p:nvPicPr>
          <p:cNvPr id="3" name="!!blobGreen" descr="preencoded.png">    </p:cNvPr>
          <p:cNvPicPr>
            <a:picLocks noChangeAspect="1"/>
          </p:cNvPicPr>
          <p:nvPr/>
        </p:nvPicPr>
        <p:blipFill>
          <a:blip r:embed="rId2"/>
          <a:stretch>
            <a:fillRect/>
          </a:stretch>
        </p:blipFill>
        <p:spPr>
          <a:xfrm>
            <a:off x="-2194560" y="3474720"/>
            <a:ext cx="5943600" cy="5943600"/>
          </a:xfrm>
          <a:prstGeom prst="rect">
            <a:avLst/>
          </a:prstGeom>
        </p:spPr>
      </p:pic>
      <p:sp>
        <p:nvSpPr>
          <p:cNvPr id="4" name="!!kicker"/>
          <p:cNvSpPr txBox="1"/>
          <p:nvPr/>
        </p:nvSpPr>
        <p:spPr>
          <a:xfrm>
            <a:off x="640080" y="228600"/>
            <a:ext cx="7315200" cy="274320"/>
          </a:xfrm>
          <a:prstGeom prst="rect">
            <a:avLst/>
          </a:prstGeom>
          <a:noFill/>
          <a:ln/>
        </p:spPr>
        <p:txBody>
          <a:bodyPr wrap="square" lIns="0" tIns="0" rIns="0" bIns="0" rtlCol="0" anchor="ctr"/>
          <a:lstStyle/>
          <a:p>
            <a:pPr indent="0" marL="0">
              <a:buNone/>
            </a:pPr>
            <a:r>
              <a:rPr lang="en-US" sz="1100" b="1" spc="300" kern="0" dirty="0">
                <a:solidFill>
                  <a:srgbClr val="BF5320"/>
                </a:solidFill>
                <a:latin typeface="Calibri" pitchFamily="34" charset="0"/>
                <a:ea typeface="Calibri" pitchFamily="34" charset="-122"/>
                <a:cs typeface="Calibri" pitchFamily="34" charset="-120"/>
              </a:rPr>
              <a:t>RESPONSIBLE INNOVATION</a:t>
            </a:r>
            <a:endParaRPr lang="en-US" sz="1100" dirty="0"/>
          </a:p>
        </p:txBody>
      </p:sp>
      <p:sp>
        <p:nvSpPr>
          <p:cNvPr id="5" name="!!title"/>
          <p:cNvSpPr txBox="1"/>
          <p:nvPr/>
        </p:nvSpPr>
        <p:spPr>
          <a:xfrm>
            <a:off x="640080" y="502920"/>
            <a:ext cx="10881360" cy="914400"/>
          </a:xfrm>
          <a:prstGeom prst="rect">
            <a:avLst/>
          </a:prstGeom>
          <a:noFill/>
          <a:ln/>
        </p:spPr>
        <p:txBody>
          <a:bodyPr wrap="square" lIns="0" tIns="0" rIns="0" bIns="0" rtlCol="0" anchor="ctr"/>
          <a:lstStyle/>
          <a:p>
            <a:pPr indent="0" marL="0">
              <a:buNone/>
            </a:pPr>
            <a:r>
              <a:rPr lang="en-US" sz="3600" b="1" dirty="0">
                <a:solidFill>
                  <a:srgbClr val="1C1712"/>
                </a:solidFill>
                <a:latin typeface="Cambria" pitchFamily="34" charset="0"/>
                <a:ea typeface="Cambria" pitchFamily="34" charset="-122"/>
                <a:cs typeface="Cambria" pitchFamily="34" charset="-120"/>
              </a:rPr>
              <a:t>Built for trust,</a:t>
            </a:r>
            <a:pPr indent="0" marL="0">
              <a:buNone/>
            </a:pPr>
            <a:r>
              <a:rPr lang="en-US" sz="3600" b="1" dirty="0">
                <a:solidFill>
                  <a:srgbClr val="F0703D"/>
                </a:solidFill>
                <a:latin typeface="Cambria" pitchFamily="34" charset="0"/>
                <a:ea typeface="Cambria" pitchFamily="34" charset="-122"/>
                <a:cs typeface="Cambria" pitchFamily="34" charset="-120"/>
              </a:rPr>
              <a:t> not just speed</a:t>
            </a:r>
            <a:endParaRPr lang="en-US" sz="3600" dirty="0"/>
          </a:p>
        </p:txBody>
      </p:sp>
      <p:sp>
        <p:nvSpPr>
          <p:cNvPr id="6" name="anim1_c"/>
          <p:cNvSpPr/>
          <p:nvPr/>
        </p:nvSpPr>
        <p:spPr>
          <a:xfrm>
            <a:off x="640080" y="1783080"/>
            <a:ext cx="5349240" cy="1783080"/>
          </a:xfrm>
          <a:prstGeom prst="roundRect">
            <a:avLst>
              <a:gd name="adj" fmla="val 9231"/>
            </a:avLst>
          </a:prstGeom>
          <a:solidFill>
            <a:srgbClr val="FFFFF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7" name="anim1_iBg"/>
          <p:cNvSpPr/>
          <p:nvPr/>
        </p:nvSpPr>
        <p:spPr>
          <a:xfrm>
            <a:off x="914400" y="2103120"/>
            <a:ext cx="822960" cy="822960"/>
          </a:xfrm>
          <a:prstGeom prst="ellipse">
            <a:avLst/>
          </a:prstGeom>
          <a:solidFill>
            <a:srgbClr val="E3EEDF"/>
          </a:solidFill>
          <a:ln w="12700">
            <a:solidFill>
              <a:srgbClr val="E3EEDF"/>
            </a:solidFill>
            <a:prstDash val="solid"/>
          </a:ln>
        </p:spPr>
      </p:sp>
      <p:pic>
        <p:nvPicPr>
          <p:cNvPr id="8" name="anim1_i" descr="preencoded.png">    </p:cNvPr>
          <p:cNvPicPr>
            <a:picLocks noChangeAspect="1"/>
          </p:cNvPicPr>
          <p:nvPr/>
        </p:nvPicPr>
        <p:blipFill>
          <a:blip r:embed="rId3"/>
          <a:stretch>
            <a:fillRect/>
          </a:stretch>
        </p:blipFill>
        <p:spPr>
          <a:xfrm>
            <a:off x="1111910" y="2300630"/>
            <a:ext cx="427939" cy="427939"/>
          </a:xfrm>
          <a:prstGeom prst="rect">
            <a:avLst/>
          </a:prstGeom>
        </p:spPr>
      </p:pic>
      <p:sp>
        <p:nvSpPr>
          <p:cNvPr id="9" name="anim1_t"/>
          <p:cNvSpPr txBox="1"/>
          <p:nvPr/>
        </p:nvSpPr>
        <p:spPr>
          <a:xfrm>
            <a:off x="1965960" y="2011680"/>
            <a:ext cx="3794760" cy="1325880"/>
          </a:xfrm>
          <a:prstGeom prst="rect">
            <a:avLst/>
          </a:prstGeom>
          <a:noFill/>
          <a:ln/>
        </p:spPr>
        <p:txBody>
          <a:bodyPr wrap="square" lIns="0" tIns="0" rIns="0" bIns="0" rtlCol="0" anchor="ctr"/>
          <a:lstStyle/>
          <a:p>
            <a:pPr indent="0" marL="0">
              <a:buNone/>
            </a:pPr>
            <a:r>
              <a:rPr lang="en-US" sz="1700" b="1" dirty="0">
                <a:solidFill>
                  <a:srgbClr val="1C1712"/>
                </a:solidFill>
                <a:latin typeface="Calibri" pitchFamily="34" charset="0"/>
                <a:ea typeface="Calibri" pitchFamily="34" charset="-122"/>
                <a:cs typeface="Calibri" pitchFamily="34" charset="-120"/>
              </a:rPr>
              <a:t>People confirm what AI suggests</a:t>
            </a:r>
            <a:endParaRPr lang="en-US" sz="1700" dirty="0"/>
          </a:p>
          <a:p>
            <a:pPr indent="0" marL="0">
              <a:buNone/>
            </a:pPr>
            <a:r>
              <a:rPr lang="en-US" sz="1400" dirty="0">
                <a:solidFill>
                  <a:srgbClr val="5B5148"/>
                </a:solidFill>
                <a:latin typeface="Calibri" pitchFamily="34" charset="0"/>
                <a:ea typeface="Calibri" pitchFamily="34" charset="-122"/>
                <a:cs typeface="Calibri" pitchFamily="34" charset="-120"/>
              </a:rPr>
              <a:t>Donors review every AI-filled field; recipients see the quality check and the photo.</a:t>
            </a:r>
            <a:endParaRPr lang="en-US" sz="1700" dirty="0"/>
          </a:p>
        </p:txBody>
      </p:sp>
      <p:sp>
        <p:nvSpPr>
          <p:cNvPr id="10" name="anim2_c"/>
          <p:cNvSpPr/>
          <p:nvPr/>
        </p:nvSpPr>
        <p:spPr>
          <a:xfrm>
            <a:off x="6126480" y="1783080"/>
            <a:ext cx="5349240" cy="1783080"/>
          </a:xfrm>
          <a:prstGeom prst="roundRect">
            <a:avLst>
              <a:gd name="adj" fmla="val 9231"/>
            </a:avLst>
          </a:prstGeom>
          <a:solidFill>
            <a:srgbClr val="FFFFF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11" name="anim2_iBg"/>
          <p:cNvSpPr/>
          <p:nvPr/>
        </p:nvSpPr>
        <p:spPr>
          <a:xfrm>
            <a:off x="6400800" y="2103120"/>
            <a:ext cx="822960" cy="822960"/>
          </a:xfrm>
          <a:prstGeom prst="ellipse">
            <a:avLst/>
          </a:prstGeom>
          <a:solidFill>
            <a:srgbClr val="E3EEDF"/>
          </a:solidFill>
          <a:ln w="12700">
            <a:solidFill>
              <a:srgbClr val="E3EEDF"/>
            </a:solidFill>
            <a:prstDash val="solid"/>
          </a:ln>
        </p:spPr>
      </p:sp>
      <p:pic>
        <p:nvPicPr>
          <p:cNvPr id="12" name="anim2_i" descr="preencoded.png">    </p:cNvPr>
          <p:cNvPicPr>
            <a:picLocks noChangeAspect="1"/>
          </p:cNvPicPr>
          <p:nvPr/>
        </p:nvPicPr>
        <p:blipFill>
          <a:blip r:embed="rId4"/>
          <a:stretch>
            <a:fillRect/>
          </a:stretch>
        </p:blipFill>
        <p:spPr>
          <a:xfrm>
            <a:off x="6598310" y="2300630"/>
            <a:ext cx="427939" cy="427939"/>
          </a:xfrm>
          <a:prstGeom prst="rect">
            <a:avLst/>
          </a:prstGeom>
        </p:spPr>
      </p:pic>
      <p:sp>
        <p:nvSpPr>
          <p:cNvPr id="13" name="anim2_t"/>
          <p:cNvSpPr txBox="1"/>
          <p:nvPr/>
        </p:nvSpPr>
        <p:spPr>
          <a:xfrm>
            <a:off x="7452360" y="2011680"/>
            <a:ext cx="3794760" cy="1325880"/>
          </a:xfrm>
          <a:prstGeom prst="rect">
            <a:avLst/>
          </a:prstGeom>
          <a:noFill/>
          <a:ln/>
        </p:spPr>
        <p:txBody>
          <a:bodyPr wrap="square" lIns="0" tIns="0" rIns="0" bIns="0" rtlCol="0" anchor="ctr"/>
          <a:lstStyle/>
          <a:p>
            <a:pPr indent="0" marL="0">
              <a:buNone/>
            </a:pPr>
            <a:r>
              <a:rPr lang="en-US" sz="1700" b="1" dirty="0">
                <a:solidFill>
                  <a:srgbClr val="1C1712"/>
                </a:solidFill>
                <a:latin typeface="Calibri" pitchFamily="34" charset="0"/>
                <a:ea typeface="Calibri" pitchFamily="34" charset="-122"/>
                <a:cs typeface="Calibri" pitchFamily="34" charset="-120"/>
              </a:rPr>
              <a:t>No invented data</a:t>
            </a:r>
            <a:endParaRPr lang="en-US" sz="1700" dirty="0"/>
          </a:p>
          <a:p>
            <a:pPr indent="0" marL="0">
              <a:buNone/>
            </a:pPr>
            <a:r>
              <a:rPr lang="en-US" sz="1400" dirty="0">
                <a:solidFill>
                  <a:srgbClr val="5B5148"/>
                </a:solidFill>
                <a:latin typeface="Calibri" pitchFamily="34" charset="0"/>
                <a:ea typeface="Calibri" pitchFamily="34" charset="-122"/>
                <a:cs typeface="Calibri" pitchFamily="34" charset="-120"/>
              </a:rPr>
              <a:t>Screenshot reading copies only what is visible. If it can’t read it, the form stays blank.</a:t>
            </a:r>
            <a:endParaRPr lang="en-US" sz="1700" dirty="0"/>
          </a:p>
        </p:txBody>
      </p:sp>
      <p:sp>
        <p:nvSpPr>
          <p:cNvPr id="14" name="anim3_c"/>
          <p:cNvSpPr/>
          <p:nvPr/>
        </p:nvSpPr>
        <p:spPr>
          <a:xfrm>
            <a:off x="640080" y="3794760"/>
            <a:ext cx="5349240" cy="1783080"/>
          </a:xfrm>
          <a:prstGeom prst="roundRect">
            <a:avLst>
              <a:gd name="adj" fmla="val 9231"/>
            </a:avLst>
          </a:prstGeom>
          <a:solidFill>
            <a:srgbClr val="FFFFF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15" name="anim3_iBg"/>
          <p:cNvSpPr/>
          <p:nvPr/>
        </p:nvSpPr>
        <p:spPr>
          <a:xfrm>
            <a:off x="914400" y="4114800"/>
            <a:ext cx="822960" cy="822960"/>
          </a:xfrm>
          <a:prstGeom prst="ellipse">
            <a:avLst/>
          </a:prstGeom>
          <a:solidFill>
            <a:srgbClr val="E3EEDF"/>
          </a:solidFill>
          <a:ln w="12700">
            <a:solidFill>
              <a:srgbClr val="E3EEDF"/>
            </a:solidFill>
            <a:prstDash val="solid"/>
          </a:ln>
        </p:spPr>
      </p:sp>
      <p:pic>
        <p:nvPicPr>
          <p:cNvPr id="16" name="anim3_i" descr="preencoded.png">    </p:cNvPr>
          <p:cNvPicPr>
            <a:picLocks noChangeAspect="1"/>
          </p:cNvPicPr>
          <p:nvPr/>
        </p:nvPicPr>
        <p:blipFill>
          <a:blip r:embed="rId5"/>
          <a:stretch>
            <a:fillRect/>
          </a:stretch>
        </p:blipFill>
        <p:spPr>
          <a:xfrm>
            <a:off x="1111910" y="4312310"/>
            <a:ext cx="427939" cy="427939"/>
          </a:xfrm>
          <a:prstGeom prst="rect">
            <a:avLst/>
          </a:prstGeom>
        </p:spPr>
      </p:pic>
      <p:sp>
        <p:nvSpPr>
          <p:cNvPr id="17" name="anim3_t"/>
          <p:cNvSpPr txBox="1"/>
          <p:nvPr/>
        </p:nvSpPr>
        <p:spPr>
          <a:xfrm>
            <a:off x="1965960" y="4023360"/>
            <a:ext cx="3794760" cy="1325880"/>
          </a:xfrm>
          <a:prstGeom prst="rect">
            <a:avLst/>
          </a:prstGeom>
          <a:noFill/>
          <a:ln/>
        </p:spPr>
        <p:txBody>
          <a:bodyPr wrap="square" lIns="0" tIns="0" rIns="0" bIns="0" rtlCol="0" anchor="ctr"/>
          <a:lstStyle/>
          <a:p>
            <a:pPr indent="0" marL="0">
              <a:buNone/>
            </a:pPr>
            <a:r>
              <a:rPr lang="en-US" sz="1700" b="1" dirty="0">
                <a:solidFill>
                  <a:srgbClr val="1C1712"/>
                </a:solidFill>
                <a:latin typeface="Calibri" pitchFamily="34" charset="0"/>
                <a:ea typeface="Calibri" pitchFamily="34" charset="-122"/>
                <a:cs typeface="Calibri" pitchFamily="34" charset="-120"/>
              </a:rPr>
              <a:t>Verified recipients</a:t>
            </a:r>
            <a:endParaRPr lang="en-US" sz="1700" dirty="0"/>
          </a:p>
          <a:p>
            <a:pPr indent="0" marL="0">
              <a:buNone/>
            </a:pPr>
            <a:r>
              <a:rPr lang="en-US" sz="1400" dirty="0">
                <a:solidFill>
                  <a:srgbClr val="5B5148"/>
                </a:solidFill>
                <a:latin typeface="Calibri" pitchFamily="34" charset="0"/>
                <a:ea typeface="Calibri" pitchFamily="34" charset="-122"/>
                <a:cs typeface="Calibri" pitchFamily="34" charset="-120"/>
              </a:rPr>
              <a:t>Nonprofit status checked against IRS exempt-organization data at sign-up.</a:t>
            </a:r>
            <a:endParaRPr lang="en-US" sz="1700" dirty="0"/>
          </a:p>
        </p:txBody>
      </p:sp>
      <p:sp>
        <p:nvSpPr>
          <p:cNvPr id="18" name="anim4_c"/>
          <p:cNvSpPr/>
          <p:nvPr/>
        </p:nvSpPr>
        <p:spPr>
          <a:xfrm>
            <a:off x="6126480" y="3794760"/>
            <a:ext cx="5349240" cy="1783080"/>
          </a:xfrm>
          <a:prstGeom prst="roundRect">
            <a:avLst>
              <a:gd name="adj" fmla="val 9231"/>
            </a:avLst>
          </a:prstGeom>
          <a:solidFill>
            <a:srgbClr val="FFFFF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19" name="anim4_iBg"/>
          <p:cNvSpPr/>
          <p:nvPr/>
        </p:nvSpPr>
        <p:spPr>
          <a:xfrm>
            <a:off x="6400800" y="4114800"/>
            <a:ext cx="822960" cy="822960"/>
          </a:xfrm>
          <a:prstGeom prst="ellipse">
            <a:avLst/>
          </a:prstGeom>
          <a:solidFill>
            <a:srgbClr val="E3EEDF"/>
          </a:solidFill>
          <a:ln w="12700">
            <a:solidFill>
              <a:srgbClr val="E3EEDF"/>
            </a:solidFill>
            <a:prstDash val="solid"/>
          </a:ln>
        </p:spPr>
      </p:sp>
      <p:pic>
        <p:nvPicPr>
          <p:cNvPr id="20" name="anim4_i" descr="preencoded.png">    </p:cNvPr>
          <p:cNvPicPr>
            <a:picLocks noChangeAspect="1"/>
          </p:cNvPicPr>
          <p:nvPr/>
        </p:nvPicPr>
        <p:blipFill>
          <a:blip r:embed="rId6"/>
          <a:stretch>
            <a:fillRect/>
          </a:stretch>
        </p:blipFill>
        <p:spPr>
          <a:xfrm>
            <a:off x="6598310" y="4312310"/>
            <a:ext cx="427939" cy="427939"/>
          </a:xfrm>
          <a:prstGeom prst="rect">
            <a:avLst/>
          </a:prstGeom>
        </p:spPr>
      </p:pic>
      <p:sp>
        <p:nvSpPr>
          <p:cNvPr id="21" name="anim4_t"/>
          <p:cNvSpPr txBox="1"/>
          <p:nvPr/>
        </p:nvSpPr>
        <p:spPr>
          <a:xfrm>
            <a:off x="7452360" y="4023360"/>
            <a:ext cx="3794760" cy="1325880"/>
          </a:xfrm>
          <a:prstGeom prst="rect">
            <a:avLst/>
          </a:prstGeom>
          <a:noFill/>
          <a:ln/>
        </p:spPr>
        <p:txBody>
          <a:bodyPr wrap="square" lIns="0" tIns="0" rIns="0" bIns="0" rtlCol="0" anchor="ctr"/>
          <a:lstStyle/>
          <a:p>
            <a:pPr indent="0" marL="0">
              <a:buNone/>
            </a:pPr>
            <a:r>
              <a:rPr lang="en-US" sz="1700" b="1" dirty="0">
                <a:solidFill>
                  <a:srgbClr val="1C1712"/>
                </a:solidFill>
                <a:latin typeface="Calibri" pitchFamily="34" charset="0"/>
                <a:ea typeface="Calibri" pitchFamily="34" charset="-122"/>
                <a:cs typeface="Calibri" pitchFamily="34" charset="-120"/>
              </a:rPr>
              <a:t>Fair matching</a:t>
            </a:r>
            <a:endParaRPr lang="en-US" sz="1700" dirty="0"/>
          </a:p>
          <a:p>
            <a:pPr indent="0" marL="0">
              <a:buNone/>
            </a:pPr>
            <a:r>
              <a:rPr lang="en-US" sz="1400" dirty="0">
                <a:solidFill>
                  <a:srgbClr val="5B5148"/>
                </a:solidFill>
                <a:latin typeface="Calibri" pitchFamily="34" charset="0"/>
                <a:ea typeface="Calibri" pitchFamily="34" charset="-122"/>
                <a:cs typeface="Calibri" pitchFamily="34" charset="-120"/>
              </a:rPr>
              <a:t>Food banks in USDA low-income, low-access areas get a matching boost — and we say why.</a:t>
            </a:r>
            <a:endParaRPr lang="en-US" sz="1700" dirty="0"/>
          </a:p>
        </p:txBody>
      </p:sp>
      <p:sp>
        <p:nvSpPr>
          <p:cNvPr id="22" name="anim5_note"/>
          <p:cNvSpPr txBox="1"/>
          <p:nvPr/>
        </p:nvSpPr>
        <p:spPr>
          <a:xfrm>
            <a:off x="640080" y="5852160"/>
            <a:ext cx="10835640" cy="320040"/>
          </a:xfrm>
          <a:prstGeom prst="rect">
            <a:avLst/>
          </a:prstGeom>
          <a:noFill/>
          <a:ln/>
        </p:spPr>
        <p:txBody>
          <a:bodyPr wrap="square" lIns="0" tIns="0" rIns="0" bIns="0" rtlCol="0" anchor="ctr"/>
          <a:lstStyle/>
          <a:p>
            <a:pPr indent="0" marL="0">
              <a:buNone/>
            </a:pPr>
            <a:r>
              <a:rPr lang="en-US" sz="1300" i="1" dirty="0">
                <a:solidFill>
                  <a:srgbClr val="165840"/>
                </a:solidFill>
                <a:latin typeface="Calibri" pitchFamily="34" charset="0"/>
                <a:ea typeface="Calibri" pitchFamily="34" charset="-122"/>
                <a:cs typeface="Calibri" pitchFamily="34" charset="-120"/>
              </a:rPr>
              <a:t>Only operational details are shared: food, quantity, timing, place. No attendee lists.</a:t>
            </a:r>
            <a:endParaRPr lang="en-US" sz="1300" dirty="0"/>
          </a:p>
        </p:txBody>
      </p:sp>
      <p:pic>
        <p:nvPicPr>
          <p:cNvPr id="23" name="footLogoL" descr="preencoded.png">    </p:cNvPr>
          <p:cNvPicPr>
            <a:picLocks noChangeAspect="1"/>
          </p:cNvPicPr>
          <p:nvPr/>
        </p:nvPicPr>
        <p:blipFill>
          <a:blip r:embed="rId7"/>
          <a:stretch>
            <a:fillRect/>
          </a:stretch>
        </p:blipFill>
        <p:spPr>
          <a:xfrm>
            <a:off x="640080" y="6355080"/>
            <a:ext cx="384048" cy="252476"/>
          </a:xfrm>
          <a:prstGeom prst="rect">
            <a:avLst/>
          </a:prstGeom>
        </p:spPr>
      </p:pic>
      <p:pic>
        <p:nvPicPr>
          <p:cNvPr id="24" name="footLogoR" descr="preencoded.png">    </p:cNvPr>
          <p:cNvPicPr>
            <a:picLocks noChangeAspect="1"/>
          </p:cNvPicPr>
          <p:nvPr/>
        </p:nvPicPr>
        <p:blipFill>
          <a:blip r:embed="rId8"/>
          <a:stretch>
            <a:fillRect/>
          </a:stretch>
        </p:blipFill>
        <p:spPr>
          <a:xfrm>
            <a:off x="640080" y="6355080"/>
            <a:ext cx="384048" cy="252476"/>
          </a:xfrm>
          <a:prstGeom prst="rect">
            <a:avLst/>
          </a:prstGeom>
        </p:spPr>
      </p:pic>
      <p:pic>
        <p:nvPicPr>
          <p:cNvPr id="25" name="footLogoS" descr="preencoded.png">    </p:cNvPr>
          <p:cNvPicPr>
            <a:picLocks noChangeAspect="1"/>
          </p:cNvPicPr>
          <p:nvPr/>
        </p:nvPicPr>
        <p:blipFill>
          <a:blip r:embed="rId9"/>
          <a:stretch>
            <a:fillRect/>
          </a:stretch>
        </p:blipFill>
        <p:spPr>
          <a:xfrm>
            <a:off x="640080" y="6355080"/>
            <a:ext cx="384048" cy="252476"/>
          </a:xfrm>
          <a:prstGeom prst="rect">
            <a:avLst/>
          </a:prstGeom>
        </p:spPr>
      </p:pic>
      <p:sp>
        <p:nvSpPr>
          <p:cNvPr id="26" name="Text 15"/>
          <p:cNvSpPr txBox="1"/>
          <p:nvPr/>
        </p:nvSpPr>
        <p:spPr>
          <a:xfrm>
            <a:off x="1097280" y="6327648"/>
            <a:ext cx="3657600" cy="292608"/>
          </a:xfrm>
          <a:prstGeom prst="rect">
            <a:avLst/>
          </a:prstGeom>
          <a:noFill/>
          <a:ln/>
        </p:spPr>
        <p:txBody>
          <a:bodyPr wrap="square" lIns="0" tIns="0" rIns="0" bIns="0" rtlCol="0" anchor="ctr"/>
          <a:lstStyle/>
          <a:p>
            <a:pPr indent="0" marL="0">
              <a:buNone/>
            </a:pPr>
            <a:r>
              <a:rPr lang="en-US" sz="1000" dirty="0">
                <a:solidFill>
                  <a:srgbClr val="5B5148"/>
                </a:solidFill>
                <a:latin typeface="Calibri" pitchFamily="34" charset="0"/>
                <a:ea typeface="Calibri" pitchFamily="34" charset="-122"/>
                <a:cs typeface="Calibri" pitchFamily="34" charset="-120"/>
              </a:rPr>
              <a:t>Not Wasted · Surplus saved</a:t>
            </a:r>
            <a:endParaRPr lang="en-US" sz="1000" dirty="0"/>
          </a:p>
        </p:txBody>
      </p:sp>
      <p:sp>
        <p:nvSpPr>
          <p:cNvPr id="27" name="Text 16"/>
          <p:cNvSpPr txBox="1"/>
          <p:nvPr/>
        </p:nvSpPr>
        <p:spPr>
          <a:xfrm>
            <a:off x="10607040" y="6327648"/>
            <a:ext cx="914400" cy="292608"/>
          </a:xfrm>
          <a:prstGeom prst="rect">
            <a:avLst/>
          </a:prstGeom>
          <a:noFill/>
          <a:ln/>
        </p:spPr>
        <p:txBody>
          <a:bodyPr wrap="square" lIns="0" tIns="0" rIns="0" bIns="0" rtlCol="0" anchor="ctr"/>
          <a:lstStyle/>
          <a:p>
            <a:pPr algn="r" indent="0" marL="0">
              <a:buNone/>
            </a:pPr>
            <a:r>
              <a:rPr lang="en-US" sz="1000" dirty="0">
                <a:solidFill>
                  <a:srgbClr val="5B5148"/>
                </a:solidFill>
                <a:latin typeface="Calibri" pitchFamily="34" charset="0"/>
                <a:ea typeface="Calibri" pitchFamily="34" charset="-122"/>
                <a:cs typeface="Calibri" pitchFamily="34" charset="-120"/>
              </a:rPr>
              <a:t>10 / 12</a:t>
            </a:r>
            <a:endParaRPr lang="en-US" sz="1000" dirty="0"/>
          </a:p>
        </p:txBody>
      </p:sp>
    </p:spTree>
  </p:cSld>
  <p:clrMapOvr>
    <a:masterClrMapping/>
  </p:clrMapOvr>
  <mc:AlternateContent>
    <mc:Choice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10" presetClass="entr" presetSubtype="0" fill="hold"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600"/>
                                        <p:tgtEl>
                                          <p:spTgt spid="6"/>
                                        </p:tgtEl>
                                      </p:cBhvr>
                                    </p:animEffect>
                                    <p:anim calcmode="lin" valueType="num">
                                      <p:cBhvr additive="base">
                                        <p:cTn id="7" dur="600" fill="hold"/>
                                        <p:tgtEl>
                                          <p:spTgt spid="6"/>
                                        </p:tgtEl>
                                        <p:attrNameLst>
                                          <p:attrName>ppt_y</p:attrName>
                                        </p:attrNameLst>
                                      </p:cBhvr>
                                      <p:tavLst>
                                        <p:tav tm="0">
                                          <p:val>
                                            <p:strVal val="#ppt_y+0.04"/>
                                          </p:val>
                                        </p:tav>
                                        <p:tav tm="100000">
                                          <p:val>
                                            <p:strVal val="#ppt_y"/>
                                          </p:val>
                                        </p:tav>
                                      </p:tavLst>
                                    </p:anim>
                                  </p:childTnLst>
                                </p:cTn>
                              </p:par>
                              <p:par>
                                <p:cTn id="12" presetID="10" presetClass="entr" presetSubtype="0" fill="hold" nodeType="withEffect">
                                  <p:stCondLst>
                                    <p:cond delay="15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600"/>
                                        <p:tgtEl>
                                          <p:spTgt spid="7"/>
                                        </p:tgtEl>
                                      </p:cBhvr>
                                    </p:animEffect>
                                    <p:anim calcmode="lin" valueType="num">
                                      <p:cBhvr additive="base">
                                        <p:cTn id="11" dur="600" fill="hold"/>
                                        <p:tgtEl>
                                          <p:spTgt spid="7"/>
                                        </p:tgtEl>
                                        <p:attrNameLst>
                                          <p:attrName>ppt_y</p:attrName>
                                        </p:attrNameLst>
                                      </p:cBhvr>
                                      <p:tavLst>
                                        <p:tav tm="0">
                                          <p:val>
                                            <p:strVal val="#ppt_y+0.04"/>
                                          </p:val>
                                        </p:tav>
                                        <p:tav tm="100000">
                                          <p:val>
                                            <p:strVal val="#ppt_y"/>
                                          </p:val>
                                        </p:tav>
                                      </p:tavLst>
                                    </p:anim>
                                  </p:childTnLst>
                                </p:cTn>
                              </p:par>
                              <p:par>
                                <p:cTn id="16" presetID="10" presetClass="entr" presetSubtype="0" fill="hold" nodeType="withEffect">
                                  <p:stCondLst>
                                    <p:cond delay="15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600"/>
                                        <p:tgtEl>
                                          <p:spTgt spid="8"/>
                                        </p:tgtEl>
                                      </p:cBhvr>
                                    </p:animEffect>
                                    <p:anim calcmode="lin" valueType="num">
                                      <p:cBhvr additive="base">
                                        <p:cTn id="15" dur="600" fill="hold"/>
                                        <p:tgtEl>
                                          <p:spTgt spid="8"/>
                                        </p:tgtEl>
                                        <p:attrNameLst>
                                          <p:attrName>ppt_y</p:attrName>
                                        </p:attrNameLst>
                                      </p:cBhvr>
                                      <p:tavLst>
                                        <p:tav tm="0">
                                          <p:val>
                                            <p:strVal val="#ppt_y+0.04"/>
                                          </p:val>
                                        </p:tav>
                                        <p:tav tm="100000">
                                          <p:val>
                                            <p:strVal val="#ppt_y"/>
                                          </p:val>
                                        </p:tav>
                                      </p:tavLst>
                                    </p:anim>
                                  </p:childTnLst>
                                </p:cTn>
                              </p:par>
                              <p:par>
                                <p:cTn id="20" presetID="10" presetClass="entr" presetSubtype="0" fill="hold" nodeType="withEffect">
                                  <p:stCondLst>
                                    <p:cond delay="15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600"/>
                                        <p:tgtEl>
                                          <p:spTgt spid="9"/>
                                        </p:tgtEl>
                                      </p:cBhvr>
                                    </p:animEffect>
                                    <p:anim calcmode="lin" valueType="num">
                                      <p:cBhvr additive="base">
                                        <p:cTn id="19" dur="600" fill="hold"/>
                                        <p:tgtEl>
                                          <p:spTgt spid="9"/>
                                        </p:tgtEl>
                                        <p:attrNameLst>
                                          <p:attrName>ppt_y</p:attrName>
                                        </p:attrNameLst>
                                      </p:cBhvr>
                                      <p:tavLst>
                                        <p:tav tm="0">
                                          <p:val>
                                            <p:strVal val="#ppt_y+0.04"/>
                                          </p:val>
                                        </p:tav>
                                        <p:tav tm="100000">
                                          <p:val>
                                            <p:strVal val="#ppt_y"/>
                                          </p:val>
                                        </p:tav>
                                      </p:tavLst>
                                    </p:anim>
                                  </p:childTnLst>
                                </p:cTn>
                              </p:par>
                              <p:par>
                                <p:cTn id="24" presetID="10" presetClass="entr" presetSubtype="0" fill="hold" nodeType="withEffect">
                                  <p:stCondLst>
                                    <p:cond delay="43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600"/>
                                        <p:tgtEl>
                                          <p:spTgt spid="10"/>
                                        </p:tgtEl>
                                      </p:cBhvr>
                                    </p:animEffect>
                                    <p:anim calcmode="lin" valueType="num">
                                      <p:cBhvr additive="base">
                                        <p:cTn id="23" dur="600" fill="hold"/>
                                        <p:tgtEl>
                                          <p:spTgt spid="10"/>
                                        </p:tgtEl>
                                        <p:attrNameLst>
                                          <p:attrName>ppt_y</p:attrName>
                                        </p:attrNameLst>
                                      </p:cBhvr>
                                      <p:tavLst>
                                        <p:tav tm="0">
                                          <p:val>
                                            <p:strVal val="#ppt_y+0.04"/>
                                          </p:val>
                                        </p:tav>
                                        <p:tav tm="100000">
                                          <p:val>
                                            <p:strVal val="#ppt_y"/>
                                          </p:val>
                                        </p:tav>
                                      </p:tavLst>
                                    </p:anim>
                                  </p:childTnLst>
                                </p:cTn>
                              </p:par>
                              <p:par>
                                <p:cTn id="28" presetID="10" presetClass="entr" presetSubtype="0" fill="hold" nodeType="withEffect">
                                  <p:stCondLst>
                                    <p:cond delay="43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600"/>
                                        <p:tgtEl>
                                          <p:spTgt spid="11"/>
                                        </p:tgtEl>
                                      </p:cBhvr>
                                    </p:animEffect>
                                    <p:anim calcmode="lin" valueType="num">
                                      <p:cBhvr additive="base">
                                        <p:cTn id="27" dur="600" fill="hold"/>
                                        <p:tgtEl>
                                          <p:spTgt spid="11"/>
                                        </p:tgtEl>
                                        <p:attrNameLst>
                                          <p:attrName>ppt_y</p:attrName>
                                        </p:attrNameLst>
                                      </p:cBhvr>
                                      <p:tavLst>
                                        <p:tav tm="0">
                                          <p:val>
                                            <p:strVal val="#ppt_y+0.04"/>
                                          </p:val>
                                        </p:tav>
                                        <p:tav tm="100000">
                                          <p:val>
                                            <p:strVal val="#ppt_y"/>
                                          </p:val>
                                        </p:tav>
                                      </p:tavLst>
                                    </p:anim>
                                  </p:childTnLst>
                                </p:cTn>
                              </p:par>
                              <p:par>
                                <p:cTn id="32" presetID="10" presetClass="entr" presetSubtype="0" fill="hold" nodeType="withEffect">
                                  <p:stCondLst>
                                    <p:cond delay="43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600"/>
                                        <p:tgtEl>
                                          <p:spTgt spid="12"/>
                                        </p:tgtEl>
                                      </p:cBhvr>
                                    </p:animEffect>
                                    <p:anim calcmode="lin" valueType="num">
                                      <p:cBhvr additive="base">
                                        <p:cTn id="31" dur="600" fill="hold"/>
                                        <p:tgtEl>
                                          <p:spTgt spid="12"/>
                                        </p:tgtEl>
                                        <p:attrNameLst>
                                          <p:attrName>ppt_y</p:attrName>
                                        </p:attrNameLst>
                                      </p:cBhvr>
                                      <p:tavLst>
                                        <p:tav tm="0">
                                          <p:val>
                                            <p:strVal val="#ppt_y+0.04"/>
                                          </p:val>
                                        </p:tav>
                                        <p:tav tm="100000">
                                          <p:val>
                                            <p:strVal val="#ppt_y"/>
                                          </p:val>
                                        </p:tav>
                                      </p:tavLst>
                                    </p:anim>
                                  </p:childTnLst>
                                </p:cTn>
                              </p:par>
                              <p:par>
                                <p:cTn id="36" presetID="10" presetClass="entr" presetSubtype="0" fill="hold" nodeType="withEffect">
                                  <p:stCondLst>
                                    <p:cond delay="43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p:tgtEl>
                                          <p:spTgt spid="13"/>
                                        </p:tgtEl>
                                      </p:cBhvr>
                                    </p:animEffect>
                                    <p:anim calcmode="lin" valueType="num">
                                      <p:cBhvr additive="base">
                                        <p:cTn id="35" dur="600" fill="hold"/>
                                        <p:tgtEl>
                                          <p:spTgt spid="13"/>
                                        </p:tgtEl>
                                        <p:attrNameLst>
                                          <p:attrName>ppt_y</p:attrName>
                                        </p:attrNameLst>
                                      </p:cBhvr>
                                      <p:tavLst>
                                        <p:tav tm="0">
                                          <p:val>
                                            <p:strVal val="#ppt_y+0.04"/>
                                          </p:val>
                                        </p:tav>
                                        <p:tav tm="100000">
                                          <p:val>
                                            <p:strVal val="#ppt_y"/>
                                          </p:val>
                                        </p:tav>
                                      </p:tavLst>
                                    </p:anim>
                                  </p:childTnLst>
                                </p:cTn>
                              </p:par>
                              <p:par>
                                <p:cTn id="40" presetID="10" presetClass="entr" presetSubtype="0" fill="hold" nodeType="withEffect">
                                  <p:stCondLst>
                                    <p:cond delay="71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600"/>
                                        <p:tgtEl>
                                          <p:spTgt spid="14"/>
                                        </p:tgtEl>
                                      </p:cBhvr>
                                    </p:animEffect>
                                    <p:anim calcmode="lin" valueType="num">
                                      <p:cBhvr additive="base">
                                        <p:cTn id="39" dur="600" fill="hold"/>
                                        <p:tgtEl>
                                          <p:spTgt spid="14"/>
                                        </p:tgtEl>
                                        <p:attrNameLst>
                                          <p:attrName>ppt_y</p:attrName>
                                        </p:attrNameLst>
                                      </p:cBhvr>
                                      <p:tavLst>
                                        <p:tav tm="0">
                                          <p:val>
                                            <p:strVal val="#ppt_y+0.04"/>
                                          </p:val>
                                        </p:tav>
                                        <p:tav tm="100000">
                                          <p:val>
                                            <p:strVal val="#ppt_y"/>
                                          </p:val>
                                        </p:tav>
                                      </p:tavLst>
                                    </p:anim>
                                  </p:childTnLst>
                                </p:cTn>
                              </p:par>
                              <p:par>
                                <p:cTn id="44" presetID="10" presetClass="entr" presetSubtype="0" fill="hold" nodeType="withEffect">
                                  <p:stCondLst>
                                    <p:cond delay="71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anim calcmode="lin" valueType="num">
                                      <p:cBhvr additive="base">
                                        <p:cTn id="43" dur="600" fill="hold"/>
                                        <p:tgtEl>
                                          <p:spTgt spid="15"/>
                                        </p:tgtEl>
                                        <p:attrNameLst>
                                          <p:attrName>ppt_y</p:attrName>
                                        </p:attrNameLst>
                                      </p:cBhvr>
                                      <p:tavLst>
                                        <p:tav tm="0">
                                          <p:val>
                                            <p:strVal val="#ppt_y+0.04"/>
                                          </p:val>
                                        </p:tav>
                                        <p:tav tm="100000">
                                          <p:val>
                                            <p:strVal val="#ppt_y"/>
                                          </p:val>
                                        </p:tav>
                                      </p:tavLst>
                                    </p:anim>
                                  </p:childTnLst>
                                </p:cTn>
                              </p:par>
                              <p:par>
                                <p:cTn id="48" presetID="10" presetClass="entr" presetSubtype="0" fill="hold" nodeType="withEffect">
                                  <p:stCondLst>
                                    <p:cond delay="71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600"/>
                                        <p:tgtEl>
                                          <p:spTgt spid="16"/>
                                        </p:tgtEl>
                                      </p:cBhvr>
                                    </p:animEffect>
                                    <p:anim calcmode="lin" valueType="num">
                                      <p:cBhvr additive="base">
                                        <p:cTn id="47" dur="600" fill="hold"/>
                                        <p:tgtEl>
                                          <p:spTgt spid="16"/>
                                        </p:tgtEl>
                                        <p:attrNameLst>
                                          <p:attrName>ppt_y</p:attrName>
                                        </p:attrNameLst>
                                      </p:cBhvr>
                                      <p:tavLst>
                                        <p:tav tm="0">
                                          <p:val>
                                            <p:strVal val="#ppt_y+0.04"/>
                                          </p:val>
                                        </p:tav>
                                        <p:tav tm="100000">
                                          <p:val>
                                            <p:strVal val="#ppt_y"/>
                                          </p:val>
                                        </p:tav>
                                      </p:tavLst>
                                    </p:anim>
                                  </p:childTnLst>
                                </p:cTn>
                              </p:par>
                              <p:par>
                                <p:cTn id="52" presetID="10" presetClass="entr" presetSubtype="0" fill="hold" nodeType="withEffect">
                                  <p:stCondLst>
                                    <p:cond delay="71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600"/>
                                        <p:tgtEl>
                                          <p:spTgt spid="17"/>
                                        </p:tgtEl>
                                      </p:cBhvr>
                                    </p:animEffect>
                                    <p:anim calcmode="lin" valueType="num">
                                      <p:cBhvr additive="base">
                                        <p:cTn id="51" dur="600" fill="hold"/>
                                        <p:tgtEl>
                                          <p:spTgt spid="17"/>
                                        </p:tgtEl>
                                        <p:attrNameLst>
                                          <p:attrName>ppt_y</p:attrName>
                                        </p:attrNameLst>
                                      </p:cBhvr>
                                      <p:tavLst>
                                        <p:tav tm="0">
                                          <p:val>
                                            <p:strVal val="#ppt_y+0.04"/>
                                          </p:val>
                                        </p:tav>
                                        <p:tav tm="100000">
                                          <p:val>
                                            <p:strVal val="#ppt_y"/>
                                          </p:val>
                                        </p:tav>
                                      </p:tavLst>
                                    </p:anim>
                                  </p:childTnLst>
                                </p:cTn>
                              </p:par>
                              <p:par>
                                <p:cTn id="56" presetID="10" presetClass="entr" presetSubtype="0" fill="hold" nodeType="withEffect">
                                  <p:stCondLst>
                                    <p:cond delay="99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600"/>
                                        <p:tgtEl>
                                          <p:spTgt spid="18"/>
                                        </p:tgtEl>
                                      </p:cBhvr>
                                    </p:animEffect>
                                    <p:anim calcmode="lin" valueType="num">
                                      <p:cBhvr additive="base">
                                        <p:cTn id="55" dur="600" fill="hold"/>
                                        <p:tgtEl>
                                          <p:spTgt spid="18"/>
                                        </p:tgtEl>
                                        <p:attrNameLst>
                                          <p:attrName>ppt_y</p:attrName>
                                        </p:attrNameLst>
                                      </p:cBhvr>
                                      <p:tavLst>
                                        <p:tav tm="0">
                                          <p:val>
                                            <p:strVal val="#ppt_y+0.04"/>
                                          </p:val>
                                        </p:tav>
                                        <p:tav tm="100000">
                                          <p:val>
                                            <p:strVal val="#ppt_y"/>
                                          </p:val>
                                        </p:tav>
                                      </p:tavLst>
                                    </p:anim>
                                  </p:childTnLst>
                                </p:cTn>
                              </p:par>
                              <p:par>
                                <p:cTn id="60" presetID="10" presetClass="entr" presetSubtype="0" fill="hold" nodeType="withEffect">
                                  <p:stCondLst>
                                    <p:cond delay="99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600"/>
                                        <p:tgtEl>
                                          <p:spTgt spid="19"/>
                                        </p:tgtEl>
                                      </p:cBhvr>
                                    </p:animEffect>
                                    <p:anim calcmode="lin" valueType="num">
                                      <p:cBhvr additive="base">
                                        <p:cTn id="59" dur="600" fill="hold"/>
                                        <p:tgtEl>
                                          <p:spTgt spid="19"/>
                                        </p:tgtEl>
                                        <p:attrNameLst>
                                          <p:attrName>ppt_y</p:attrName>
                                        </p:attrNameLst>
                                      </p:cBhvr>
                                      <p:tavLst>
                                        <p:tav tm="0">
                                          <p:val>
                                            <p:strVal val="#ppt_y+0.04"/>
                                          </p:val>
                                        </p:tav>
                                        <p:tav tm="100000">
                                          <p:val>
                                            <p:strVal val="#ppt_y"/>
                                          </p:val>
                                        </p:tav>
                                      </p:tavLst>
                                    </p:anim>
                                  </p:childTnLst>
                                </p:cTn>
                              </p:par>
                              <p:par>
                                <p:cTn id="64" presetID="10" presetClass="entr" presetSubtype="0" fill="hold" nodeType="withEffect">
                                  <p:stCondLst>
                                    <p:cond delay="99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600"/>
                                        <p:tgtEl>
                                          <p:spTgt spid="20"/>
                                        </p:tgtEl>
                                      </p:cBhvr>
                                    </p:animEffect>
                                    <p:anim calcmode="lin" valueType="num">
                                      <p:cBhvr additive="base">
                                        <p:cTn id="63" dur="600" fill="hold"/>
                                        <p:tgtEl>
                                          <p:spTgt spid="20"/>
                                        </p:tgtEl>
                                        <p:attrNameLst>
                                          <p:attrName>ppt_y</p:attrName>
                                        </p:attrNameLst>
                                      </p:cBhvr>
                                      <p:tavLst>
                                        <p:tav tm="0">
                                          <p:val>
                                            <p:strVal val="#ppt_y+0.04"/>
                                          </p:val>
                                        </p:tav>
                                        <p:tav tm="100000">
                                          <p:val>
                                            <p:strVal val="#ppt_y"/>
                                          </p:val>
                                        </p:tav>
                                      </p:tavLst>
                                    </p:anim>
                                  </p:childTnLst>
                                </p:cTn>
                              </p:par>
                              <p:par>
                                <p:cTn id="68" presetID="10" presetClass="entr" presetSubtype="0" fill="hold" nodeType="withEffect">
                                  <p:stCondLst>
                                    <p:cond delay="99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600"/>
                                        <p:tgtEl>
                                          <p:spTgt spid="21"/>
                                        </p:tgtEl>
                                      </p:cBhvr>
                                    </p:animEffect>
                                    <p:anim calcmode="lin" valueType="num">
                                      <p:cBhvr additive="base">
                                        <p:cTn id="67" dur="600" fill="hold"/>
                                        <p:tgtEl>
                                          <p:spTgt spid="21"/>
                                        </p:tgtEl>
                                        <p:attrNameLst>
                                          <p:attrName>ppt_y</p:attrName>
                                        </p:attrNameLst>
                                      </p:cBhvr>
                                      <p:tavLst>
                                        <p:tav tm="0">
                                          <p:val>
                                            <p:strVal val="#ppt_y+0.04"/>
                                          </p:val>
                                        </p:tav>
                                        <p:tav tm="100000">
                                          <p:val>
                                            <p:strVal val="#ppt_y"/>
                                          </p:val>
                                        </p:tav>
                                      </p:tavLst>
                                    </p:anim>
                                  </p:childTnLst>
                                </p:cTn>
                              </p:par>
                              <p:par>
                                <p:cTn id="72" presetID="10" presetClass="entr" presetSubtype="0" fill="hold" nodeType="withEffect">
                                  <p:stCondLst>
                                    <p:cond delay="127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600"/>
                                        <p:tgtEl>
                                          <p:spTgt spid="22"/>
                                        </p:tgtEl>
                                      </p:cBhvr>
                                    </p:animEffect>
                                    <p:anim calcmode="lin" valueType="num">
                                      <p:cBhvr additive="base">
                                        <p:cTn id="71" dur="600" fill="hold"/>
                                        <p:tgtEl>
                                          <p:spTgt spid="22"/>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mc:Ignorable="p14 p159">
  <p:cSld name="Slide 11">
    <p:bg>
      <p:bgPr>
        <a:solidFill>
          <a:srgbClr val="FCFBF7"/>
        </a:solidFill>
      </p:bgPr>
    </p:bg>
    <p:spTree>
      <p:nvGrpSpPr>
        <p:cNvPr id="1" name=""/>
        <p:cNvGrpSpPr/>
        <p:nvPr/>
      </p:nvGrpSpPr>
      <p:grpSpPr>
        <a:xfrm>
          <a:off x="0" y="0"/>
          <a:ext cx="0" cy="0"/>
          <a:chOff x="0" y="0"/>
          <a:chExt cx="0" cy="0"/>
        </a:xfrm>
      </p:grpSpPr>
      <p:pic>
        <p:nvPicPr>
          <p:cNvPr id="2" name="!!blobOrange" descr="preencoded.png">    </p:cNvPr>
          <p:cNvPicPr>
            <a:picLocks noChangeAspect="1"/>
          </p:cNvPicPr>
          <p:nvPr/>
        </p:nvPicPr>
        <p:blipFill>
          <a:blip r:embed="rId1"/>
          <a:stretch>
            <a:fillRect/>
          </a:stretch>
        </p:blipFill>
        <p:spPr>
          <a:xfrm>
            <a:off x="-2194560" y="-2011680"/>
            <a:ext cx="5943600" cy="5943600"/>
          </a:xfrm>
          <a:prstGeom prst="rect">
            <a:avLst/>
          </a:prstGeom>
        </p:spPr>
      </p:pic>
      <p:pic>
        <p:nvPicPr>
          <p:cNvPr id="3" name="!!blobGreen" descr="preencoded.png">    </p:cNvPr>
          <p:cNvPicPr>
            <a:picLocks noChangeAspect="1"/>
          </p:cNvPicPr>
          <p:nvPr/>
        </p:nvPicPr>
        <p:blipFill>
          <a:blip r:embed="rId2"/>
          <a:stretch>
            <a:fillRect/>
          </a:stretch>
        </p:blipFill>
        <p:spPr>
          <a:xfrm>
            <a:off x="8778240" y="3108960"/>
            <a:ext cx="5943600" cy="5943600"/>
          </a:xfrm>
          <a:prstGeom prst="rect">
            <a:avLst/>
          </a:prstGeom>
        </p:spPr>
      </p:pic>
      <p:sp>
        <p:nvSpPr>
          <p:cNvPr id="4" name="!!kicker"/>
          <p:cNvSpPr txBox="1"/>
          <p:nvPr/>
        </p:nvSpPr>
        <p:spPr>
          <a:xfrm>
            <a:off x="640080" y="228600"/>
            <a:ext cx="7315200" cy="274320"/>
          </a:xfrm>
          <a:prstGeom prst="rect">
            <a:avLst/>
          </a:prstGeom>
          <a:noFill/>
          <a:ln/>
        </p:spPr>
        <p:txBody>
          <a:bodyPr wrap="square" lIns="0" tIns="0" rIns="0" bIns="0" rtlCol="0" anchor="ctr"/>
          <a:lstStyle/>
          <a:p>
            <a:pPr indent="0" marL="0">
              <a:buNone/>
            </a:pPr>
            <a:r>
              <a:rPr lang="en-US" sz="1100" b="1" spc="300" kern="0" dirty="0">
                <a:solidFill>
                  <a:srgbClr val="BF5320"/>
                </a:solidFill>
                <a:latin typeface="Calibri" pitchFamily="34" charset="0"/>
                <a:ea typeface="Calibri" pitchFamily="34" charset="-122"/>
                <a:cs typeface="Calibri" pitchFamily="34" charset="-120"/>
              </a:rPr>
              <a:t>PATH TO SCALE</a:t>
            </a:r>
            <a:endParaRPr lang="en-US" sz="1100" dirty="0"/>
          </a:p>
        </p:txBody>
      </p:sp>
      <p:sp>
        <p:nvSpPr>
          <p:cNvPr id="5" name="!!title"/>
          <p:cNvSpPr txBox="1"/>
          <p:nvPr/>
        </p:nvSpPr>
        <p:spPr>
          <a:xfrm>
            <a:off x="640080" y="502920"/>
            <a:ext cx="10881360" cy="914400"/>
          </a:xfrm>
          <a:prstGeom prst="rect">
            <a:avLst/>
          </a:prstGeom>
          <a:noFill/>
          <a:ln/>
        </p:spPr>
        <p:txBody>
          <a:bodyPr wrap="square" lIns="0" tIns="0" rIns="0" bIns="0" rtlCol="0" anchor="ctr"/>
          <a:lstStyle/>
          <a:p>
            <a:pPr indent="0" marL="0">
              <a:buNone/>
            </a:pPr>
            <a:r>
              <a:rPr lang="en-US" sz="3600" b="1" dirty="0">
                <a:solidFill>
                  <a:srgbClr val="1C1712"/>
                </a:solidFill>
                <a:latin typeface="Cambria" pitchFamily="34" charset="0"/>
                <a:ea typeface="Cambria" pitchFamily="34" charset="-122"/>
                <a:cs typeface="Cambria" pitchFamily="34" charset="-120"/>
              </a:rPr>
              <a:t>Start with one complete</a:t>
            </a:r>
            <a:pPr indent="0" marL="0">
              <a:buNone/>
            </a:pPr>
            <a:r>
              <a:rPr lang="en-US" sz="3600" b="1" dirty="0">
                <a:solidFill>
                  <a:srgbClr val="F0703D"/>
                </a:solidFill>
                <a:latin typeface="Cambria" pitchFamily="34" charset="0"/>
                <a:ea typeface="Cambria" pitchFamily="34" charset="-122"/>
                <a:cs typeface="Cambria" pitchFamily="34" charset="-120"/>
              </a:rPr>
              <a:t> pickup loop</a:t>
            </a:r>
            <a:endParaRPr lang="en-US" sz="3600" dirty="0"/>
          </a:p>
        </p:txBody>
      </p:sp>
      <p:sp>
        <p:nvSpPr>
          <p:cNvPr id="6" name="anim1_o0"/>
          <p:cNvSpPr/>
          <p:nvPr/>
        </p:nvSpPr>
        <p:spPr>
          <a:xfrm>
            <a:off x="640080" y="1783080"/>
            <a:ext cx="2560320" cy="1325880"/>
          </a:xfrm>
          <a:prstGeom prst="roundRect">
            <a:avLst>
              <a:gd name="adj" fmla="val 12414"/>
            </a:avLst>
          </a:prstGeom>
          <a:solidFill>
            <a:srgbClr val="FFFFF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7" name="anim1_oi0Bg"/>
          <p:cNvSpPr/>
          <p:nvPr/>
        </p:nvSpPr>
        <p:spPr>
          <a:xfrm>
            <a:off x="868680" y="2057400"/>
            <a:ext cx="731520" cy="731520"/>
          </a:xfrm>
          <a:prstGeom prst="ellipse">
            <a:avLst/>
          </a:prstGeom>
          <a:solidFill>
            <a:srgbClr val="FDE6D4"/>
          </a:solidFill>
          <a:ln w="12700">
            <a:solidFill>
              <a:srgbClr val="FDE6D4"/>
            </a:solidFill>
            <a:prstDash val="solid"/>
          </a:ln>
        </p:spPr>
      </p:sp>
      <p:pic>
        <p:nvPicPr>
          <p:cNvPr id="8" name="anim1_oi0" descr="preencoded.png">    </p:cNvPr>
          <p:cNvPicPr>
            <a:picLocks noChangeAspect="1"/>
          </p:cNvPicPr>
          <p:nvPr/>
        </p:nvPicPr>
        <p:blipFill>
          <a:blip r:embed="rId3"/>
          <a:stretch>
            <a:fillRect/>
          </a:stretch>
        </p:blipFill>
        <p:spPr>
          <a:xfrm>
            <a:off x="1044245" y="2232965"/>
            <a:ext cx="380390" cy="380390"/>
          </a:xfrm>
          <a:prstGeom prst="rect">
            <a:avLst/>
          </a:prstGeom>
        </p:spPr>
      </p:pic>
      <p:sp>
        <p:nvSpPr>
          <p:cNvPr id="9" name="anim1_ot0"/>
          <p:cNvSpPr txBox="1"/>
          <p:nvPr/>
        </p:nvSpPr>
        <p:spPr>
          <a:xfrm>
            <a:off x="1691640" y="1874520"/>
            <a:ext cx="1371600" cy="1143000"/>
          </a:xfrm>
          <a:prstGeom prst="rect">
            <a:avLst/>
          </a:prstGeom>
          <a:noFill/>
          <a:ln/>
        </p:spPr>
        <p:txBody>
          <a:bodyPr wrap="square" lIns="0" tIns="0" rIns="0" bIns="0" rtlCol="0" anchor="ctr"/>
          <a:lstStyle/>
          <a:p>
            <a:pPr indent="0" marL="0">
              <a:buNone/>
            </a:pPr>
            <a:r>
              <a:rPr lang="en-US" sz="1500" b="1" dirty="0">
                <a:solidFill>
                  <a:srgbClr val="1C1712"/>
                </a:solidFill>
                <a:latin typeface="Calibri" pitchFamily="34" charset="0"/>
                <a:ea typeface="Calibri" pitchFamily="34" charset="-122"/>
                <a:cs typeface="Calibri" pitchFamily="34" charset="-120"/>
              </a:rPr>
              <a:t>One host facility</a:t>
            </a:r>
            <a:endParaRPr lang="en-US" sz="1500" dirty="0"/>
          </a:p>
        </p:txBody>
      </p:sp>
      <p:sp>
        <p:nvSpPr>
          <p:cNvPr id="10" name="anim1_o1"/>
          <p:cNvSpPr/>
          <p:nvPr/>
        </p:nvSpPr>
        <p:spPr>
          <a:xfrm>
            <a:off x="3401568" y="1783080"/>
            <a:ext cx="2560320" cy="1325880"/>
          </a:xfrm>
          <a:prstGeom prst="roundRect">
            <a:avLst>
              <a:gd name="adj" fmla="val 12414"/>
            </a:avLst>
          </a:prstGeom>
          <a:solidFill>
            <a:srgbClr val="FFFFF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11" name="anim1_oi1Bg"/>
          <p:cNvSpPr/>
          <p:nvPr/>
        </p:nvSpPr>
        <p:spPr>
          <a:xfrm>
            <a:off x="3630168" y="2057400"/>
            <a:ext cx="731520" cy="731520"/>
          </a:xfrm>
          <a:prstGeom prst="ellipse">
            <a:avLst/>
          </a:prstGeom>
          <a:solidFill>
            <a:srgbClr val="FDE6D4"/>
          </a:solidFill>
          <a:ln w="12700">
            <a:solidFill>
              <a:srgbClr val="FDE6D4"/>
            </a:solidFill>
            <a:prstDash val="solid"/>
          </a:ln>
        </p:spPr>
      </p:sp>
      <p:pic>
        <p:nvPicPr>
          <p:cNvPr id="12" name="anim1_oi1" descr="preencoded.png">    </p:cNvPr>
          <p:cNvPicPr>
            <a:picLocks noChangeAspect="1"/>
          </p:cNvPicPr>
          <p:nvPr/>
        </p:nvPicPr>
        <p:blipFill>
          <a:blip r:embed="rId4"/>
          <a:stretch>
            <a:fillRect/>
          </a:stretch>
        </p:blipFill>
        <p:spPr>
          <a:xfrm>
            <a:off x="3805733" y="2232965"/>
            <a:ext cx="380390" cy="380390"/>
          </a:xfrm>
          <a:prstGeom prst="rect">
            <a:avLst/>
          </a:prstGeom>
        </p:spPr>
      </p:pic>
      <p:sp>
        <p:nvSpPr>
          <p:cNvPr id="13" name="anim1_ot1"/>
          <p:cNvSpPr txBox="1"/>
          <p:nvPr/>
        </p:nvSpPr>
        <p:spPr>
          <a:xfrm>
            <a:off x="4453128" y="1874520"/>
            <a:ext cx="1371600" cy="1143000"/>
          </a:xfrm>
          <a:prstGeom prst="rect">
            <a:avLst/>
          </a:prstGeom>
          <a:noFill/>
          <a:ln/>
        </p:spPr>
        <p:txBody>
          <a:bodyPr wrap="square" lIns="0" tIns="0" rIns="0" bIns="0" rtlCol="0" anchor="ctr"/>
          <a:lstStyle/>
          <a:p>
            <a:pPr indent="0" marL="0">
              <a:buNone/>
            </a:pPr>
            <a:r>
              <a:rPr lang="en-US" sz="1500" b="1" dirty="0">
                <a:solidFill>
                  <a:srgbClr val="1C1712"/>
                </a:solidFill>
                <a:latin typeface="Calibri" pitchFamily="34" charset="0"/>
                <a:ea typeface="Calibri" pitchFamily="34" charset="-122"/>
                <a:cs typeface="Calibri" pitchFamily="34" charset="-120"/>
              </a:rPr>
              <a:t>One event type</a:t>
            </a:r>
            <a:endParaRPr lang="en-US" sz="1500" dirty="0"/>
          </a:p>
        </p:txBody>
      </p:sp>
      <p:sp>
        <p:nvSpPr>
          <p:cNvPr id="14" name="anim1_o2"/>
          <p:cNvSpPr/>
          <p:nvPr/>
        </p:nvSpPr>
        <p:spPr>
          <a:xfrm>
            <a:off x="6163056" y="1783080"/>
            <a:ext cx="2560320" cy="1325880"/>
          </a:xfrm>
          <a:prstGeom prst="roundRect">
            <a:avLst>
              <a:gd name="adj" fmla="val 12414"/>
            </a:avLst>
          </a:prstGeom>
          <a:solidFill>
            <a:srgbClr val="FFFFF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15" name="anim1_oi2Bg"/>
          <p:cNvSpPr/>
          <p:nvPr/>
        </p:nvSpPr>
        <p:spPr>
          <a:xfrm>
            <a:off x="6391656" y="2057400"/>
            <a:ext cx="731520" cy="731520"/>
          </a:xfrm>
          <a:prstGeom prst="ellipse">
            <a:avLst/>
          </a:prstGeom>
          <a:solidFill>
            <a:srgbClr val="FDE6D4"/>
          </a:solidFill>
          <a:ln w="12700">
            <a:solidFill>
              <a:srgbClr val="FDE6D4"/>
            </a:solidFill>
            <a:prstDash val="solid"/>
          </a:ln>
        </p:spPr>
      </p:sp>
      <p:pic>
        <p:nvPicPr>
          <p:cNvPr id="16" name="anim1_oi2" descr="preencoded.png">    </p:cNvPr>
          <p:cNvPicPr>
            <a:picLocks noChangeAspect="1"/>
          </p:cNvPicPr>
          <p:nvPr/>
        </p:nvPicPr>
        <p:blipFill>
          <a:blip r:embed="rId5"/>
          <a:stretch>
            <a:fillRect/>
          </a:stretch>
        </p:blipFill>
        <p:spPr>
          <a:xfrm>
            <a:off x="6567221" y="2232965"/>
            <a:ext cx="380390" cy="380390"/>
          </a:xfrm>
          <a:prstGeom prst="rect">
            <a:avLst/>
          </a:prstGeom>
        </p:spPr>
      </p:pic>
      <p:sp>
        <p:nvSpPr>
          <p:cNvPr id="17" name="anim1_ot2"/>
          <p:cNvSpPr txBox="1"/>
          <p:nvPr/>
        </p:nvSpPr>
        <p:spPr>
          <a:xfrm>
            <a:off x="7214616" y="1874520"/>
            <a:ext cx="1371600" cy="1143000"/>
          </a:xfrm>
          <a:prstGeom prst="rect">
            <a:avLst/>
          </a:prstGeom>
          <a:noFill/>
          <a:ln/>
        </p:spPr>
        <p:txBody>
          <a:bodyPr wrap="square" lIns="0" tIns="0" rIns="0" bIns="0" rtlCol="0" anchor="ctr"/>
          <a:lstStyle/>
          <a:p>
            <a:pPr indent="0" marL="0">
              <a:buNone/>
            </a:pPr>
            <a:r>
              <a:rPr lang="en-US" sz="1500" b="1" dirty="0">
                <a:solidFill>
                  <a:srgbClr val="1C1712"/>
                </a:solidFill>
                <a:latin typeface="Calibri" pitchFamily="34" charset="0"/>
                <a:ea typeface="Calibri" pitchFamily="34" charset="-122"/>
                <a:cs typeface="Calibri" pitchFamily="34" charset="-120"/>
              </a:rPr>
              <a:t>One verified food bank</a:t>
            </a:r>
            <a:endParaRPr lang="en-US" sz="1500" dirty="0"/>
          </a:p>
        </p:txBody>
      </p:sp>
      <p:sp>
        <p:nvSpPr>
          <p:cNvPr id="18" name="anim1_o3"/>
          <p:cNvSpPr/>
          <p:nvPr/>
        </p:nvSpPr>
        <p:spPr>
          <a:xfrm>
            <a:off x="8924544" y="1783080"/>
            <a:ext cx="2560320" cy="1325880"/>
          </a:xfrm>
          <a:prstGeom prst="roundRect">
            <a:avLst>
              <a:gd name="adj" fmla="val 12414"/>
            </a:avLst>
          </a:prstGeom>
          <a:solidFill>
            <a:srgbClr val="FFFFF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19" name="anim1_oi3Bg"/>
          <p:cNvSpPr/>
          <p:nvPr/>
        </p:nvSpPr>
        <p:spPr>
          <a:xfrm>
            <a:off x="9153144" y="2057400"/>
            <a:ext cx="731520" cy="731520"/>
          </a:xfrm>
          <a:prstGeom prst="ellipse">
            <a:avLst/>
          </a:prstGeom>
          <a:solidFill>
            <a:srgbClr val="FDE6D4"/>
          </a:solidFill>
          <a:ln w="12700">
            <a:solidFill>
              <a:srgbClr val="FDE6D4"/>
            </a:solidFill>
            <a:prstDash val="solid"/>
          </a:ln>
        </p:spPr>
      </p:sp>
      <p:pic>
        <p:nvPicPr>
          <p:cNvPr id="20" name="anim1_oi3" descr="preencoded.png">    </p:cNvPr>
          <p:cNvPicPr>
            <a:picLocks noChangeAspect="1"/>
          </p:cNvPicPr>
          <p:nvPr/>
        </p:nvPicPr>
        <p:blipFill>
          <a:blip r:embed="rId6"/>
          <a:stretch>
            <a:fillRect/>
          </a:stretch>
        </p:blipFill>
        <p:spPr>
          <a:xfrm>
            <a:off x="9328709" y="2232965"/>
            <a:ext cx="380390" cy="380390"/>
          </a:xfrm>
          <a:prstGeom prst="rect">
            <a:avLst/>
          </a:prstGeom>
        </p:spPr>
      </p:pic>
      <p:sp>
        <p:nvSpPr>
          <p:cNvPr id="21" name="anim1_ot3"/>
          <p:cNvSpPr txBox="1"/>
          <p:nvPr/>
        </p:nvSpPr>
        <p:spPr>
          <a:xfrm>
            <a:off x="9976104" y="1874520"/>
            <a:ext cx="1371600" cy="1143000"/>
          </a:xfrm>
          <a:prstGeom prst="rect">
            <a:avLst/>
          </a:prstGeom>
          <a:noFill/>
          <a:ln/>
        </p:spPr>
        <p:txBody>
          <a:bodyPr wrap="square" lIns="0" tIns="0" rIns="0" bIns="0" rtlCol="0" anchor="ctr"/>
          <a:lstStyle/>
          <a:p>
            <a:pPr indent="0" marL="0">
              <a:buNone/>
            </a:pPr>
            <a:r>
              <a:rPr lang="en-US" sz="1500" b="1" dirty="0">
                <a:solidFill>
                  <a:srgbClr val="1C1712"/>
                </a:solidFill>
                <a:latin typeface="Calibri" pitchFamily="34" charset="0"/>
                <a:ea typeface="Calibri" pitchFamily="34" charset="-122"/>
                <a:cs typeface="Calibri" pitchFamily="34" charset="-120"/>
              </a:rPr>
              <a:t>One volunteer pickup pool</a:t>
            </a:r>
            <a:endParaRPr lang="en-US" sz="1500" dirty="0"/>
          </a:p>
        </p:txBody>
      </p:sp>
      <p:sp>
        <p:nvSpPr>
          <p:cNvPr id="22" name="anim2_m"/>
          <p:cNvSpPr/>
          <p:nvPr/>
        </p:nvSpPr>
        <p:spPr>
          <a:xfrm>
            <a:off x="640080" y="3383280"/>
            <a:ext cx="6629400" cy="2651760"/>
          </a:xfrm>
          <a:prstGeom prst="roundRect">
            <a:avLst>
              <a:gd name="adj" fmla="val 6207"/>
            </a:avLst>
          </a:prstGeom>
          <a:solidFill>
            <a:srgbClr val="FFFFFF"/>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23" name="anim2_mt"/>
          <p:cNvSpPr txBox="1"/>
          <p:nvPr/>
        </p:nvSpPr>
        <p:spPr>
          <a:xfrm>
            <a:off x="960120" y="3566160"/>
            <a:ext cx="6035040" cy="2331720"/>
          </a:xfrm>
          <a:prstGeom prst="rect">
            <a:avLst/>
          </a:prstGeom>
          <a:noFill/>
          <a:ln/>
        </p:spPr>
        <p:txBody>
          <a:bodyPr wrap="square" lIns="0" tIns="0" rIns="0" bIns="0" rtlCol="0" anchor="t"/>
          <a:lstStyle/>
          <a:p>
            <a:pPr indent="0" marL="0">
              <a:spcAft>
                <a:spcPts val="600"/>
              </a:spcAft>
              <a:buNone/>
            </a:pPr>
            <a:r>
              <a:rPr lang="en-US" sz="1100" b="1" spc="200" kern="0" dirty="0">
                <a:solidFill>
                  <a:srgbClr val="BF5320"/>
                </a:solidFill>
                <a:latin typeface="Calibri" pitchFamily="34" charset="0"/>
                <a:ea typeface="Calibri" pitchFamily="34" charset="-122"/>
                <a:cs typeface="Calibri" pitchFamily="34" charset="-120"/>
              </a:rPr>
              <a:t>WHAT WE’LL MEASURE</a:t>
            </a:r>
            <a:endParaRPr lang="en-US" sz="1600" dirty="0"/>
          </a:p>
          <a:p>
            <a:pPr marL="342900" indent="-342900">
              <a:spcAft>
                <a:spcPts val="600"/>
              </a:spcAft>
              <a:buSzPct val="100000"/>
              <a:buChar char="•"/>
            </a:pPr>
            <a:r>
              <a:rPr lang="en-US" sz="1600" dirty="0">
                <a:solidFill>
                  <a:srgbClr val="1C1712"/>
                </a:solidFill>
                <a:latin typeface="Calibri" pitchFamily="34" charset="0"/>
                <a:ea typeface="Calibri" pitchFamily="34" charset="-122"/>
                <a:cs typeface="Calibri" pitchFamily="34" charset="-120"/>
              </a:rPr>
              <a:t>Pounds and meals moved vs. forecast</a:t>
            </a:r>
            <a:endParaRPr lang="en-US" sz="1600" dirty="0"/>
          </a:p>
          <a:p>
            <a:pPr marL="342900" indent="-342900">
              <a:spcAft>
                <a:spcPts val="600"/>
              </a:spcAft>
              <a:buSzPct val="100000"/>
              <a:buChar char="•"/>
            </a:pPr>
            <a:r>
              <a:rPr lang="en-US" sz="1600" dirty="0">
                <a:solidFill>
                  <a:srgbClr val="1C1712"/>
                </a:solidFill>
                <a:latin typeface="Calibri" pitchFamily="34" charset="0"/>
                <a:ea typeface="Calibri" pitchFamily="34" charset="-122"/>
                <a:cs typeface="Calibri" pitchFamily="34" charset="-120"/>
              </a:rPr>
              <a:t>Offers claimed and actually picked up</a:t>
            </a:r>
            <a:endParaRPr lang="en-US" sz="1600" dirty="0"/>
          </a:p>
          <a:p>
            <a:pPr marL="342900" indent="-342900">
              <a:spcAft>
                <a:spcPts val="600"/>
              </a:spcAft>
              <a:buSzPct val="100000"/>
              <a:buChar char="•"/>
            </a:pPr>
            <a:r>
              <a:rPr lang="en-US" sz="1600" dirty="0">
                <a:solidFill>
                  <a:srgbClr val="1C1712"/>
                </a:solidFill>
                <a:latin typeface="Calibri" pitchFamily="34" charset="0"/>
                <a:ea typeface="Calibri" pitchFamily="34" charset="-122"/>
                <a:cs typeface="Calibri" pitchFamily="34" charset="-120"/>
              </a:rPr>
              <a:t>Minutes from confirmation to pickup</a:t>
            </a:r>
            <a:endParaRPr lang="en-US" sz="1600" dirty="0"/>
          </a:p>
          <a:p>
            <a:pPr marL="342900" indent="-342900">
              <a:spcAft>
                <a:spcPts val="600"/>
              </a:spcAft>
              <a:buSzPct val="100000"/>
              <a:buChar char="•"/>
            </a:pPr>
            <a:r>
              <a:rPr lang="en-US" sz="1600" dirty="0">
                <a:solidFill>
                  <a:srgbClr val="1C1712"/>
                </a:solidFill>
                <a:latin typeface="Calibri" pitchFamily="34" charset="0"/>
                <a:ea typeface="Calibri" pitchFamily="34" charset="-122"/>
                <a:cs typeface="Calibri" pitchFamily="34" charset="-120"/>
              </a:rPr>
              <a:t>Organizer effort and food-bank acceptance</a:t>
            </a:r>
            <a:endParaRPr lang="en-US" sz="1600" dirty="0"/>
          </a:p>
        </p:txBody>
      </p:sp>
      <p:sp>
        <p:nvSpPr>
          <p:cNvPr id="24" name="anim3_f"/>
          <p:cNvSpPr/>
          <p:nvPr/>
        </p:nvSpPr>
        <p:spPr>
          <a:xfrm>
            <a:off x="7543800" y="3383280"/>
            <a:ext cx="3931920" cy="2651760"/>
          </a:xfrm>
          <a:prstGeom prst="roundRect">
            <a:avLst>
              <a:gd name="adj" fmla="val 6207"/>
            </a:avLst>
          </a:prstGeom>
          <a:solidFill>
            <a:srgbClr val="165840"/>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25" name="anim3_ft"/>
          <p:cNvSpPr txBox="1"/>
          <p:nvPr/>
        </p:nvSpPr>
        <p:spPr>
          <a:xfrm>
            <a:off x="7818120" y="3566160"/>
            <a:ext cx="3429000" cy="2331720"/>
          </a:xfrm>
          <a:prstGeom prst="rect">
            <a:avLst/>
          </a:prstGeom>
          <a:noFill/>
          <a:ln/>
        </p:spPr>
        <p:txBody>
          <a:bodyPr wrap="square" lIns="0" tIns="0" rIns="0" bIns="0" rtlCol="0" anchor="t"/>
          <a:lstStyle/>
          <a:p>
            <a:pPr indent="0" marL="0">
              <a:spcAft>
                <a:spcPts val="800"/>
              </a:spcAft>
              <a:buNone/>
            </a:pPr>
            <a:r>
              <a:rPr lang="en-US" sz="1100" b="1" spc="200" kern="0" dirty="0">
                <a:solidFill>
                  <a:srgbClr val="F7B98F"/>
                </a:solidFill>
                <a:latin typeface="Calibri" pitchFamily="34" charset="0"/>
                <a:ea typeface="Calibri" pitchFamily="34" charset="-122"/>
                <a:cs typeface="Calibri" pitchFamily="34" charset="-120"/>
              </a:rPr>
              <a:t>FUNDING HYPOTHESIS</a:t>
            </a:r>
            <a:endParaRPr lang="en-US" sz="1100" dirty="0"/>
          </a:p>
          <a:p>
            <a:pPr indent="0" marL="0">
              <a:spcAft>
                <a:spcPts val="800"/>
              </a:spcAft>
              <a:buNone/>
            </a:pPr>
            <a:r>
              <a:rPr lang="en-US" sz="1600" dirty="0">
                <a:solidFill>
                  <a:srgbClr val="FFFFFF"/>
                </a:solidFill>
                <a:latin typeface="Calibri" pitchFamily="34" charset="0"/>
                <a:ea typeface="Calibri" pitchFamily="34" charset="-122"/>
                <a:cs typeface="Calibri" pitchFamily="34" charset="-120"/>
              </a:rPr>
              <a:t>Host facilities and sustainability budgets fund coordination. Food banks never pay per donation.</a:t>
            </a:r>
            <a:endParaRPr lang="en-US" sz="1100" dirty="0"/>
          </a:p>
          <a:p>
            <a:pPr indent="0" marL="0">
              <a:spcAft>
                <a:spcPts val="800"/>
              </a:spcAft>
              <a:buNone/>
            </a:pPr>
            <a:r>
              <a:rPr lang="en-US" sz="1300" i="1" dirty="0">
                <a:solidFill>
                  <a:srgbClr val="D9E6DC"/>
                </a:solidFill>
                <a:latin typeface="Calibri" pitchFamily="34" charset="0"/>
                <a:ea typeface="Calibri" pitchFamily="34" charset="-122"/>
                <a:cs typeface="Calibri" pitchFamily="34" charset="-120"/>
              </a:rPr>
              <a:t>Not yet validated — the pilot tests it.</a:t>
            </a:r>
            <a:endParaRPr lang="en-US" sz="1100" dirty="0"/>
          </a:p>
        </p:txBody>
      </p:sp>
      <p:pic>
        <p:nvPicPr>
          <p:cNvPr id="26" name="footLogoL" descr="preencoded.png">    </p:cNvPr>
          <p:cNvPicPr>
            <a:picLocks noChangeAspect="1"/>
          </p:cNvPicPr>
          <p:nvPr/>
        </p:nvPicPr>
        <p:blipFill>
          <a:blip r:embed="rId7"/>
          <a:stretch>
            <a:fillRect/>
          </a:stretch>
        </p:blipFill>
        <p:spPr>
          <a:xfrm>
            <a:off x="640080" y="6355080"/>
            <a:ext cx="384048" cy="252476"/>
          </a:xfrm>
          <a:prstGeom prst="rect">
            <a:avLst/>
          </a:prstGeom>
        </p:spPr>
      </p:pic>
      <p:pic>
        <p:nvPicPr>
          <p:cNvPr id="27" name="footLogoR" descr="preencoded.png">    </p:cNvPr>
          <p:cNvPicPr>
            <a:picLocks noChangeAspect="1"/>
          </p:cNvPicPr>
          <p:nvPr/>
        </p:nvPicPr>
        <p:blipFill>
          <a:blip r:embed="rId8"/>
          <a:stretch>
            <a:fillRect/>
          </a:stretch>
        </p:blipFill>
        <p:spPr>
          <a:xfrm>
            <a:off x="640080" y="6355080"/>
            <a:ext cx="384048" cy="252476"/>
          </a:xfrm>
          <a:prstGeom prst="rect">
            <a:avLst/>
          </a:prstGeom>
        </p:spPr>
      </p:pic>
      <p:pic>
        <p:nvPicPr>
          <p:cNvPr id="28" name="footLogoS" descr="preencoded.png">    </p:cNvPr>
          <p:cNvPicPr>
            <a:picLocks noChangeAspect="1"/>
          </p:cNvPicPr>
          <p:nvPr/>
        </p:nvPicPr>
        <p:blipFill>
          <a:blip r:embed="rId9"/>
          <a:stretch>
            <a:fillRect/>
          </a:stretch>
        </p:blipFill>
        <p:spPr>
          <a:xfrm>
            <a:off x="640080" y="6355080"/>
            <a:ext cx="384048" cy="252476"/>
          </a:xfrm>
          <a:prstGeom prst="rect">
            <a:avLst/>
          </a:prstGeom>
        </p:spPr>
      </p:pic>
      <p:sp>
        <p:nvSpPr>
          <p:cNvPr id="29" name="Text 18"/>
          <p:cNvSpPr txBox="1"/>
          <p:nvPr/>
        </p:nvSpPr>
        <p:spPr>
          <a:xfrm>
            <a:off x="1097280" y="6327648"/>
            <a:ext cx="3657600" cy="292608"/>
          </a:xfrm>
          <a:prstGeom prst="rect">
            <a:avLst/>
          </a:prstGeom>
          <a:noFill/>
          <a:ln/>
        </p:spPr>
        <p:txBody>
          <a:bodyPr wrap="square" lIns="0" tIns="0" rIns="0" bIns="0" rtlCol="0" anchor="ctr"/>
          <a:lstStyle/>
          <a:p>
            <a:pPr indent="0" marL="0">
              <a:buNone/>
            </a:pPr>
            <a:r>
              <a:rPr lang="en-US" sz="1000" dirty="0">
                <a:solidFill>
                  <a:srgbClr val="5B5148"/>
                </a:solidFill>
                <a:latin typeface="Calibri" pitchFamily="34" charset="0"/>
                <a:ea typeface="Calibri" pitchFamily="34" charset="-122"/>
                <a:cs typeface="Calibri" pitchFamily="34" charset="-120"/>
              </a:rPr>
              <a:t>Not Wasted · Surplus saved</a:t>
            </a:r>
            <a:endParaRPr lang="en-US" sz="1000" dirty="0"/>
          </a:p>
        </p:txBody>
      </p:sp>
      <p:sp>
        <p:nvSpPr>
          <p:cNvPr id="30" name="Text 19"/>
          <p:cNvSpPr txBox="1"/>
          <p:nvPr/>
        </p:nvSpPr>
        <p:spPr>
          <a:xfrm>
            <a:off x="10607040" y="6327648"/>
            <a:ext cx="914400" cy="292608"/>
          </a:xfrm>
          <a:prstGeom prst="rect">
            <a:avLst/>
          </a:prstGeom>
          <a:noFill/>
          <a:ln/>
        </p:spPr>
        <p:txBody>
          <a:bodyPr wrap="square" lIns="0" tIns="0" rIns="0" bIns="0" rtlCol="0" anchor="ctr"/>
          <a:lstStyle/>
          <a:p>
            <a:pPr algn="r" indent="0" marL="0">
              <a:buNone/>
            </a:pPr>
            <a:r>
              <a:rPr lang="en-US" sz="1000" dirty="0">
                <a:solidFill>
                  <a:srgbClr val="5B5148"/>
                </a:solidFill>
                <a:latin typeface="Calibri" pitchFamily="34" charset="0"/>
                <a:ea typeface="Calibri" pitchFamily="34" charset="-122"/>
                <a:cs typeface="Calibri" pitchFamily="34" charset="-120"/>
              </a:rPr>
              <a:t>11 / 12</a:t>
            </a:r>
            <a:endParaRPr lang="en-US" sz="1000" dirty="0"/>
          </a:p>
        </p:txBody>
      </p:sp>
    </p:spTree>
  </p:cSld>
  <p:clrMapOvr>
    <a:masterClrMapping/>
  </p:clrMapOvr>
  <mc:AlternateContent>
    <mc:Choice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10" presetClass="entr" presetSubtype="0" fill="hold"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600"/>
                                        <p:tgtEl>
                                          <p:spTgt spid="6"/>
                                        </p:tgtEl>
                                      </p:cBhvr>
                                    </p:animEffect>
                                    <p:anim calcmode="lin" valueType="num">
                                      <p:cBhvr additive="base">
                                        <p:cTn id="7" dur="600" fill="hold"/>
                                        <p:tgtEl>
                                          <p:spTgt spid="6"/>
                                        </p:tgtEl>
                                        <p:attrNameLst>
                                          <p:attrName>ppt_y</p:attrName>
                                        </p:attrNameLst>
                                      </p:cBhvr>
                                      <p:tavLst>
                                        <p:tav tm="0">
                                          <p:val>
                                            <p:strVal val="#ppt_y+0.04"/>
                                          </p:val>
                                        </p:tav>
                                        <p:tav tm="100000">
                                          <p:val>
                                            <p:strVal val="#ppt_y"/>
                                          </p:val>
                                        </p:tav>
                                      </p:tavLst>
                                    </p:anim>
                                  </p:childTnLst>
                                </p:cTn>
                              </p:par>
                              <p:par>
                                <p:cTn id="12" presetID="10" presetClass="entr" presetSubtype="0" fill="hold" nodeType="withEffect">
                                  <p:stCondLst>
                                    <p:cond delay="15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600"/>
                                        <p:tgtEl>
                                          <p:spTgt spid="7"/>
                                        </p:tgtEl>
                                      </p:cBhvr>
                                    </p:animEffect>
                                    <p:anim calcmode="lin" valueType="num">
                                      <p:cBhvr additive="base">
                                        <p:cTn id="11" dur="600" fill="hold"/>
                                        <p:tgtEl>
                                          <p:spTgt spid="7"/>
                                        </p:tgtEl>
                                        <p:attrNameLst>
                                          <p:attrName>ppt_y</p:attrName>
                                        </p:attrNameLst>
                                      </p:cBhvr>
                                      <p:tavLst>
                                        <p:tav tm="0">
                                          <p:val>
                                            <p:strVal val="#ppt_y+0.04"/>
                                          </p:val>
                                        </p:tav>
                                        <p:tav tm="100000">
                                          <p:val>
                                            <p:strVal val="#ppt_y"/>
                                          </p:val>
                                        </p:tav>
                                      </p:tavLst>
                                    </p:anim>
                                  </p:childTnLst>
                                </p:cTn>
                              </p:par>
                              <p:par>
                                <p:cTn id="16" presetID="10" presetClass="entr" presetSubtype="0" fill="hold" nodeType="withEffect">
                                  <p:stCondLst>
                                    <p:cond delay="15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600"/>
                                        <p:tgtEl>
                                          <p:spTgt spid="8"/>
                                        </p:tgtEl>
                                      </p:cBhvr>
                                    </p:animEffect>
                                    <p:anim calcmode="lin" valueType="num">
                                      <p:cBhvr additive="base">
                                        <p:cTn id="15" dur="600" fill="hold"/>
                                        <p:tgtEl>
                                          <p:spTgt spid="8"/>
                                        </p:tgtEl>
                                        <p:attrNameLst>
                                          <p:attrName>ppt_y</p:attrName>
                                        </p:attrNameLst>
                                      </p:cBhvr>
                                      <p:tavLst>
                                        <p:tav tm="0">
                                          <p:val>
                                            <p:strVal val="#ppt_y+0.04"/>
                                          </p:val>
                                        </p:tav>
                                        <p:tav tm="100000">
                                          <p:val>
                                            <p:strVal val="#ppt_y"/>
                                          </p:val>
                                        </p:tav>
                                      </p:tavLst>
                                    </p:anim>
                                  </p:childTnLst>
                                </p:cTn>
                              </p:par>
                              <p:par>
                                <p:cTn id="20" presetID="10" presetClass="entr" presetSubtype="0" fill="hold" nodeType="withEffect">
                                  <p:stCondLst>
                                    <p:cond delay="15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600"/>
                                        <p:tgtEl>
                                          <p:spTgt spid="9"/>
                                        </p:tgtEl>
                                      </p:cBhvr>
                                    </p:animEffect>
                                    <p:anim calcmode="lin" valueType="num">
                                      <p:cBhvr additive="base">
                                        <p:cTn id="19" dur="600" fill="hold"/>
                                        <p:tgtEl>
                                          <p:spTgt spid="9"/>
                                        </p:tgtEl>
                                        <p:attrNameLst>
                                          <p:attrName>ppt_y</p:attrName>
                                        </p:attrNameLst>
                                      </p:cBhvr>
                                      <p:tavLst>
                                        <p:tav tm="0">
                                          <p:val>
                                            <p:strVal val="#ppt_y+0.04"/>
                                          </p:val>
                                        </p:tav>
                                        <p:tav tm="100000">
                                          <p:val>
                                            <p:strVal val="#ppt_y"/>
                                          </p:val>
                                        </p:tav>
                                      </p:tavLst>
                                    </p:anim>
                                  </p:childTnLst>
                                </p:cTn>
                              </p:par>
                              <p:par>
                                <p:cTn id="24" presetID="10" presetClass="entr" presetSubtype="0" fill="hold" nodeType="withEffect">
                                  <p:stCondLst>
                                    <p:cond delay="15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600"/>
                                        <p:tgtEl>
                                          <p:spTgt spid="10"/>
                                        </p:tgtEl>
                                      </p:cBhvr>
                                    </p:animEffect>
                                    <p:anim calcmode="lin" valueType="num">
                                      <p:cBhvr additive="base">
                                        <p:cTn id="23" dur="600" fill="hold"/>
                                        <p:tgtEl>
                                          <p:spTgt spid="10"/>
                                        </p:tgtEl>
                                        <p:attrNameLst>
                                          <p:attrName>ppt_y</p:attrName>
                                        </p:attrNameLst>
                                      </p:cBhvr>
                                      <p:tavLst>
                                        <p:tav tm="0">
                                          <p:val>
                                            <p:strVal val="#ppt_y+0.04"/>
                                          </p:val>
                                        </p:tav>
                                        <p:tav tm="100000">
                                          <p:val>
                                            <p:strVal val="#ppt_y"/>
                                          </p:val>
                                        </p:tav>
                                      </p:tavLst>
                                    </p:anim>
                                  </p:childTnLst>
                                </p:cTn>
                              </p:par>
                              <p:par>
                                <p:cTn id="28" presetID="10" presetClass="entr" presetSubtype="0" fill="hold" nodeType="withEffect">
                                  <p:stCondLst>
                                    <p:cond delay="15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600"/>
                                        <p:tgtEl>
                                          <p:spTgt spid="11"/>
                                        </p:tgtEl>
                                      </p:cBhvr>
                                    </p:animEffect>
                                    <p:anim calcmode="lin" valueType="num">
                                      <p:cBhvr additive="base">
                                        <p:cTn id="27" dur="600" fill="hold"/>
                                        <p:tgtEl>
                                          <p:spTgt spid="11"/>
                                        </p:tgtEl>
                                        <p:attrNameLst>
                                          <p:attrName>ppt_y</p:attrName>
                                        </p:attrNameLst>
                                      </p:cBhvr>
                                      <p:tavLst>
                                        <p:tav tm="0">
                                          <p:val>
                                            <p:strVal val="#ppt_y+0.04"/>
                                          </p:val>
                                        </p:tav>
                                        <p:tav tm="100000">
                                          <p:val>
                                            <p:strVal val="#ppt_y"/>
                                          </p:val>
                                        </p:tav>
                                      </p:tavLst>
                                    </p:anim>
                                  </p:childTnLst>
                                </p:cTn>
                              </p:par>
                              <p:par>
                                <p:cTn id="32" presetID="10" presetClass="entr" presetSubtype="0" fill="hold" nodeType="withEffect">
                                  <p:stCondLst>
                                    <p:cond delay="15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600"/>
                                        <p:tgtEl>
                                          <p:spTgt spid="12"/>
                                        </p:tgtEl>
                                      </p:cBhvr>
                                    </p:animEffect>
                                    <p:anim calcmode="lin" valueType="num">
                                      <p:cBhvr additive="base">
                                        <p:cTn id="31" dur="600" fill="hold"/>
                                        <p:tgtEl>
                                          <p:spTgt spid="12"/>
                                        </p:tgtEl>
                                        <p:attrNameLst>
                                          <p:attrName>ppt_y</p:attrName>
                                        </p:attrNameLst>
                                      </p:cBhvr>
                                      <p:tavLst>
                                        <p:tav tm="0">
                                          <p:val>
                                            <p:strVal val="#ppt_y+0.04"/>
                                          </p:val>
                                        </p:tav>
                                        <p:tav tm="100000">
                                          <p:val>
                                            <p:strVal val="#ppt_y"/>
                                          </p:val>
                                        </p:tav>
                                      </p:tavLst>
                                    </p:anim>
                                  </p:childTnLst>
                                </p:cTn>
                              </p:par>
                              <p:par>
                                <p:cTn id="36" presetID="10" presetClass="entr" presetSubtype="0" fill="hold" nodeType="withEffect">
                                  <p:stCondLst>
                                    <p:cond delay="15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p:tgtEl>
                                          <p:spTgt spid="13"/>
                                        </p:tgtEl>
                                      </p:cBhvr>
                                    </p:animEffect>
                                    <p:anim calcmode="lin" valueType="num">
                                      <p:cBhvr additive="base">
                                        <p:cTn id="35" dur="600" fill="hold"/>
                                        <p:tgtEl>
                                          <p:spTgt spid="13"/>
                                        </p:tgtEl>
                                        <p:attrNameLst>
                                          <p:attrName>ppt_y</p:attrName>
                                        </p:attrNameLst>
                                      </p:cBhvr>
                                      <p:tavLst>
                                        <p:tav tm="0">
                                          <p:val>
                                            <p:strVal val="#ppt_y+0.04"/>
                                          </p:val>
                                        </p:tav>
                                        <p:tav tm="100000">
                                          <p:val>
                                            <p:strVal val="#ppt_y"/>
                                          </p:val>
                                        </p:tav>
                                      </p:tavLst>
                                    </p:anim>
                                  </p:childTnLst>
                                </p:cTn>
                              </p:par>
                              <p:par>
                                <p:cTn id="40" presetID="10" presetClass="entr" presetSubtype="0" fill="hold" nodeType="withEffect">
                                  <p:stCondLst>
                                    <p:cond delay="15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600"/>
                                        <p:tgtEl>
                                          <p:spTgt spid="14"/>
                                        </p:tgtEl>
                                      </p:cBhvr>
                                    </p:animEffect>
                                    <p:anim calcmode="lin" valueType="num">
                                      <p:cBhvr additive="base">
                                        <p:cTn id="39" dur="600" fill="hold"/>
                                        <p:tgtEl>
                                          <p:spTgt spid="14"/>
                                        </p:tgtEl>
                                        <p:attrNameLst>
                                          <p:attrName>ppt_y</p:attrName>
                                        </p:attrNameLst>
                                      </p:cBhvr>
                                      <p:tavLst>
                                        <p:tav tm="0">
                                          <p:val>
                                            <p:strVal val="#ppt_y+0.04"/>
                                          </p:val>
                                        </p:tav>
                                        <p:tav tm="100000">
                                          <p:val>
                                            <p:strVal val="#ppt_y"/>
                                          </p:val>
                                        </p:tav>
                                      </p:tavLst>
                                    </p:anim>
                                  </p:childTnLst>
                                </p:cTn>
                              </p:par>
                              <p:par>
                                <p:cTn id="44" presetID="10" presetClass="entr" presetSubtype="0" fill="hold" nodeType="withEffect">
                                  <p:stCondLst>
                                    <p:cond delay="15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anim calcmode="lin" valueType="num">
                                      <p:cBhvr additive="base">
                                        <p:cTn id="43" dur="600" fill="hold"/>
                                        <p:tgtEl>
                                          <p:spTgt spid="15"/>
                                        </p:tgtEl>
                                        <p:attrNameLst>
                                          <p:attrName>ppt_y</p:attrName>
                                        </p:attrNameLst>
                                      </p:cBhvr>
                                      <p:tavLst>
                                        <p:tav tm="0">
                                          <p:val>
                                            <p:strVal val="#ppt_y+0.04"/>
                                          </p:val>
                                        </p:tav>
                                        <p:tav tm="100000">
                                          <p:val>
                                            <p:strVal val="#ppt_y"/>
                                          </p:val>
                                        </p:tav>
                                      </p:tavLst>
                                    </p:anim>
                                  </p:childTnLst>
                                </p:cTn>
                              </p:par>
                              <p:par>
                                <p:cTn id="48" presetID="10" presetClass="entr" presetSubtype="0" fill="hold" nodeType="withEffect">
                                  <p:stCondLst>
                                    <p:cond delay="15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600"/>
                                        <p:tgtEl>
                                          <p:spTgt spid="16"/>
                                        </p:tgtEl>
                                      </p:cBhvr>
                                    </p:animEffect>
                                    <p:anim calcmode="lin" valueType="num">
                                      <p:cBhvr additive="base">
                                        <p:cTn id="47" dur="600" fill="hold"/>
                                        <p:tgtEl>
                                          <p:spTgt spid="16"/>
                                        </p:tgtEl>
                                        <p:attrNameLst>
                                          <p:attrName>ppt_y</p:attrName>
                                        </p:attrNameLst>
                                      </p:cBhvr>
                                      <p:tavLst>
                                        <p:tav tm="0">
                                          <p:val>
                                            <p:strVal val="#ppt_y+0.04"/>
                                          </p:val>
                                        </p:tav>
                                        <p:tav tm="100000">
                                          <p:val>
                                            <p:strVal val="#ppt_y"/>
                                          </p:val>
                                        </p:tav>
                                      </p:tavLst>
                                    </p:anim>
                                  </p:childTnLst>
                                </p:cTn>
                              </p:par>
                              <p:par>
                                <p:cTn id="52" presetID="10" presetClass="entr" presetSubtype="0" fill="hold" nodeType="withEffect">
                                  <p:stCondLst>
                                    <p:cond delay="15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600"/>
                                        <p:tgtEl>
                                          <p:spTgt spid="17"/>
                                        </p:tgtEl>
                                      </p:cBhvr>
                                    </p:animEffect>
                                    <p:anim calcmode="lin" valueType="num">
                                      <p:cBhvr additive="base">
                                        <p:cTn id="51" dur="600" fill="hold"/>
                                        <p:tgtEl>
                                          <p:spTgt spid="17"/>
                                        </p:tgtEl>
                                        <p:attrNameLst>
                                          <p:attrName>ppt_y</p:attrName>
                                        </p:attrNameLst>
                                      </p:cBhvr>
                                      <p:tavLst>
                                        <p:tav tm="0">
                                          <p:val>
                                            <p:strVal val="#ppt_y+0.04"/>
                                          </p:val>
                                        </p:tav>
                                        <p:tav tm="100000">
                                          <p:val>
                                            <p:strVal val="#ppt_y"/>
                                          </p:val>
                                        </p:tav>
                                      </p:tavLst>
                                    </p:anim>
                                  </p:childTnLst>
                                </p:cTn>
                              </p:par>
                              <p:par>
                                <p:cTn id="56" presetID="10" presetClass="entr" presetSubtype="0" fill="hold" nodeType="withEffect">
                                  <p:stCondLst>
                                    <p:cond delay="15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600"/>
                                        <p:tgtEl>
                                          <p:spTgt spid="18"/>
                                        </p:tgtEl>
                                      </p:cBhvr>
                                    </p:animEffect>
                                    <p:anim calcmode="lin" valueType="num">
                                      <p:cBhvr additive="base">
                                        <p:cTn id="55" dur="600" fill="hold"/>
                                        <p:tgtEl>
                                          <p:spTgt spid="18"/>
                                        </p:tgtEl>
                                        <p:attrNameLst>
                                          <p:attrName>ppt_y</p:attrName>
                                        </p:attrNameLst>
                                      </p:cBhvr>
                                      <p:tavLst>
                                        <p:tav tm="0">
                                          <p:val>
                                            <p:strVal val="#ppt_y+0.04"/>
                                          </p:val>
                                        </p:tav>
                                        <p:tav tm="100000">
                                          <p:val>
                                            <p:strVal val="#ppt_y"/>
                                          </p:val>
                                        </p:tav>
                                      </p:tavLst>
                                    </p:anim>
                                  </p:childTnLst>
                                </p:cTn>
                              </p:par>
                              <p:par>
                                <p:cTn id="60" presetID="10" presetClass="entr" presetSubtype="0" fill="hold" nodeType="withEffect">
                                  <p:stCondLst>
                                    <p:cond delay="15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600"/>
                                        <p:tgtEl>
                                          <p:spTgt spid="19"/>
                                        </p:tgtEl>
                                      </p:cBhvr>
                                    </p:animEffect>
                                    <p:anim calcmode="lin" valueType="num">
                                      <p:cBhvr additive="base">
                                        <p:cTn id="59" dur="600" fill="hold"/>
                                        <p:tgtEl>
                                          <p:spTgt spid="19"/>
                                        </p:tgtEl>
                                        <p:attrNameLst>
                                          <p:attrName>ppt_y</p:attrName>
                                        </p:attrNameLst>
                                      </p:cBhvr>
                                      <p:tavLst>
                                        <p:tav tm="0">
                                          <p:val>
                                            <p:strVal val="#ppt_y+0.04"/>
                                          </p:val>
                                        </p:tav>
                                        <p:tav tm="100000">
                                          <p:val>
                                            <p:strVal val="#ppt_y"/>
                                          </p:val>
                                        </p:tav>
                                      </p:tavLst>
                                    </p:anim>
                                  </p:childTnLst>
                                </p:cTn>
                              </p:par>
                              <p:par>
                                <p:cTn id="64" presetID="10" presetClass="entr" presetSubtype="0" fill="hold" nodeType="withEffect">
                                  <p:stCondLst>
                                    <p:cond delay="15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600"/>
                                        <p:tgtEl>
                                          <p:spTgt spid="20"/>
                                        </p:tgtEl>
                                      </p:cBhvr>
                                    </p:animEffect>
                                    <p:anim calcmode="lin" valueType="num">
                                      <p:cBhvr additive="base">
                                        <p:cTn id="63" dur="600" fill="hold"/>
                                        <p:tgtEl>
                                          <p:spTgt spid="20"/>
                                        </p:tgtEl>
                                        <p:attrNameLst>
                                          <p:attrName>ppt_y</p:attrName>
                                        </p:attrNameLst>
                                      </p:cBhvr>
                                      <p:tavLst>
                                        <p:tav tm="0">
                                          <p:val>
                                            <p:strVal val="#ppt_y+0.04"/>
                                          </p:val>
                                        </p:tav>
                                        <p:tav tm="100000">
                                          <p:val>
                                            <p:strVal val="#ppt_y"/>
                                          </p:val>
                                        </p:tav>
                                      </p:tavLst>
                                    </p:anim>
                                  </p:childTnLst>
                                </p:cTn>
                              </p:par>
                              <p:par>
                                <p:cTn id="68" presetID="10" presetClass="entr" presetSubtype="0" fill="hold" nodeType="withEffect">
                                  <p:stCondLst>
                                    <p:cond delay="15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600"/>
                                        <p:tgtEl>
                                          <p:spTgt spid="21"/>
                                        </p:tgtEl>
                                      </p:cBhvr>
                                    </p:animEffect>
                                    <p:anim calcmode="lin" valueType="num">
                                      <p:cBhvr additive="base">
                                        <p:cTn id="67" dur="600" fill="hold"/>
                                        <p:tgtEl>
                                          <p:spTgt spid="21"/>
                                        </p:tgtEl>
                                        <p:attrNameLst>
                                          <p:attrName>ppt_y</p:attrName>
                                        </p:attrNameLst>
                                      </p:cBhvr>
                                      <p:tavLst>
                                        <p:tav tm="0">
                                          <p:val>
                                            <p:strVal val="#ppt_y+0.04"/>
                                          </p:val>
                                        </p:tav>
                                        <p:tav tm="100000">
                                          <p:val>
                                            <p:strVal val="#ppt_y"/>
                                          </p:val>
                                        </p:tav>
                                      </p:tavLst>
                                    </p:anim>
                                  </p:childTnLst>
                                </p:cTn>
                              </p:par>
                              <p:par>
                                <p:cTn id="72" presetID="10" presetClass="entr" presetSubtype="0" fill="hold" nodeType="withEffect">
                                  <p:stCondLst>
                                    <p:cond delay="43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600"/>
                                        <p:tgtEl>
                                          <p:spTgt spid="22"/>
                                        </p:tgtEl>
                                      </p:cBhvr>
                                    </p:animEffect>
                                    <p:anim calcmode="lin" valueType="num">
                                      <p:cBhvr additive="base">
                                        <p:cTn id="71" dur="600" fill="hold"/>
                                        <p:tgtEl>
                                          <p:spTgt spid="22"/>
                                        </p:tgtEl>
                                        <p:attrNameLst>
                                          <p:attrName>ppt_y</p:attrName>
                                        </p:attrNameLst>
                                      </p:cBhvr>
                                      <p:tavLst>
                                        <p:tav tm="0">
                                          <p:val>
                                            <p:strVal val="#ppt_y+0.04"/>
                                          </p:val>
                                        </p:tav>
                                        <p:tav tm="100000">
                                          <p:val>
                                            <p:strVal val="#ppt_y"/>
                                          </p:val>
                                        </p:tav>
                                      </p:tavLst>
                                    </p:anim>
                                  </p:childTnLst>
                                </p:cTn>
                              </p:par>
                              <p:par>
                                <p:cTn id="76" presetID="10" presetClass="entr" presetSubtype="0" fill="hold" nodeType="withEffect">
                                  <p:stCondLst>
                                    <p:cond delay="43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600"/>
                                        <p:tgtEl>
                                          <p:spTgt spid="23"/>
                                        </p:tgtEl>
                                      </p:cBhvr>
                                    </p:animEffect>
                                    <p:anim calcmode="lin" valueType="num">
                                      <p:cBhvr additive="base">
                                        <p:cTn id="75" dur="600" fill="hold"/>
                                        <p:tgtEl>
                                          <p:spTgt spid="23"/>
                                        </p:tgtEl>
                                        <p:attrNameLst>
                                          <p:attrName>ppt_y</p:attrName>
                                        </p:attrNameLst>
                                      </p:cBhvr>
                                      <p:tavLst>
                                        <p:tav tm="0">
                                          <p:val>
                                            <p:strVal val="#ppt_y+0.04"/>
                                          </p:val>
                                        </p:tav>
                                        <p:tav tm="100000">
                                          <p:val>
                                            <p:strVal val="#ppt_y"/>
                                          </p:val>
                                        </p:tav>
                                      </p:tavLst>
                                    </p:anim>
                                  </p:childTnLst>
                                </p:cTn>
                              </p:par>
                              <p:par>
                                <p:cTn id="80" presetID="10" presetClass="entr" presetSubtype="0" fill="hold" nodeType="withEffect">
                                  <p:stCondLst>
                                    <p:cond delay="710"/>
                                  </p:stCondLst>
                                  <p:childTnLst>
                                    <p:set>
                                      <p:cBhvr>
                                        <p:cTn id="77" dur="1" fill="hold">
                                          <p:stCondLst>
                                            <p:cond delay="0"/>
                                          </p:stCondLst>
                                        </p:cTn>
                                        <p:tgtEl>
                                          <p:spTgt spid="24"/>
                                        </p:tgtEl>
                                        <p:attrNameLst>
                                          <p:attrName>style.visibility</p:attrName>
                                        </p:attrNameLst>
                                      </p:cBhvr>
                                      <p:to>
                                        <p:strVal val="visible"/>
                                      </p:to>
                                    </p:set>
                                    <p:animEffect transition="in" filter="fade">
                                      <p:cBhvr>
                                        <p:cTn id="78" dur="600"/>
                                        <p:tgtEl>
                                          <p:spTgt spid="24"/>
                                        </p:tgtEl>
                                      </p:cBhvr>
                                    </p:animEffect>
                                    <p:anim calcmode="lin" valueType="num">
                                      <p:cBhvr additive="base">
                                        <p:cTn id="79" dur="600" fill="hold"/>
                                        <p:tgtEl>
                                          <p:spTgt spid="24"/>
                                        </p:tgtEl>
                                        <p:attrNameLst>
                                          <p:attrName>ppt_y</p:attrName>
                                        </p:attrNameLst>
                                      </p:cBhvr>
                                      <p:tavLst>
                                        <p:tav tm="0">
                                          <p:val>
                                            <p:strVal val="#ppt_y+0.04"/>
                                          </p:val>
                                        </p:tav>
                                        <p:tav tm="100000">
                                          <p:val>
                                            <p:strVal val="#ppt_y"/>
                                          </p:val>
                                        </p:tav>
                                      </p:tavLst>
                                    </p:anim>
                                  </p:childTnLst>
                                </p:cTn>
                              </p:par>
                              <p:par>
                                <p:cTn id="84" presetID="10" presetClass="entr" presetSubtype="0" fill="hold" nodeType="withEffect">
                                  <p:stCondLst>
                                    <p:cond delay="710"/>
                                  </p:stCondLst>
                                  <p:childTnLst>
                                    <p:set>
                                      <p:cBhvr>
                                        <p:cTn id="81" dur="1" fill="hold">
                                          <p:stCondLst>
                                            <p:cond delay="0"/>
                                          </p:stCondLst>
                                        </p:cTn>
                                        <p:tgtEl>
                                          <p:spTgt spid="25"/>
                                        </p:tgtEl>
                                        <p:attrNameLst>
                                          <p:attrName>style.visibility</p:attrName>
                                        </p:attrNameLst>
                                      </p:cBhvr>
                                      <p:to>
                                        <p:strVal val="visible"/>
                                      </p:to>
                                    </p:set>
                                    <p:animEffect transition="in" filter="fade">
                                      <p:cBhvr>
                                        <p:cTn id="82" dur="600"/>
                                        <p:tgtEl>
                                          <p:spTgt spid="25"/>
                                        </p:tgtEl>
                                      </p:cBhvr>
                                    </p:animEffect>
                                    <p:anim calcmode="lin" valueType="num">
                                      <p:cBhvr additive="base">
                                        <p:cTn id="83" dur="600" fill="hold"/>
                                        <p:tgtEl>
                                          <p:spTgt spid="25"/>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mc:Ignorable="p14 p159">
  <p:cSld name="Slide 12">
    <p:bg>
      <p:bgPr>
        <a:solidFill>
          <a:srgbClr val="FCFBF7"/>
        </a:solidFill>
      </p:bgPr>
    </p:bg>
    <p:spTree>
      <p:nvGrpSpPr>
        <p:cNvPr id="1" name=""/>
        <p:cNvGrpSpPr/>
        <p:nvPr/>
      </p:nvGrpSpPr>
      <p:grpSpPr>
        <a:xfrm>
          <a:off x="0" y="0"/>
          <a:ext cx="0" cy="0"/>
          <a:chOff x="0" y="0"/>
          <a:chExt cx="0" cy="0"/>
        </a:xfrm>
      </p:grpSpPr>
      <p:pic>
        <p:nvPicPr>
          <p:cNvPr id="2" name="!!blobOrange" descr="preencoded.png">    </p:cNvPr>
          <p:cNvPicPr>
            <a:picLocks noChangeAspect="1"/>
          </p:cNvPicPr>
          <p:nvPr/>
        </p:nvPicPr>
        <p:blipFill>
          <a:blip r:embed="rId1"/>
          <a:stretch>
            <a:fillRect/>
          </a:stretch>
        </p:blipFill>
        <p:spPr>
          <a:xfrm>
            <a:off x="-1463040" y="3291840"/>
            <a:ext cx="6400800" cy="6400800"/>
          </a:xfrm>
          <a:prstGeom prst="rect">
            <a:avLst/>
          </a:prstGeom>
        </p:spPr>
      </p:pic>
      <p:pic>
        <p:nvPicPr>
          <p:cNvPr id="3" name="!!blobGreen" descr="preencoded.png">    </p:cNvPr>
          <p:cNvPicPr>
            <a:picLocks noChangeAspect="1"/>
          </p:cNvPicPr>
          <p:nvPr/>
        </p:nvPicPr>
        <p:blipFill>
          <a:blip r:embed="rId2"/>
          <a:stretch>
            <a:fillRect/>
          </a:stretch>
        </p:blipFill>
        <p:spPr>
          <a:xfrm>
            <a:off x="7863840" y="-2377440"/>
            <a:ext cx="6400800" cy="6400800"/>
          </a:xfrm>
          <a:prstGeom prst="rect">
            <a:avLst/>
          </a:prstGeom>
        </p:spPr>
      </p:pic>
      <p:pic>
        <p:nvPicPr>
          <p:cNvPr id="4" name="!!logoLeft" descr="preencoded.png">    </p:cNvPr>
          <p:cNvPicPr>
            <a:picLocks noChangeAspect="1"/>
          </p:cNvPicPr>
          <p:nvPr/>
        </p:nvPicPr>
        <p:blipFill>
          <a:blip r:embed="rId3"/>
          <a:stretch>
            <a:fillRect/>
          </a:stretch>
        </p:blipFill>
        <p:spPr>
          <a:xfrm>
            <a:off x="10012680" y="411480"/>
            <a:ext cx="1463040" cy="961813"/>
          </a:xfrm>
          <a:prstGeom prst="rect">
            <a:avLst/>
          </a:prstGeom>
        </p:spPr>
      </p:pic>
      <p:pic>
        <p:nvPicPr>
          <p:cNvPr id="5" name="!!logoRight" descr="preencoded.png">    </p:cNvPr>
          <p:cNvPicPr>
            <a:picLocks noChangeAspect="1"/>
          </p:cNvPicPr>
          <p:nvPr/>
        </p:nvPicPr>
        <p:blipFill>
          <a:blip r:embed="rId4"/>
          <a:stretch>
            <a:fillRect/>
          </a:stretch>
        </p:blipFill>
        <p:spPr>
          <a:xfrm>
            <a:off x="10012680" y="411480"/>
            <a:ext cx="1463040" cy="961813"/>
          </a:xfrm>
          <a:prstGeom prst="rect">
            <a:avLst/>
          </a:prstGeom>
        </p:spPr>
      </p:pic>
      <p:pic>
        <p:nvPicPr>
          <p:cNvPr id="6" name="!!logoSeed" descr="preencoded.png">    </p:cNvPr>
          <p:cNvPicPr>
            <a:picLocks noChangeAspect="1"/>
          </p:cNvPicPr>
          <p:nvPr/>
        </p:nvPicPr>
        <p:blipFill>
          <a:blip r:embed="rId5"/>
          <a:stretch>
            <a:fillRect/>
          </a:stretch>
        </p:blipFill>
        <p:spPr>
          <a:xfrm>
            <a:off x="10012680" y="411480"/>
            <a:ext cx="1463040" cy="961813"/>
          </a:xfrm>
          <a:prstGeom prst="rect">
            <a:avLst/>
          </a:prstGeom>
        </p:spPr>
      </p:pic>
      <p:sp>
        <p:nvSpPr>
          <p:cNvPr id="7" name="!!kicker"/>
          <p:cNvSpPr txBox="1"/>
          <p:nvPr/>
        </p:nvSpPr>
        <p:spPr>
          <a:xfrm>
            <a:off x="640080" y="228600"/>
            <a:ext cx="7315200" cy="274320"/>
          </a:xfrm>
          <a:prstGeom prst="rect">
            <a:avLst/>
          </a:prstGeom>
          <a:noFill/>
          <a:ln/>
        </p:spPr>
        <p:txBody>
          <a:bodyPr wrap="square" lIns="0" tIns="0" rIns="0" bIns="0" rtlCol="0" anchor="ctr"/>
          <a:lstStyle/>
          <a:p>
            <a:pPr indent="0" marL="0">
              <a:buNone/>
            </a:pPr>
            <a:r>
              <a:rPr lang="en-US" sz="1100" b="1" spc="300" kern="0" dirty="0">
                <a:solidFill>
                  <a:srgbClr val="BF5320"/>
                </a:solidFill>
                <a:latin typeface="Calibri" pitchFamily="34" charset="0"/>
                <a:ea typeface="Calibri" pitchFamily="34" charset="-122"/>
                <a:cs typeface="Calibri" pitchFamily="34" charset="-120"/>
              </a:rPr>
              <a:t>TEAM ORACLE OF PLENTY</a:t>
            </a:r>
            <a:endParaRPr lang="en-US" sz="1100" dirty="0"/>
          </a:p>
        </p:txBody>
      </p:sp>
      <p:sp>
        <p:nvSpPr>
          <p:cNvPr id="8" name="!!title"/>
          <p:cNvSpPr txBox="1"/>
          <p:nvPr/>
        </p:nvSpPr>
        <p:spPr>
          <a:xfrm>
            <a:off x="640080" y="502920"/>
            <a:ext cx="10881360" cy="914400"/>
          </a:xfrm>
          <a:prstGeom prst="rect">
            <a:avLst/>
          </a:prstGeom>
          <a:noFill/>
          <a:ln/>
        </p:spPr>
        <p:txBody>
          <a:bodyPr wrap="square" lIns="0" tIns="0" rIns="0" bIns="0" rtlCol="0" anchor="ctr"/>
          <a:lstStyle/>
          <a:p>
            <a:pPr indent="0" marL="0">
              <a:buNone/>
            </a:pPr>
            <a:r>
              <a:rPr lang="en-US" sz="3600" b="1" dirty="0">
                <a:solidFill>
                  <a:srgbClr val="1C1712"/>
                </a:solidFill>
                <a:latin typeface="Cambria" pitchFamily="34" charset="0"/>
                <a:ea typeface="Cambria" pitchFamily="34" charset="-122"/>
                <a:cs typeface="Cambria" pitchFamily="34" charset="-120"/>
              </a:rPr>
              <a:t>Help us test</a:t>
            </a:r>
            <a:pPr indent="0" marL="0">
              <a:buNone/>
            </a:pPr>
            <a:r>
              <a:rPr lang="en-US" sz="3600" b="1" dirty="0">
                <a:solidFill>
                  <a:srgbClr val="F0703D"/>
                </a:solidFill>
                <a:latin typeface="Cambria" pitchFamily="34" charset="0"/>
                <a:ea typeface="Cambria" pitchFamily="34" charset="-122"/>
                <a:cs typeface="Cambria" pitchFamily="34" charset="-120"/>
              </a:rPr>
              <a:t> one handoff</a:t>
            </a:r>
            <a:endParaRPr lang="en-US" sz="3600" dirty="0"/>
          </a:p>
        </p:txBody>
      </p:sp>
      <p:pic>
        <p:nvPicPr>
          <p:cNvPr id="9" name="anim1_p0" descr="preencoded.png">    </p:cNvPr>
          <p:cNvPicPr>
            <a:picLocks noChangeAspect="1"/>
          </p:cNvPicPr>
          <p:nvPr/>
        </p:nvPicPr>
        <p:blipFill>
          <a:blip r:embed="rId6"/>
          <a:stretch>
            <a:fillRect/>
          </a:stretch>
        </p:blipFill>
        <p:spPr>
          <a:xfrm>
            <a:off x="1143000" y="1783080"/>
            <a:ext cx="1097280" cy="1097280"/>
          </a:xfrm>
          <a:prstGeom prst="rect">
            <a:avLst/>
          </a:prstGeom>
        </p:spPr>
      </p:pic>
      <p:sp>
        <p:nvSpPr>
          <p:cNvPr id="10" name="anim1_n0"/>
          <p:cNvSpPr txBox="1"/>
          <p:nvPr/>
        </p:nvSpPr>
        <p:spPr>
          <a:xfrm>
            <a:off x="640080" y="2944368"/>
            <a:ext cx="2103120" cy="640080"/>
          </a:xfrm>
          <a:prstGeom prst="rect">
            <a:avLst/>
          </a:prstGeom>
          <a:noFill/>
          <a:ln/>
        </p:spPr>
        <p:txBody>
          <a:bodyPr wrap="square" lIns="0" tIns="0" rIns="0" bIns="0" rtlCol="0" anchor="t"/>
          <a:lstStyle/>
          <a:p>
            <a:pPr algn="ctr" indent="0" marL="0">
              <a:buNone/>
            </a:pPr>
            <a:r>
              <a:rPr lang="en-US" sz="1400" b="1" dirty="0">
                <a:solidFill>
                  <a:srgbClr val="1C1712"/>
                </a:solidFill>
                <a:latin typeface="Calibri" pitchFamily="34" charset="0"/>
                <a:ea typeface="Calibri" pitchFamily="34" charset="-122"/>
                <a:cs typeface="Calibri" pitchFamily="34" charset="-120"/>
              </a:rPr>
              <a:t>Shiv</a:t>
            </a:r>
            <a:endParaRPr lang="en-US" sz="1400" dirty="0"/>
          </a:p>
          <a:p>
            <a:pPr algn="ctr" indent="0" marL="0">
              <a:buNone/>
            </a:pPr>
            <a:r>
              <a:rPr lang="en-US" sz="1100" dirty="0">
                <a:solidFill>
                  <a:srgbClr val="5B5148"/>
                </a:solidFill>
                <a:latin typeface="Calibri" pitchFamily="34" charset="0"/>
                <a:ea typeface="Calibri" pitchFamily="34" charset="-122"/>
                <a:cs typeface="Calibri" pitchFamily="34" charset="-120"/>
              </a:rPr>
              <a:t>Hacker · AI Engineer</a:t>
            </a:r>
            <a:endParaRPr lang="en-US" sz="1400" dirty="0"/>
          </a:p>
        </p:txBody>
      </p:sp>
      <p:pic>
        <p:nvPicPr>
          <p:cNvPr id="11" name="anim1_p1" descr="preencoded.png">    </p:cNvPr>
          <p:cNvPicPr>
            <a:picLocks noChangeAspect="1"/>
          </p:cNvPicPr>
          <p:nvPr/>
        </p:nvPicPr>
        <p:blipFill>
          <a:blip r:embed="rId7"/>
          <a:stretch>
            <a:fillRect/>
          </a:stretch>
        </p:blipFill>
        <p:spPr>
          <a:xfrm>
            <a:off x="3383280" y="1783080"/>
            <a:ext cx="1097280" cy="1097280"/>
          </a:xfrm>
          <a:prstGeom prst="rect">
            <a:avLst/>
          </a:prstGeom>
        </p:spPr>
      </p:pic>
      <p:sp>
        <p:nvSpPr>
          <p:cNvPr id="12" name="anim1_n1"/>
          <p:cNvSpPr txBox="1"/>
          <p:nvPr/>
        </p:nvSpPr>
        <p:spPr>
          <a:xfrm>
            <a:off x="2880360" y="2944368"/>
            <a:ext cx="2103120" cy="640080"/>
          </a:xfrm>
          <a:prstGeom prst="rect">
            <a:avLst/>
          </a:prstGeom>
          <a:noFill/>
          <a:ln/>
        </p:spPr>
        <p:txBody>
          <a:bodyPr wrap="square" lIns="0" tIns="0" rIns="0" bIns="0" rtlCol="0" anchor="t"/>
          <a:lstStyle/>
          <a:p>
            <a:pPr algn="ctr" indent="0" marL="0">
              <a:buNone/>
            </a:pPr>
            <a:r>
              <a:rPr lang="en-US" sz="1400" b="1" dirty="0">
                <a:solidFill>
                  <a:srgbClr val="1C1712"/>
                </a:solidFill>
                <a:latin typeface="Calibri" pitchFamily="34" charset="0"/>
                <a:ea typeface="Calibri" pitchFamily="34" charset="-122"/>
                <a:cs typeface="Calibri" pitchFamily="34" charset="-120"/>
              </a:rPr>
              <a:t>Summer Shang</a:t>
            </a:r>
            <a:endParaRPr lang="en-US" sz="1400" dirty="0"/>
          </a:p>
          <a:p>
            <a:pPr algn="ctr" indent="0" marL="0">
              <a:buNone/>
            </a:pPr>
            <a:r>
              <a:rPr lang="en-US" sz="1100" dirty="0">
                <a:solidFill>
                  <a:srgbClr val="5B5148"/>
                </a:solidFill>
                <a:latin typeface="Calibri" pitchFamily="34" charset="0"/>
                <a:ea typeface="Calibri" pitchFamily="34" charset="-122"/>
                <a:cs typeface="Calibri" pitchFamily="34" charset="-120"/>
              </a:rPr>
              <a:t>Hacker · CS &amp; Math</a:t>
            </a:r>
            <a:endParaRPr lang="en-US" sz="1400" dirty="0"/>
          </a:p>
        </p:txBody>
      </p:sp>
      <p:pic>
        <p:nvPicPr>
          <p:cNvPr id="13" name="anim1_p2" descr="preencoded.png">    </p:cNvPr>
          <p:cNvPicPr>
            <a:picLocks noChangeAspect="1"/>
          </p:cNvPicPr>
          <p:nvPr/>
        </p:nvPicPr>
        <p:blipFill>
          <a:blip r:embed="rId8"/>
          <a:stretch>
            <a:fillRect/>
          </a:stretch>
        </p:blipFill>
        <p:spPr>
          <a:xfrm>
            <a:off x="5623560" y="1783080"/>
            <a:ext cx="1097280" cy="1097280"/>
          </a:xfrm>
          <a:prstGeom prst="rect">
            <a:avLst/>
          </a:prstGeom>
        </p:spPr>
      </p:pic>
      <p:sp>
        <p:nvSpPr>
          <p:cNvPr id="14" name="anim1_n2"/>
          <p:cNvSpPr txBox="1"/>
          <p:nvPr/>
        </p:nvSpPr>
        <p:spPr>
          <a:xfrm>
            <a:off x="5120640" y="2944368"/>
            <a:ext cx="2103120" cy="640080"/>
          </a:xfrm>
          <a:prstGeom prst="rect">
            <a:avLst/>
          </a:prstGeom>
          <a:noFill/>
          <a:ln/>
        </p:spPr>
        <p:txBody>
          <a:bodyPr wrap="square" lIns="0" tIns="0" rIns="0" bIns="0" rtlCol="0" anchor="t"/>
          <a:lstStyle/>
          <a:p>
            <a:pPr algn="ctr" indent="0" marL="0">
              <a:buNone/>
            </a:pPr>
            <a:r>
              <a:rPr lang="en-US" sz="1400" b="1" dirty="0">
                <a:solidFill>
                  <a:srgbClr val="1C1712"/>
                </a:solidFill>
                <a:latin typeface="Calibri" pitchFamily="34" charset="0"/>
                <a:ea typeface="Calibri" pitchFamily="34" charset="-122"/>
                <a:cs typeface="Calibri" pitchFamily="34" charset="-120"/>
              </a:rPr>
              <a:t>Gracie</a:t>
            </a:r>
            <a:endParaRPr lang="en-US" sz="1400" dirty="0"/>
          </a:p>
          <a:p>
            <a:pPr algn="ctr" indent="0" marL="0">
              <a:buNone/>
            </a:pPr>
            <a:r>
              <a:rPr lang="en-US" sz="1100" dirty="0">
                <a:solidFill>
                  <a:srgbClr val="5B5148"/>
                </a:solidFill>
                <a:latin typeface="Calibri" pitchFamily="34" charset="0"/>
                <a:ea typeface="Calibri" pitchFamily="34" charset="-122"/>
                <a:cs typeface="Calibri" pitchFamily="34" charset="-120"/>
              </a:rPr>
              <a:t>Hacker</a:t>
            </a:r>
            <a:endParaRPr lang="en-US" sz="1400" dirty="0"/>
          </a:p>
        </p:txBody>
      </p:sp>
      <p:pic>
        <p:nvPicPr>
          <p:cNvPr id="15" name="anim1_p3" descr="preencoded.png">    </p:cNvPr>
          <p:cNvPicPr>
            <a:picLocks noChangeAspect="1"/>
          </p:cNvPicPr>
          <p:nvPr/>
        </p:nvPicPr>
        <p:blipFill>
          <a:blip r:embed="rId9"/>
          <a:stretch>
            <a:fillRect/>
          </a:stretch>
        </p:blipFill>
        <p:spPr>
          <a:xfrm>
            <a:off x="1143000" y="3840480"/>
            <a:ext cx="1097280" cy="1097280"/>
          </a:xfrm>
          <a:prstGeom prst="rect">
            <a:avLst/>
          </a:prstGeom>
        </p:spPr>
      </p:pic>
      <p:sp>
        <p:nvSpPr>
          <p:cNvPr id="16" name="anim1_n3"/>
          <p:cNvSpPr txBox="1"/>
          <p:nvPr/>
        </p:nvSpPr>
        <p:spPr>
          <a:xfrm>
            <a:off x="640080" y="5001768"/>
            <a:ext cx="2103120" cy="640080"/>
          </a:xfrm>
          <a:prstGeom prst="rect">
            <a:avLst/>
          </a:prstGeom>
          <a:noFill/>
          <a:ln/>
        </p:spPr>
        <p:txBody>
          <a:bodyPr wrap="square" lIns="0" tIns="0" rIns="0" bIns="0" rtlCol="0" anchor="t"/>
          <a:lstStyle/>
          <a:p>
            <a:pPr algn="ctr" indent="0" marL="0">
              <a:buNone/>
            </a:pPr>
            <a:r>
              <a:rPr lang="en-US" sz="1400" b="1" dirty="0">
                <a:solidFill>
                  <a:srgbClr val="1C1712"/>
                </a:solidFill>
                <a:latin typeface="Calibri" pitchFamily="34" charset="0"/>
                <a:ea typeface="Calibri" pitchFamily="34" charset="-122"/>
                <a:cs typeface="Calibri" pitchFamily="34" charset="-120"/>
              </a:rPr>
              <a:t>Jisoo Sun</a:t>
            </a:r>
            <a:endParaRPr lang="en-US" sz="1400" dirty="0"/>
          </a:p>
          <a:p>
            <a:pPr algn="ctr" indent="0" marL="0">
              <a:buNone/>
            </a:pPr>
            <a:r>
              <a:rPr lang="en-US" sz="1100" dirty="0">
                <a:solidFill>
                  <a:srgbClr val="5B5148"/>
                </a:solidFill>
                <a:latin typeface="Calibri" pitchFamily="34" charset="0"/>
                <a:ea typeface="Calibri" pitchFamily="34" charset="-122"/>
                <a:cs typeface="Calibri" pitchFamily="34" charset="-120"/>
              </a:rPr>
              <a:t>Hipster · UX Researcher</a:t>
            </a:r>
            <a:endParaRPr lang="en-US" sz="1400" dirty="0"/>
          </a:p>
        </p:txBody>
      </p:sp>
      <p:pic>
        <p:nvPicPr>
          <p:cNvPr id="17" name="anim1_p4" descr="preencoded.png">    </p:cNvPr>
          <p:cNvPicPr>
            <a:picLocks noChangeAspect="1"/>
          </p:cNvPicPr>
          <p:nvPr/>
        </p:nvPicPr>
        <p:blipFill>
          <a:blip r:embed="rId10"/>
          <a:stretch>
            <a:fillRect/>
          </a:stretch>
        </p:blipFill>
        <p:spPr>
          <a:xfrm>
            <a:off x="3383280" y="3840480"/>
            <a:ext cx="1097280" cy="1097280"/>
          </a:xfrm>
          <a:prstGeom prst="rect">
            <a:avLst/>
          </a:prstGeom>
        </p:spPr>
      </p:pic>
      <p:sp>
        <p:nvSpPr>
          <p:cNvPr id="18" name="anim1_n4"/>
          <p:cNvSpPr txBox="1"/>
          <p:nvPr/>
        </p:nvSpPr>
        <p:spPr>
          <a:xfrm>
            <a:off x="2880360" y="5001768"/>
            <a:ext cx="2103120" cy="640080"/>
          </a:xfrm>
          <a:prstGeom prst="rect">
            <a:avLst/>
          </a:prstGeom>
          <a:noFill/>
          <a:ln/>
        </p:spPr>
        <p:txBody>
          <a:bodyPr wrap="square" lIns="0" tIns="0" rIns="0" bIns="0" rtlCol="0" anchor="t"/>
          <a:lstStyle/>
          <a:p>
            <a:pPr algn="ctr" indent="0" marL="0">
              <a:buNone/>
            </a:pPr>
            <a:r>
              <a:rPr lang="en-US" sz="1400" b="1" dirty="0">
                <a:solidFill>
                  <a:srgbClr val="1C1712"/>
                </a:solidFill>
                <a:latin typeface="Calibri" pitchFamily="34" charset="0"/>
                <a:ea typeface="Calibri" pitchFamily="34" charset="-122"/>
                <a:cs typeface="Calibri" pitchFamily="34" charset="-120"/>
              </a:rPr>
              <a:t>Namuun Zolbadrakh</a:t>
            </a:r>
            <a:endParaRPr lang="en-US" sz="1400" dirty="0"/>
          </a:p>
          <a:p>
            <a:pPr algn="ctr" indent="0" marL="0">
              <a:buNone/>
            </a:pPr>
            <a:r>
              <a:rPr lang="en-US" sz="1100" dirty="0">
                <a:solidFill>
                  <a:srgbClr val="5B5148"/>
                </a:solidFill>
                <a:latin typeface="Calibri" pitchFamily="34" charset="0"/>
                <a:ea typeface="Calibri" pitchFamily="34" charset="-122"/>
                <a:cs typeface="Calibri" pitchFamily="34" charset="-120"/>
              </a:rPr>
              <a:t>Hipster</a:t>
            </a:r>
            <a:endParaRPr lang="en-US" sz="1400" dirty="0"/>
          </a:p>
        </p:txBody>
      </p:sp>
      <p:pic>
        <p:nvPicPr>
          <p:cNvPr id="19" name="anim1_p5" descr="preencoded.png">    </p:cNvPr>
          <p:cNvPicPr>
            <a:picLocks noChangeAspect="1"/>
          </p:cNvPicPr>
          <p:nvPr/>
        </p:nvPicPr>
        <p:blipFill>
          <a:blip r:embed="rId11"/>
          <a:stretch>
            <a:fillRect/>
          </a:stretch>
        </p:blipFill>
        <p:spPr>
          <a:xfrm>
            <a:off x="5623560" y="3840480"/>
            <a:ext cx="1097280" cy="1097280"/>
          </a:xfrm>
          <a:prstGeom prst="rect">
            <a:avLst/>
          </a:prstGeom>
        </p:spPr>
      </p:pic>
      <p:sp>
        <p:nvSpPr>
          <p:cNvPr id="20" name="anim1_n5"/>
          <p:cNvSpPr txBox="1"/>
          <p:nvPr/>
        </p:nvSpPr>
        <p:spPr>
          <a:xfrm>
            <a:off x="5120640" y="5001768"/>
            <a:ext cx="2103120" cy="640080"/>
          </a:xfrm>
          <a:prstGeom prst="rect">
            <a:avLst/>
          </a:prstGeom>
          <a:noFill/>
          <a:ln/>
        </p:spPr>
        <p:txBody>
          <a:bodyPr wrap="square" lIns="0" tIns="0" rIns="0" bIns="0" rtlCol="0" anchor="t"/>
          <a:lstStyle/>
          <a:p>
            <a:pPr algn="ctr" indent="0" marL="0">
              <a:buNone/>
            </a:pPr>
            <a:r>
              <a:rPr lang="en-US" sz="1400" b="1" dirty="0">
                <a:solidFill>
                  <a:srgbClr val="1C1712"/>
                </a:solidFill>
                <a:latin typeface="Calibri" pitchFamily="34" charset="0"/>
                <a:ea typeface="Calibri" pitchFamily="34" charset="-122"/>
                <a:cs typeface="Calibri" pitchFamily="34" charset="-120"/>
              </a:rPr>
              <a:t>Karver Repp</a:t>
            </a:r>
            <a:endParaRPr lang="en-US" sz="1400" dirty="0"/>
          </a:p>
          <a:p>
            <a:pPr algn="ctr" indent="0" marL="0">
              <a:buNone/>
            </a:pPr>
            <a:r>
              <a:rPr lang="en-US" sz="1100" dirty="0">
                <a:solidFill>
                  <a:srgbClr val="5B5148"/>
                </a:solidFill>
                <a:latin typeface="Calibri" pitchFamily="34" charset="0"/>
                <a:ea typeface="Calibri" pitchFamily="34" charset="-122"/>
                <a:cs typeface="Calibri" pitchFamily="34" charset="-120"/>
              </a:rPr>
              <a:t>Hustler</a:t>
            </a:r>
            <a:endParaRPr lang="en-US" sz="1400" dirty="0"/>
          </a:p>
        </p:txBody>
      </p:sp>
      <p:sp>
        <p:nvSpPr>
          <p:cNvPr id="21" name="anim2_ask"/>
          <p:cNvSpPr/>
          <p:nvPr/>
        </p:nvSpPr>
        <p:spPr>
          <a:xfrm>
            <a:off x="7589520" y="1783080"/>
            <a:ext cx="3886200" cy="3931920"/>
          </a:xfrm>
          <a:prstGeom prst="roundRect">
            <a:avLst>
              <a:gd name="adj" fmla="val 4235"/>
            </a:avLst>
          </a:prstGeom>
          <a:solidFill>
            <a:srgbClr val="165840"/>
          </a:solidFill>
          <a:ln w="9525">
            <a:solidFill>
              <a:srgbClr val="EADFD4"/>
            </a:solidFill>
            <a:prstDash val="solid"/>
          </a:ln>
          <a:effectLst>
            <a:outerShdw sx="100000" sy="100000" kx="0" ky="0" algn="bl" rotWithShape="0" blurRad="177800" dist="50800" dir="5400000">
              <a:srgbClr val="3D1A0C">
                <a:alpha val="8000"/>
              </a:srgbClr>
            </a:outerShdw>
          </a:effectLst>
        </p:spPr>
      </p:sp>
      <p:sp>
        <p:nvSpPr>
          <p:cNvPr id="22" name="anim2_askText"/>
          <p:cNvSpPr txBox="1"/>
          <p:nvPr/>
        </p:nvSpPr>
        <p:spPr>
          <a:xfrm>
            <a:off x="7909560" y="2011680"/>
            <a:ext cx="3337560" cy="3474720"/>
          </a:xfrm>
          <a:prstGeom prst="rect">
            <a:avLst/>
          </a:prstGeom>
          <a:noFill/>
          <a:ln/>
        </p:spPr>
        <p:txBody>
          <a:bodyPr wrap="square" lIns="0" tIns="0" rIns="0" bIns="0" rtlCol="0" anchor="t"/>
          <a:lstStyle/>
          <a:p>
            <a:pPr indent="0" marL="0">
              <a:spcAft>
                <a:spcPts val="800"/>
              </a:spcAft>
              <a:buNone/>
            </a:pPr>
            <a:r>
              <a:rPr lang="en-US" sz="1100" b="1" spc="200" kern="0" dirty="0">
                <a:solidFill>
                  <a:srgbClr val="F7B98F"/>
                </a:solidFill>
                <a:latin typeface="Calibri" pitchFamily="34" charset="0"/>
                <a:ea typeface="Calibri" pitchFamily="34" charset="-122"/>
                <a:cs typeface="Calibri" pitchFamily="34" charset="-120"/>
              </a:rPr>
              <a:t>OUR ASK</a:t>
            </a:r>
            <a:endParaRPr lang="en-US" sz="1100" dirty="0"/>
          </a:p>
          <a:p>
            <a:pPr indent="0" marL="0">
              <a:spcAft>
                <a:spcPts val="800"/>
              </a:spcAft>
              <a:buNone/>
            </a:pPr>
            <a:r>
              <a:rPr lang="en-US" sz="1800" dirty="0">
                <a:solidFill>
                  <a:srgbClr val="FFFFFF"/>
                </a:solidFill>
                <a:latin typeface="Cambria" pitchFamily="34" charset="0"/>
                <a:ea typeface="Cambria" pitchFamily="34" charset="-122"/>
                <a:cs typeface="Cambria" pitchFamily="34" charset="-120"/>
              </a:rPr>
              <a:t>Connect us with</a:t>
            </a:r>
            <a:endParaRPr lang="en-US" sz="1100" dirty="0"/>
          </a:p>
          <a:p>
            <a:pPr marL="342900" indent="-3429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one event host</a:t>
            </a:r>
            <a:endParaRPr lang="en-US" sz="1100" dirty="0"/>
          </a:p>
          <a:p>
            <a:pPr marL="342900" indent="-3429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one food-recovery partner</a:t>
            </a:r>
            <a:endParaRPr lang="en-US" sz="1100" dirty="0"/>
          </a:p>
          <a:p>
            <a:pPr marL="342900" indent="-3429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one volunteer or route partner</a:t>
            </a:r>
            <a:endParaRPr lang="en-US" sz="1100" dirty="0"/>
          </a:p>
        </p:txBody>
      </p:sp>
      <p:pic>
        <p:nvPicPr>
          <p:cNvPr id="23" name="footLogoL" descr="preencoded.png">    </p:cNvPr>
          <p:cNvPicPr>
            <a:picLocks noChangeAspect="1"/>
          </p:cNvPicPr>
          <p:nvPr/>
        </p:nvPicPr>
        <p:blipFill>
          <a:blip r:embed="rId12"/>
          <a:stretch>
            <a:fillRect/>
          </a:stretch>
        </p:blipFill>
        <p:spPr>
          <a:xfrm>
            <a:off x="640080" y="6355080"/>
            <a:ext cx="384048" cy="252476"/>
          </a:xfrm>
          <a:prstGeom prst="rect">
            <a:avLst/>
          </a:prstGeom>
        </p:spPr>
      </p:pic>
      <p:pic>
        <p:nvPicPr>
          <p:cNvPr id="24" name="footLogoR" descr="preencoded.png">    </p:cNvPr>
          <p:cNvPicPr>
            <a:picLocks noChangeAspect="1"/>
          </p:cNvPicPr>
          <p:nvPr/>
        </p:nvPicPr>
        <p:blipFill>
          <a:blip r:embed="rId13"/>
          <a:stretch>
            <a:fillRect/>
          </a:stretch>
        </p:blipFill>
        <p:spPr>
          <a:xfrm>
            <a:off x="640080" y="6355080"/>
            <a:ext cx="384048" cy="252476"/>
          </a:xfrm>
          <a:prstGeom prst="rect">
            <a:avLst/>
          </a:prstGeom>
        </p:spPr>
      </p:pic>
      <p:pic>
        <p:nvPicPr>
          <p:cNvPr id="25" name="footLogoS" descr="preencoded.png">    </p:cNvPr>
          <p:cNvPicPr>
            <a:picLocks noChangeAspect="1"/>
          </p:cNvPicPr>
          <p:nvPr/>
        </p:nvPicPr>
        <p:blipFill>
          <a:blip r:embed="rId14"/>
          <a:stretch>
            <a:fillRect/>
          </a:stretch>
        </p:blipFill>
        <p:spPr>
          <a:xfrm>
            <a:off x="640080" y="6355080"/>
            <a:ext cx="384048" cy="252476"/>
          </a:xfrm>
          <a:prstGeom prst="rect">
            <a:avLst/>
          </a:prstGeom>
        </p:spPr>
      </p:pic>
      <p:sp>
        <p:nvSpPr>
          <p:cNvPr id="26" name="Text 10"/>
          <p:cNvSpPr txBox="1"/>
          <p:nvPr/>
        </p:nvSpPr>
        <p:spPr>
          <a:xfrm>
            <a:off x="1097280" y="6327648"/>
            <a:ext cx="3657600" cy="292608"/>
          </a:xfrm>
          <a:prstGeom prst="rect">
            <a:avLst/>
          </a:prstGeom>
          <a:noFill/>
          <a:ln/>
        </p:spPr>
        <p:txBody>
          <a:bodyPr wrap="square" lIns="0" tIns="0" rIns="0" bIns="0" rtlCol="0" anchor="ctr"/>
          <a:lstStyle/>
          <a:p>
            <a:pPr indent="0" marL="0">
              <a:buNone/>
            </a:pPr>
            <a:r>
              <a:rPr lang="en-US" sz="1000" dirty="0">
                <a:solidFill>
                  <a:srgbClr val="5B5148"/>
                </a:solidFill>
                <a:latin typeface="Calibri" pitchFamily="34" charset="0"/>
                <a:ea typeface="Calibri" pitchFamily="34" charset="-122"/>
                <a:cs typeface="Calibri" pitchFamily="34" charset="-120"/>
              </a:rPr>
              <a:t>Not Wasted · Surplus saved</a:t>
            </a:r>
            <a:endParaRPr lang="en-US" sz="1000" dirty="0"/>
          </a:p>
        </p:txBody>
      </p:sp>
      <p:sp>
        <p:nvSpPr>
          <p:cNvPr id="27" name="Text 11"/>
          <p:cNvSpPr txBox="1"/>
          <p:nvPr/>
        </p:nvSpPr>
        <p:spPr>
          <a:xfrm>
            <a:off x="10607040" y="6327648"/>
            <a:ext cx="914400" cy="292608"/>
          </a:xfrm>
          <a:prstGeom prst="rect">
            <a:avLst/>
          </a:prstGeom>
          <a:noFill/>
          <a:ln/>
        </p:spPr>
        <p:txBody>
          <a:bodyPr wrap="square" lIns="0" tIns="0" rIns="0" bIns="0" rtlCol="0" anchor="ctr"/>
          <a:lstStyle/>
          <a:p>
            <a:pPr algn="r" indent="0" marL="0">
              <a:buNone/>
            </a:pPr>
            <a:r>
              <a:rPr lang="en-US" sz="1000" dirty="0">
                <a:solidFill>
                  <a:srgbClr val="5B5148"/>
                </a:solidFill>
                <a:latin typeface="Calibri" pitchFamily="34" charset="0"/>
                <a:ea typeface="Calibri" pitchFamily="34" charset="-122"/>
                <a:cs typeface="Calibri" pitchFamily="34" charset="-120"/>
              </a:rPr>
              <a:t>12 / 12</a:t>
            </a:r>
            <a:endParaRPr lang="en-US" sz="1000" dirty="0"/>
          </a:p>
        </p:txBody>
      </p:sp>
    </p:spTree>
  </p:cSld>
  <p:clrMapOvr>
    <a:masterClrMapping/>
  </p:clrMapOvr>
  <mc:AlternateContent>
    <mc:Choice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10" presetClass="entr" presetSubtype="0" fill="hold" nodeType="afterEffect">
                                  <p:stCondLst>
                                    <p:cond delay="15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600"/>
                                        <p:tgtEl>
                                          <p:spTgt spid="9"/>
                                        </p:tgtEl>
                                      </p:cBhvr>
                                    </p:animEffect>
                                    <p:anim calcmode="lin" valueType="num">
                                      <p:cBhvr additive="base">
                                        <p:cTn id="7" dur="600" fill="hold"/>
                                        <p:tgtEl>
                                          <p:spTgt spid="9"/>
                                        </p:tgtEl>
                                        <p:attrNameLst>
                                          <p:attrName>ppt_y</p:attrName>
                                        </p:attrNameLst>
                                      </p:cBhvr>
                                      <p:tavLst>
                                        <p:tav tm="0">
                                          <p:val>
                                            <p:strVal val="#ppt_y+0.04"/>
                                          </p:val>
                                        </p:tav>
                                        <p:tav tm="100000">
                                          <p:val>
                                            <p:strVal val="#ppt_y"/>
                                          </p:val>
                                        </p:tav>
                                      </p:tavLst>
                                    </p:anim>
                                  </p:childTnLst>
                                </p:cTn>
                              </p:par>
                              <p:par>
                                <p:cTn id="12" presetID="10" presetClass="entr" presetSubtype="0" fill="hold" nodeType="withEffect">
                                  <p:stCondLst>
                                    <p:cond delay="15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600"/>
                                        <p:tgtEl>
                                          <p:spTgt spid="10"/>
                                        </p:tgtEl>
                                      </p:cBhvr>
                                    </p:animEffect>
                                    <p:anim calcmode="lin" valueType="num">
                                      <p:cBhvr additive="base">
                                        <p:cTn id="11" dur="600" fill="hold"/>
                                        <p:tgtEl>
                                          <p:spTgt spid="10"/>
                                        </p:tgtEl>
                                        <p:attrNameLst>
                                          <p:attrName>ppt_y</p:attrName>
                                        </p:attrNameLst>
                                      </p:cBhvr>
                                      <p:tavLst>
                                        <p:tav tm="0">
                                          <p:val>
                                            <p:strVal val="#ppt_y+0.04"/>
                                          </p:val>
                                        </p:tav>
                                        <p:tav tm="100000">
                                          <p:val>
                                            <p:strVal val="#ppt_y"/>
                                          </p:val>
                                        </p:tav>
                                      </p:tavLst>
                                    </p:anim>
                                  </p:childTnLst>
                                </p:cTn>
                              </p:par>
                              <p:par>
                                <p:cTn id="16" presetID="10" presetClass="entr" presetSubtype="0" fill="hold" nodeType="withEffect">
                                  <p:stCondLst>
                                    <p:cond delay="15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600"/>
                                        <p:tgtEl>
                                          <p:spTgt spid="11"/>
                                        </p:tgtEl>
                                      </p:cBhvr>
                                    </p:animEffect>
                                    <p:anim calcmode="lin" valueType="num">
                                      <p:cBhvr additive="base">
                                        <p:cTn id="15" dur="600" fill="hold"/>
                                        <p:tgtEl>
                                          <p:spTgt spid="11"/>
                                        </p:tgtEl>
                                        <p:attrNameLst>
                                          <p:attrName>ppt_y</p:attrName>
                                        </p:attrNameLst>
                                      </p:cBhvr>
                                      <p:tavLst>
                                        <p:tav tm="0">
                                          <p:val>
                                            <p:strVal val="#ppt_y+0.04"/>
                                          </p:val>
                                        </p:tav>
                                        <p:tav tm="100000">
                                          <p:val>
                                            <p:strVal val="#ppt_y"/>
                                          </p:val>
                                        </p:tav>
                                      </p:tavLst>
                                    </p:anim>
                                  </p:childTnLst>
                                </p:cTn>
                              </p:par>
                              <p:par>
                                <p:cTn id="20" presetID="10" presetClass="entr" presetSubtype="0" fill="hold" nodeType="withEffect">
                                  <p:stCondLst>
                                    <p:cond delay="15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600"/>
                                        <p:tgtEl>
                                          <p:spTgt spid="12"/>
                                        </p:tgtEl>
                                      </p:cBhvr>
                                    </p:animEffect>
                                    <p:anim calcmode="lin" valueType="num">
                                      <p:cBhvr additive="base">
                                        <p:cTn id="19" dur="600" fill="hold"/>
                                        <p:tgtEl>
                                          <p:spTgt spid="12"/>
                                        </p:tgtEl>
                                        <p:attrNameLst>
                                          <p:attrName>ppt_y</p:attrName>
                                        </p:attrNameLst>
                                      </p:cBhvr>
                                      <p:tavLst>
                                        <p:tav tm="0">
                                          <p:val>
                                            <p:strVal val="#ppt_y+0.04"/>
                                          </p:val>
                                        </p:tav>
                                        <p:tav tm="100000">
                                          <p:val>
                                            <p:strVal val="#ppt_y"/>
                                          </p:val>
                                        </p:tav>
                                      </p:tavLst>
                                    </p:anim>
                                  </p:childTnLst>
                                </p:cTn>
                              </p:par>
                              <p:par>
                                <p:cTn id="24" presetID="10" presetClass="entr" presetSubtype="0" fill="hold" nodeType="withEffect">
                                  <p:stCondLst>
                                    <p:cond delay="15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600"/>
                                        <p:tgtEl>
                                          <p:spTgt spid="13"/>
                                        </p:tgtEl>
                                      </p:cBhvr>
                                    </p:animEffect>
                                    <p:anim calcmode="lin" valueType="num">
                                      <p:cBhvr additive="base">
                                        <p:cTn id="23" dur="600" fill="hold"/>
                                        <p:tgtEl>
                                          <p:spTgt spid="13"/>
                                        </p:tgtEl>
                                        <p:attrNameLst>
                                          <p:attrName>ppt_y</p:attrName>
                                        </p:attrNameLst>
                                      </p:cBhvr>
                                      <p:tavLst>
                                        <p:tav tm="0">
                                          <p:val>
                                            <p:strVal val="#ppt_y+0.04"/>
                                          </p:val>
                                        </p:tav>
                                        <p:tav tm="100000">
                                          <p:val>
                                            <p:strVal val="#ppt_y"/>
                                          </p:val>
                                        </p:tav>
                                      </p:tavLst>
                                    </p:anim>
                                  </p:childTnLst>
                                </p:cTn>
                              </p:par>
                              <p:par>
                                <p:cTn id="28" presetID="10" presetClass="entr" presetSubtype="0" fill="hold" nodeType="withEffect">
                                  <p:stCondLst>
                                    <p:cond delay="15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600"/>
                                        <p:tgtEl>
                                          <p:spTgt spid="14"/>
                                        </p:tgtEl>
                                      </p:cBhvr>
                                    </p:animEffect>
                                    <p:anim calcmode="lin" valueType="num">
                                      <p:cBhvr additive="base">
                                        <p:cTn id="27" dur="600" fill="hold"/>
                                        <p:tgtEl>
                                          <p:spTgt spid="14"/>
                                        </p:tgtEl>
                                        <p:attrNameLst>
                                          <p:attrName>ppt_y</p:attrName>
                                        </p:attrNameLst>
                                      </p:cBhvr>
                                      <p:tavLst>
                                        <p:tav tm="0">
                                          <p:val>
                                            <p:strVal val="#ppt_y+0.04"/>
                                          </p:val>
                                        </p:tav>
                                        <p:tav tm="100000">
                                          <p:val>
                                            <p:strVal val="#ppt_y"/>
                                          </p:val>
                                        </p:tav>
                                      </p:tavLst>
                                    </p:anim>
                                  </p:childTnLst>
                                </p:cTn>
                              </p:par>
                              <p:par>
                                <p:cTn id="32" presetID="10" presetClass="entr" presetSubtype="0" fill="hold" nodeType="withEffect">
                                  <p:stCondLst>
                                    <p:cond delay="15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600"/>
                                        <p:tgtEl>
                                          <p:spTgt spid="15"/>
                                        </p:tgtEl>
                                      </p:cBhvr>
                                    </p:animEffect>
                                    <p:anim calcmode="lin" valueType="num">
                                      <p:cBhvr additive="base">
                                        <p:cTn id="31" dur="600" fill="hold"/>
                                        <p:tgtEl>
                                          <p:spTgt spid="15"/>
                                        </p:tgtEl>
                                        <p:attrNameLst>
                                          <p:attrName>ppt_y</p:attrName>
                                        </p:attrNameLst>
                                      </p:cBhvr>
                                      <p:tavLst>
                                        <p:tav tm="0">
                                          <p:val>
                                            <p:strVal val="#ppt_y+0.04"/>
                                          </p:val>
                                        </p:tav>
                                        <p:tav tm="100000">
                                          <p:val>
                                            <p:strVal val="#ppt_y"/>
                                          </p:val>
                                        </p:tav>
                                      </p:tavLst>
                                    </p:anim>
                                  </p:childTnLst>
                                </p:cTn>
                              </p:par>
                              <p:par>
                                <p:cTn id="36" presetID="10" presetClass="entr" presetSubtype="0" fill="hold" nodeType="withEffect">
                                  <p:stCondLst>
                                    <p:cond delay="15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600"/>
                                        <p:tgtEl>
                                          <p:spTgt spid="16"/>
                                        </p:tgtEl>
                                      </p:cBhvr>
                                    </p:animEffect>
                                    <p:anim calcmode="lin" valueType="num">
                                      <p:cBhvr additive="base">
                                        <p:cTn id="35" dur="600" fill="hold"/>
                                        <p:tgtEl>
                                          <p:spTgt spid="16"/>
                                        </p:tgtEl>
                                        <p:attrNameLst>
                                          <p:attrName>ppt_y</p:attrName>
                                        </p:attrNameLst>
                                      </p:cBhvr>
                                      <p:tavLst>
                                        <p:tav tm="0">
                                          <p:val>
                                            <p:strVal val="#ppt_y+0.04"/>
                                          </p:val>
                                        </p:tav>
                                        <p:tav tm="100000">
                                          <p:val>
                                            <p:strVal val="#ppt_y"/>
                                          </p:val>
                                        </p:tav>
                                      </p:tavLst>
                                    </p:anim>
                                  </p:childTnLst>
                                </p:cTn>
                              </p:par>
                              <p:par>
                                <p:cTn id="40" presetID="10" presetClass="entr" presetSubtype="0" fill="hold" nodeType="withEffect">
                                  <p:stCondLst>
                                    <p:cond delay="15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600"/>
                                        <p:tgtEl>
                                          <p:spTgt spid="17"/>
                                        </p:tgtEl>
                                      </p:cBhvr>
                                    </p:animEffect>
                                    <p:anim calcmode="lin" valueType="num">
                                      <p:cBhvr additive="base">
                                        <p:cTn id="39" dur="600" fill="hold"/>
                                        <p:tgtEl>
                                          <p:spTgt spid="17"/>
                                        </p:tgtEl>
                                        <p:attrNameLst>
                                          <p:attrName>ppt_y</p:attrName>
                                        </p:attrNameLst>
                                      </p:cBhvr>
                                      <p:tavLst>
                                        <p:tav tm="0">
                                          <p:val>
                                            <p:strVal val="#ppt_y+0.04"/>
                                          </p:val>
                                        </p:tav>
                                        <p:tav tm="100000">
                                          <p:val>
                                            <p:strVal val="#ppt_y"/>
                                          </p:val>
                                        </p:tav>
                                      </p:tavLst>
                                    </p:anim>
                                  </p:childTnLst>
                                </p:cTn>
                              </p:par>
                              <p:par>
                                <p:cTn id="44" presetID="10" presetClass="entr" presetSubtype="0" fill="hold" nodeType="withEffect">
                                  <p:stCondLst>
                                    <p:cond delay="15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600"/>
                                        <p:tgtEl>
                                          <p:spTgt spid="18"/>
                                        </p:tgtEl>
                                      </p:cBhvr>
                                    </p:animEffect>
                                    <p:anim calcmode="lin" valueType="num">
                                      <p:cBhvr additive="base">
                                        <p:cTn id="43" dur="600" fill="hold"/>
                                        <p:tgtEl>
                                          <p:spTgt spid="18"/>
                                        </p:tgtEl>
                                        <p:attrNameLst>
                                          <p:attrName>ppt_y</p:attrName>
                                        </p:attrNameLst>
                                      </p:cBhvr>
                                      <p:tavLst>
                                        <p:tav tm="0">
                                          <p:val>
                                            <p:strVal val="#ppt_y+0.04"/>
                                          </p:val>
                                        </p:tav>
                                        <p:tav tm="100000">
                                          <p:val>
                                            <p:strVal val="#ppt_y"/>
                                          </p:val>
                                        </p:tav>
                                      </p:tavLst>
                                    </p:anim>
                                  </p:childTnLst>
                                </p:cTn>
                              </p:par>
                              <p:par>
                                <p:cTn id="48" presetID="10" presetClass="entr" presetSubtype="0" fill="hold" nodeType="withEffect">
                                  <p:stCondLst>
                                    <p:cond delay="15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600"/>
                                        <p:tgtEl>
                                          <p:spTgt spid="19"/>
                                        </p:tgtEl>
                                      </p:cBhvr>
                                    </p:animEffect>
                                    <p:anim calcmode="lin" valueType="num">
                                      <p:cBhvr additive="base">
                                        <p:cTn id="47" dur="600" fill="hold"/>
                                        <p:tgtEl>
                                          <p:spTgt spid="19"/>
                                        </p:tgtEl>
                                        <p:attrNameLst>
                                          <p:attrName>ppt_y</p:attrName>
                                        </p:attrNameLst>
                                      </p:cBhvr>
                                      <p:tavLst>
                                        <p:tav tm="0">
                                          <p:val>
                                            <p:strVal val="#ppt_y+0.04"/>
                                          </p:val>
                                        </p:tav>
                                        <p:tav tm="100000">
                                          <p:val>
                                            <p:strVal val="#ppt_y"/>
                                          </p:val>
                                        </p:tav>
                                      </p:tavLst>
                                    </p:anim>
                                  </p:childTnLst>
                                </p:cTn>
                              </p:par>
                              <p:par>
                                <p:cTn id="52" presetID="10" presetClass="entr" presetSubtype="0" fill="hold" nodeType="withEffect">
                                  <p:stCondLst>
                                    <p:cond delay="15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600"/>
                                        <p:tgtEl>
                                          <p:spTgt spid="20"/>
                                        </p:tgtEl>
                                      </p:cBhvr>
                                    </p:animEffect>
                                    <p:anim calcmode="lin" valueType="num">
                                      <p:cBhvr additive="base">
                                        <p:cTn id="51" dur="600" fill="hold"/>
                                        <p:tgtEl>
                                          <p:spTgt spid="20"/>
                                        </p:tgtEl>
                                        <p:attrNameLst>
                                          <p:attrName>ppt_y</p:attrName>
                                        </p:attrNameLst>
                                      </p:cBhvr>
                                      <p:tavLst>
                                        <p:tav tm="0">
                                          <p:val>
                                            <p:strVal val="#ppt_y+0.04"/>
                                          </p:val>
                                        </p:tav>
                                        <p:tav tm="100000">
                                          <p:val>
                                            <p:strVal val="#ppt_y"/>
                                          </p:val>
                                        </p:tav>
                                      </p:tavLst>
                                    </p:anim>
                                  </p:childTnLst>
                                </p:cTn>
                              </p:par>
                              <p:par>
                                <p:cTn id="56" presetID="10" presetClass="entr" presetSubtype="0" fill="hold" nodeType="withEffect">
                                  <p:stCondLst>
                                    <p:cond delay="43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600"/>
                                        <p:tgtEl>
                                          <p:spTgt spid="21"/>
                                        </p:tgtEl>
                                      </p:cBhvr>
                                    </p:animEffect>
                                    <p:anim calcmode="lin" valueType="num">
                                      <p:cBhvr additive="base">
                                        <p:cTn id="55" dur="600" fill="hold"/>
                                        <p:tgtEl>
                                          <p:spTgt spid="21"/>
                                        </p:tgtEl>
                                        <p:attrNameLst>
                                          <p:attrName>ppt_y</p:attrName>
                                        </p:attrNameLst>
                                      </p:cBhvr>
                                      <p:tavLst>
                                        <p:tav tm="0">
                                          <p:val>
                                            <p:strVal val="#ppt_y+0.04"/>
                                          </p:val>
                                        </p:tav>
                                        <p:tav tm="100000">
                                          <p:val>
                                            <p:strVal val="#ppt_y"/>
                                          </p:val>
                                        </p:tav>
                                      </p:tavLst>
                                    </p:anim>
                                  </p:childTnLst>
                                </p:cTn>
                              </p:par>
                              <p:par>
                                <p:cTn id="60" presetID="10" presetClass="entr" presetSubtype="0" fill="hold" nodeType="withEffect">
                                  <p:stCondLst>
                                    <p:cond delay="43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600"/>
                                        <p:tgtEl>
                                          <p:spTgt spid="22"/>
                                        </p:tgtEl>
                                      </p:cBhvr>
                                    </p:animEffect>
                                    <p:anim calcmode="lin" valueType="num">
                                      <p:cBhvr additive="base">
                                        <p:cTn id="59" dur="600" fill="hold"/>
                                        <p:tgtEl>
                                          <p:spTgt spid="22"/>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 Wasted — VandyHacks pitch</dc:title>
  <dc:subject>PptxGenJS Presentation</dc:subject>
  <dc:creator>Team Oracle of Plenty</dc:creator>
  <cp:lastModifiedBy>Team Oracle of Plenty</cp:lastModifiedBy>
  <cp:revision>1</cp:revision>
  <dcterms:created xsi:type="dcterms:W3CDTF">2026-10-18T13:37:57Z</dcterms:created>
  <dcterms:modified xsi:type="dcterms:W3CDTF">2026-10-18T13:37:57Z</dcterms:modified>
</cp:coreProperties>
</file>